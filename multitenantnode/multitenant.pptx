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9" r:id="rId3"/>
    <p:sldId id="261" r:id="rId4"/>
    <p:sldId id="263" r:id="rId5"/>
    <p:sldId id="264" r:id="rId6"/>
    <p:sldId id="265" r:id="rId7"/>
    <p:sldId id="266" r:id="rId8"/>
    <p:sldId id="267" r:id="rId9"/>
    <p:sldId id="268" r:id="rId10"/>
    <p:sldId id="269" r:id="rId11"/>
    <p:sldId id="270" r:id="rId12"/>
    <p:sldId id="271" r:id="rId13"/>
    <p:sldId id="272" r:id="rId14"/>
    <p:sldId id="273" r:id="rId15"/>
    <p:sldId id="274" r:id="rId16"/>
    <p:sldId id="276" r:id="rId17"/>
    <p:sldId id="277" r:id="rId18"/>
    <p:sldId id="278" r:id="rId19"/>
    <p:sldId id="279" r:id="rId20"/>
    <p:sldId id="280" r:id="rId21"/>
    <p:sldId id="281" r:id="rId22"/>
    <p:sldId id="282" r:id="rId23"/>
    <p:sldId id="283" r:id="rId24"/>
    <p:sldId id="285" r:id="rId25"/>
    <p:sldId id="286" r:id="rId26"/>
    <p:sldId id="287" r:id="rId27"/>
    <p:sldId id="288" r:id="rId28"/>
    <p:sldId id="289" r:id="rId29"/>
    <p:sldId id="291" r:id="rId30"/>
    <p:sldId id="292" r:id="rId31"/>
    <p:sldId id="293" r:id="rId32"/>
    <p:sldId id="294" r:id="rId33"/>
    <p:sldId id="29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82"/>
    <p:restoredTop sz="94655"/>
  </p:normalViewPr>
  <p:slideViewPr>
    <p:cSldViewPr snapToGrid="0">
      <p:cViewPr varScale="1">
        <p:scale>
          <a:sx n="212" d="100"/>
          <a:sy n="212" d="100"/>
        </p:scale>
        <p:origin x="224"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5/1/25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5/1/25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7" name="Date Placeholder 6"/>
          <p:cNvSpPr>
            <a:spLocks noGrp="1"/>
          </p:cNvSpPr>
          <p:nvPr>
            <p:ph type="dt" sz="half" idx="10"/>
          </p:nvPr>
        </p:nvSpPr>
        <p:spPr/>
        <p:txBody>
          <a:bodyPr/>
          <a:lstStyle/>
          <a:p>
            <a:fld id="{1160EA64-D806-43AC-9DF2-F8C432F32B4C}" type="datetimeFigureOut">
              <a:rPr lang="en-US" dirty="0"/>
              <a:t>5/1/25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5/1/25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583436" y="3143250"/>
            <a:ext cx="4270248" cy="259677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7" name="Date Placeholder 6"/>
          <p:cNvSpPr>
            <a:spLocks noGrp="1"/>
          </p:cNvSpPr>
          <p:nvPr>
            <p:ph type="dt" sz="half" idx="10"/>
          </p:nvPr>
        </p:nvSpPr>
        <p:spPr/>
        <p:txBody>
          <a:bodyPr/>
          <a:lstStyle/>
          <a:p>
            <a:fld id="{4F7D4976-E339-4826-83B7-FBD03F55ECF8}" type="datetimeFigureOut">
              <a:rPr lang="en-US" dirty="0"/>
              <a:t>5/1/25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tr-TR"/>
              <a:t>Asıl başlık stilini düzenlemek için tıklayın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5/1/25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5/1/25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9" name="Date Placeholder 8"/>
          <p:cNvSpPr>
            <a:spLocks noGrp="1"/>
          </p:cNvSpPr>
          <p:nvPr>
            <p:ph type="dt" sz="half" idx="10"/>
          </p:nvPr>
        </p:nvSpPr>
        <p:spPr/>
        <p:txBody>
          <a:bodyPr/>
          <a:lstStyle/>
          <a:p>
            <a:fld id="{D1BE4249-C0D0-4B06-8692-E8BB871AF643}" type="datetimeFigureOut">
              <a:rPr lang="en-US" dirty="0"/>
              <a:t>5/1/25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5/1/25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5/1/25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5/1/25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5/1/25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98B852-8AA7-8536-DFCA-AC62EDD10982}"/>
              </a:ext>
            </a:extLst>
          </p:cNvPr>
          <p:cNvSpPr>
            <a:spLocks noGrp="1"/>
          </p:cNvSpPr>
          <p:nvPr>
            <p:ph type="ctrTitle"/>
          </p:nvPr>
        </p:nvSpPr>
        <p:spPr/>
        <p:txBody>
          <a:bodyPr/>
          <a:lstStyle/>
          <a:p>
            <a:r>
              <a:rPr lang="tr-TR" dirty="0" err="1"/>
              <a:t>Sprıng</a:t>
            </a:r>
            <a:r>
              <a:rPr lang="tr-TR" dirty="0"/>
              <a:t> </a:t>
            </a:r>
            <a:r>
              <a:rPr lang="tr-TR" dirty="0" err="1"/>
              <a:t>boot</a:t>
            </a:r>
            <a:r>
              <a:rPr lang="tr-TR" dirty="0"/>
              <a:t> ile </a:t>
            </a:r>
            <a:r>
              <a:rPr lang="tr-TR" dirty="0" err="1"/>
              <a:t>multı-tenant</a:t>
            </a:r>
            <a:r>
              <a:rPr lang="tr-TR" dirty="0"/>
              <a:t> uygulama geliştirme</a:t>
            </a:r>
          </a:p>
        </p:txBody>
      </p:sp>
    </p:spTree>
    <p:extLst>
      <p:ext uri="{BB962C8B-B14F-4D97-AF65-F5344CB8AC3E}">
        <p14:creationId xmlns:p14="http://schemas.microsoft.com/office/powerpoint/2010/main" val="1323146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1BE6878-A0BB-DA2B-7ACE-72AF6E58D240}"/>
              </a:ext>
            </a:extLst>
          </p:cNvPr>
          <p:cNvSpPr>
            <a:spLocks noGrp="1"/>
          </p:cNvSpPr>
          <p:nvPr>
            <p:ph type="title"/>
          </p:nvPr>
        </p:nvSpPr>
        <p:spPr>
          <a:xfrm>
            <a:off x="2231136" y="272876"/>
            <a:ext cx="7729728" cy="1188720"/>
          </a:xfrm>
        </p:spPr>
        <p:txBody>
          <a:bodyPr/>
          <a:lstStyle/>
          <a:p>
            <a:r>
              <a:rPr lang="tr-TR" dirty="0"/>
              <a:t>Nelerden bahsedeceğim</a:t>
            </a:r>
          </a:p>
        </p:txBody>
      </p:sp>
      <p:sp>
        <p:nvSpPr>
          <p:cNvPr id="3" name="İçerik Yer Tutucusu 2">
            <a:extLst>
              <a:ext uri="{FF2B5EF4-FFF2-40B4-BE49-F238E27FC236}">
                <a16:creationId xmlns:a16="http://schemas.microsoft.com/office/drawing/2014/main" id="{C9D67348-AB3E-A9C1-6612-AD847171EEF6}"/>
              </a:ext>
            </a:extLst>
          </p:cNvPr>
          <p:cNvSpPr>
            <a:spLocks noGrp="1"/>
          </p:cNvSpPr>
          <p:nvPr>
            <p:ph idx="1"/>
          </p:nvPr>
        </p:nvSpPr>
        <p:spPr>
          <a:xfrm>
            <a:off x="2231136" y="1878008"/>
            <a:ext cx="7729728" cy="3101983"/>
          </a:xfrm>
        </p:spPr>
        <p:txBody>
          <a:bodyPr/>
          <a:lstStyle/>
          <a:p>
            <a:r>
              <a:rPr lang="tr-TR" dirty="0" err="1"/>
              <a:t>Cloud</a:t>
            </a:r>
            <a:r>
              <a:rPr lang="tr-TR" dirty="0"/>
              <a:t> Computing nedir? (</a:t>
            </a:r>
            <a:r>
              <a:rPr lang="tr-TR" dirty="0" err="1"/>
              <a:t>saas</a:t>
            </a:r>
            <a:r>
              <a:rPr lang="tr-TR" dirty="0"/>
              <a:t>, </a:t>
            </a:r>
            <a:r>
              <a:rPr lang="tr-TR" dirty="0" err="1"/>
              <a:t>paas</a:t>
            </a:r>
            <a:r>
              <a:rPr lang="tr-TR" dirty="0"/>
              <a:t>, </a:t>
            </a:r>
            <a:r>
              <a:rPr lang="tr-TR" dirty="0" err="1"/>
              <a:t>iaas</a:t>
            </a:r>
            <a:r>
              <a:rPr lang="tr-TR" dirty="0"/>
              <a:t>)</a:t>
            </a:r>
          </a:p>
          <a:p>
            <a:r>
              <a:rPr lang="tr-TR" dirty="0"/>
              <a:t>Multi-</a:t>
            </a:r>
            <a:r>
              <a:rPr lang="tr-TR" dirty="0" err="1"/>
              <a:t>tenancy</a:t>
            </a:r>
            <a:r>
              <a:rPr lang="tr-TR" dirty="0"/>
              <a:t> öncesi </a:t>
            </a:r>
            <a:r>
              <a:rPr lang="tr-TR" dirty="0" err="1"/>
              <a:t>saas</a:t>
            </a:r>
            <a:r>
              <a:rPr lang="tr-TR" dirty="0"/>
              <a:t> uygulamaları</a:t>
            </a:r>
          </a:p>
          <a:p>
            <a:r>
              <a:rPr lang="tr-TR" dirty="0"/>
              <a:t>Multi-</a:t>
            </a:r>
            <a:r>
              <a:rPr lang="tr-TR" dirty="0" err="1"/>
              <a:t>tenancy</a:t>
            </a:r>
            <a:r>
              <a:rPr lang="tr-TR" dirty="0"/>
              <a:t> nedir?</a:t>
            </a:r>
          </a:p>
          <a:p>
            <a:r>
              <a:rPr lang="tr-TR" dirty="0"/>
              <a:t>Multi-</a:t>
            </a:r>
            <a:r>
              <a:rPr lang="tr-TR" dirty="0" err="1"/>
              <a:t>tenant</a:t>
            </a:r>
            <a:r>
              <a:rPr lang="tr-TR" dirty="0"/>
              <a:t> mimarilerde </a:t>
            </a:r>
            <a:r>
              <a:rPr lang="tr-TR" dirty="0" err="1"/>
              <a:t>veritabanı</a:t>
            </a:r>
            <a:r>
              <a:rPr lang="tr-TR" dirty="0"/>
              <a:t> stratejileri</a:t>
            </a:r>
          </a:p>
          <a:p>
            <a:endParaRPr lang="tr-TR" dirty="0"/>
          </a:p>
        </p:txBody>
      </p:sp>
    </p:spTree>
    <p:extLst>
      <p:ext uri="{BB962C8B-B14F-4D97-AF65-F5344CB8AC3E}">
        <p14:creationId xmlns:p14="http://schemas.microsoft.com/office/powerpoint/2010/main" val="416093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A5A69-0CB1-059F-D2EA-8F9EFCD3103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9E71CDA-1839-2E7A-7F3E-AA151B0A045F}"/>
              </a:ext>
            </a:extLst>
          </p:cNvPr>
          <p:cNvSpPr>
            <a:spLocks noGrp="1"/>
          </p:cNvSpPr>
          <p:nvPr>
            <p:ph type="title"/>
          </p:nvPr>
        </p:nvSpPr>
        <p:spPr>
          <a:xfrm>
            <a:off x="2231136" y="272876"/>
            <a:ext cx="7729728" cy="1188720"/>
          </a:xfrm>
        </p:spPr>
        <p:txBody>
          <a:bodyPr/>
          <a:lstStyle/>
          <a:p>
            <a:r>
              <a:rPr lang="tr-TR" dirty="0" err="1"/>
              <a:t>Cloud</a:t>
            </a:r>
            <a:r>
              <a:rPr lang="tr-TR" dirty="0"/>
              <a:t> </a:t>
            </a:r>
            <a:r>
              <a:rPr lang="tr-TR" dirty="0" err="1"/>
              <a:t>computıng</a:t>
            </a:r>
            <a:r>
              <a:rPr lang="tr-TR" dirty="0"/>
              <a:t> (bulut bilişim) nedir</a:t>
            </a:r>
          </a:p>
        </p:txBody>
      </p:sp>
      <p:sp>
        <p:nvSpPr>
          <p:cNvPr id="3" name="İçerik Yer Tutucusu 2">
            <a:extLst>
              <a:ext uri="{FF2B5EF4-FFF2-40B4-BE49-F238E27FC236}">
                <a16:creationId xmlns:a16="http://schemas.microsoft.com/office/drawing/2014/main" id="{846DFCF9-E663-905C-1DDA-C5FE24C7B9C2}"/>
              </a:ext>
            </a:extLst>
          </p:cNvPr>
          <p:cNvSpPr>
            <a:spLocks noGrp="1"/>
          </p:cNvSpPr>
          <p:nvPr>
            <p:ph idx="1"/>
          </p:nvPr>
        </p:nvSpPr>
        <p:spPr>
          <a:xfrm>
            <a:off x="2231136" y="1878008"/>
            <a:ext cx="7729728" cy="3101983"/>
          </a:xfrm>
        </p:spPr>
        <p:txBody>
          <a:bodyPr/>
          <a:lstStyle/>
          <a:p>
            <a:r>
              <a:rPr lang="tr-TR" dirty="0"/>
              <a:t>Bulut bilişim, internet aracığıyla uzaktaki veri merkezlerine bağlanarak, sunucu, depolama veya uygulama hizmeti alabilmeyi sağlayan erişim modelidir.</a:t>
            </a:r>
          </a:p>
          <a:p>
            <a:r>
              <a:rPr lang="tr-TR" dirty="0"/>
              <a:t>Şirketlerin veya kurumların ihtiyaç duyduğu uygulama veya yapıları (</a:t>
            </a:r>
            <a:r>
              <a:rPr lang="tr-TR" dirty="0" err="1"/>
              <a:t>email</a:t>
            </a:r>
            <a:r>
              <a:rPr lang="tr-TR" dirty="0"/>
              <a:t> sunucusu gibi), personel eğitimi ve departmanlaştırmak yerine daha az bir maliyet ve efor ile, bir </a:t>
            </a:r>
            <a:r>
              <a:rPr lang="tr-TR" dirty="0" err="1"/>
              <a:t>cloud</a:t>
            </a:r>
            <a:r>
              <a:rPr lang="tr-TR" dirty="0"/>
              <a:t> altyapı </a:t>
            </a:r>
            <a:r>
              <a:rPr lang="tr-TR" dirty="0" err="1"/>
              <a:t>sağlacıdan</a:t>
            </a:r>
            <a:r>
              <a:rPr lang="tr-TR" dirty="0"/>
              <a:t> bu hizmeti karşılayabilmesini sağlar.</a:t>
            </a:r>
          </a:p>
          <a:p>
            <a:pPr lvl="1"/>
            <a:endParaRPr lang="tr-TR" dirty="0"/>
          </a:p>
          <a:p>
            <a:endParaRPr lang="tr-TR" dirty="0"/>
          </a:p>
        </p:txBody>
      </p:sp>
    </p:spTree>
    <p:extLst>
      <p:ext uri="{BB962C8B-B14F-4D97-AF65-F5344CB8AC3E}">
        <p14:creationId xmlns:p14="http://schemas.microsoft.com/office/powerpoint/2010/main" val="1935512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41D03-7610-C4FF-696B-8ACF2DD0E16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1EAA363-E804-8508-2074-D59D9A3F0511}"/>
              </a:ext>
            </a:extLst>
          </p:cNvPr>
          <p:cNvSpPr>
            <a:spLocks noGrp="1"/>
          </p:cNvSpPr>
          <p:nvPr>
            <p:ph type="title"/>
          </p:nvPr>
        </p:nvSpPr>
        <p:spPr>
          <a:xfrm>
            <a:off x="2231136" y="272876"/>
            <a:ext cx="7729728" cy="1188720"/>
          </a:xfrm>
        </p:spPr>
        <p:txBody>
          <a:bodyPr/>
          <a:lstStyle/>
          <a:p>
            <a:r>
              <a:rPr lang="tr-TR" dirty="0"/>
              <a:t>IAAS, PAAS, SAAS</a:t>
            </a:r>
          </a:p>
        </p:txBody>
      </p:sp>
      <p:sp>
        <p:nvSpPr>
          <p:cNvPr id="3" name="İçerik Yer Tutucusu 2">
            <a:extLst>
              <a:ext uri="{FF2B5EF4-FFF2-40B4-BE49-F238E27FC236}">
                <a16:creationId xmlns:a16="http://schemas.microsoft.com/office/drawing/2014/main" id="{7F48CC1D-E5C3-9CAF-C73F-2D6D4618E9A1}"/>
              </a:ext>
            </a:extLst>
          </p:cNvPr>
          <p:cNvSpPr>
            <a:spLocks noGrp="1"/>
          </p:cNvSpPr>
          <p:nvPr>
            <p:ph idx="1"/>
          </p:nvPr>
        </p:nvSpPr>
        <p:spPr>
          <a:xfrm>
            <a:off x="1804376" y="1853944"/>
            <a:ext cx="8583248" cy="3987387"/>
          </a:xfrm>
        </p:spPr>
        <p:txBody>
          <a:bodyPr>
            <a:normAutofit fontScale="62500" lnSpcReduction="20000"/>
          </a:bodyPr>
          <a:lstStyle/>
          <a:p>
            <a:pPr>
              <a:lnSpc>
                <a:spcPct val="120000"/>
              </a:lnSpc>
            </a:pPr>
            <a:r>
              <a:rPr lang="tr-TR" sz="2900" b="1" dirty="0" err="1">
                <a:latin typeface="Gill Sans MT" panose="020B0502020104020203" pitchFamily="34" charset="0"/>
              </a:rPr>
              <a:t>Iaas</a:t>
            </a:r>
            <a:r>
              <a:rPr lang="tr-TR" sz="2900" dirty="0">
                <a:latin typeface="Gill Sans MT" panose="020B0502020104020203" pitchFamily="34" charset="0"/>
              </a:rPr>
              <a:t>: Donanım ve altyapı kaynaklarının buluttan kiralanmasıdır.  Fiziksel sunucu, depolama, ağ bağlantıları </a:t>
            </a:r>
            <a:r>
              <a:rPr lang="tr-TR" sz="2900" dirty="0" err="1">
                <a:latin typeface="Gill Sans MT" panose="020B0502020104020203" pitchFamily="34" charset="0"/>
              </a:rPr>
              <a:t>cloud</a:t>
            </a:r>
            <a:r>
              <a:rPr lang="tr-TR" sz="2900" dirty="0">
                <a:latin typeface="Gill Sans MT" panose="020B0502020104020203" pitchFamily="34" charset="0"/>
              </a:rPr>
              <a:t> şirketi tarafından sağlanır. Müşteri sadece sanal mevcut yapı üzerinde bir sanal makine kiralamış olur.</a:t>
            </a:r>
          </a:p>
          <a:p>
            <a:pPr>
              <a:lnSpc>
                <a:spcPct val="120000"/>
              </a:lnSpc>
            </a:pPr>
            <a:r>
              <a:rPr lang="tr-TR" sz="2900" b="1" dirty="0" err="1">
                <a:latin typeface="Gill Sans MT" panose="020B0502020104020203" pitchFamily="34" charset="0"/>
              </a:rPr>
              <a:t>Paas</a:t>
            </a:r>
            <a:r>
              <a:rPr lang="tr-TR" sz="2900" dirty="0">
                <a:latin typeface="Gill Sans MT" panose="020B0502020104020203" pitchFamily="34" charset="0"/>
              </a:rPr>
              <a:t>: Sanal sunucunun üzerinde işletim sistemi, çalıştırılacak uygulamaya göre </a:t>
            </a:r>
            <a:r>
              <a:rPr lang="tr-TR" sz="2900" dirty="0" err="1">
                <a:latin typeface="Gill Sans MT" panose="020B0502020104020203" pitchFamily="34" charset="0"/>
              </a:rPr>
              <a:t>runtime</a:t>
            </a:r>
            <a:r>
              <a:rPr lang="tr-TR" sz="2900" dirty="0">
                <a:latin typeface="Gill Sans MT" panose="020B0502020104020203" pitchFamily="34" charset="0"/>
              </a:rPr>
              <a:t> </a:t>
            </a:r>
            <a:r>
              <a:rPr lang="tr-TR" sz="2900" dirty="0" err="1">
                <a:latin typeface="Gill Sans MT" panose="020B0502020104020203" pitchFamily="34" charset="0"/>
              </a:rPr>
              <a:t>environment</a:t>
            </a:r>
            <a:r>
              <a:rPr lang="tr-TR" sz="2900" dirty="0">
                <a:latin typeface="Gill Sans MT" panose="020B0502020104020203" pitchFamily="34" charset="0"/>
              </a:rPr>
              <a:t> (JRE, .NET Runtime </a:t>
            </a:r>
            <a:r>
              <a:rPr lang="tr-TR" sz="2900" dirty="0" err="1">
                <a:latin typeface="Gill Sans MT" panose="020B0502020104020203" pitchFamily="34" charset="0"/>
              </a:rPr>
              <a:t>vs</a:t>
            </a:r>
            <a:r>
              <a:rPr lang="tr-TR" sz="2900" dirty="0">
                <a:latin typeface="Gill Sans MT" panose="020B0502020104020203" pitchFamily="34" charset="0"/>
              </a:rPr>
              <a:t>) ve </a:t>
            </a:r>
            <a:r>
              <a:rPr lang="tr-TR" sz="2900" dirty="0" err="1">
                <a:latin typeface="Gill Sans MT" panose="020B0502020104020203" pitchFamily="34" charset="0"/>
              </a:rPr>
              <a:t>Middleware</a:t>
            </a:r>
            <a:r>
              <a:rPr lang="tr-TR" sz="2900" dirty="0">
                <a:latin typeface="Gill Sans MT" panose="020B0502020104020203" pitchFamily="34" charset="0"/>
              </a:rPr>
              <a:t> katmanı da sağlanır.</a:t>
            </a:r>
          </a:p>
          <a:p>
            <a:pPr>
              <a:lnSpc>
                <a:spcPct val="120000"/>
              </a:lnSpc>
            </a:pPr>
            <a:r>
              <a:rPr lang="tr-TR" sz="2900" b="1" dirty="0" err="1">
                <a:latin typeface="Gill Sans MT" panose="020B0502020104020203" pitchFamily="34" charset="0"/>
                <a:cs typeface="Gill Sans" panose="020B0502020104020203" pitchFamily="34" charset="-79"/>
              </a:rPr>
              <a:t>Saas</a:t>
            </a:r>
            <a:r>
              <a:rPr lang="tr-TR" sz="2900" dirty="0">
                <a:latin typeface="Gill Sans MT" panose="020B0502020104020203" pitchFamily="34" charset="0"/>
              </a:rPr>
              <a:t>: </a:t>
            </a:r>
            <a:r>
              <a:rPr lang="tr-TR" sz="2900" b="0" i="0" u="none" strike="noStrike" dirty="0">
                <a:solidFill>
                  <a:srgbClr val="000000"/>
                </a:solidFill>
                <a:effectLst/>
                <a:latin typeface="Gill Sans MT" panose="020B0502020104020203" pitchFamily="34" charset="0"/>
              </a:rPr>
              <a:t>Son kullanıcıya hazır uygulamanın web üzerinden sunulmasıdır. </a:t>
            </a:r>
            <a:r>
              <a:rPr lang="tr-TR" sz="2900" i="0" u="none" strike="noStrike" dirty="0">
                <a:solidFill>
                  <a:srgbClr val="000000"/>
                </a:solidFill>
                <a:effectLst/>
                <a:latin typeface="Gill Sans MT" panose="020B0502020104020203" pitchFamily="34" charset="0"/>
              </a:rPr>
              <a:t>Tüm altyapı, platform ve uygulama bakımı sağlayıcıya aitti</a:t>
            </a:r>
            <a:r>
              <a:rPr lang="tr-TR" sz="2900" b="1" i="0" u="none" strike="noStrike" dirty="0">
                <a:solidFill>
                  <a:srgbClr val="000000"/>
                </a:solidFill>
                <a:effectLst/>
                <a:latin typeface="Gill Sans MT" panose="020B0502020104020203" pitchFamily="34" charset="0"/>
              </a:rPr>
              <a:t>r</a:t>
            </a:r>
            <a:r>
              <a:rPr lang="tr-TR" sz="2900" b="0" i="0" u="none" strike="noStrike" dirty="0">
                <a:solidFill>
                  <a:srgbClr val="000000"/>
                </a:solidFill>
                <a:effectLst/>
                <a:latin typeface="Gill Sans MT" panose="020B0502020104020203" pitchFamily="34" charset="0"/>
              </a:rPr>
              <a:t>; kullanıcı sadece uygulamayı kullanır​. </a:t>
            </a:r>
            <a:r>
              <a:rPr lang="tr-TR" sz="2900" dirty="0">
                <a:solidFill>
                  <a:srgbClr val="000000"/>
                </a:solidFill>
                <a:latin typeface="Gill Sans MT" panose="020B0502020104020203" pitchFamily="34" charset="0"/>
              </a:rPr>
              <a:t>Örnek olarak </a:t>
            </a:r>
            <a:r>
              <a:rPr lang="tr-TR" sz="2900" b="0" i="0" u="none" strike="noStrike" dirty="0" err="1">
                <a:solidFill>
                  <a:srgbClr val="000000"/>
                </a:solidFill>
                <a:effectLst/>
                <a:latin typeface="Gill Sans MT" panose="020B0502020104020203" pitchFamily="34" charset="0"/>
              </a:rPr>
              <a:t>Gmail</a:t>
            </a:r>
            <a:r>
              <a:rPr lang="tr-TR" sz="2900" b="0" i="0" u="none" strike="noStrike" dirty="0">
                <a:solidFill>
                  <a:srgbClr val="000000"/>
                </a:solidFill>
                <a:effectLst/>
                <a:latin typeface="Gill Sans MT" panose="020B0502020104020203" pitchFamily="34" charset="0"/>
              </a:rPr>
              <a:t>, Office 365 verilebilir Sağlayıcı yazılımı tüm müşteriler için merkezi olarak çalıştırır, günceller; kullanıcı başına ayrı kurulum olmaz. Bu modelde </a:t>
            </a:r>
            <a:r>
              <a:rPr lang="tr-TR" sz="2900" i="0" u="none" strike="noStrike" dirty="0">
                <a:solidFill>
                  <a:srgbClr val="000000"/>
                </a:solidFill>
                <a:effectLst/>
                <a:latin typeface="Gill Sans MT" panose="020B0502020104020203" pitchFamily="34" charset="0"/>
              </a:rPr>
              <a:t>en az kontrol, en fazla kolaylık </a:t>
            </a:r>
            <a:r>
              <a:rPr lang="tr-TR" sz="2900" b="0" i="0" u="none" strike="noStrike" dirty="0">
                <a:solidFill>
                  <a:srgbClr val="000000"/>
                </a:solidFill>
                <a:effectLst/>
                <a:latin typeface="Gill Sans MT" panose="020B0502020104020203" pitchFamily="34" charset="0"/>
              </a:rPr>
              <a:t>sağlanır – kullanıcılar sadece hizmeti kullanır, altyapı kaygıları yaşamaz​. Bir şirket kullanacağı </a:t>
            </a:r>
            <a:r>
              <a:rPr lang="tr-TR" sz="2900" b="0" i="0" u="none" strike="noStrike" dirty="0" err="1">
                <a:solidFill>
                  <a:srgbClr val="000000"/>
                </a:solidFill>
                <a:effectLst/>
                <a:latin typeface="Gill Sans MT" panose="020B0502020104020203" pitchFamily="34" charset="0"/>
              </a:rPr>
              <a:t>email</a:t>
            </a:r>
            <a:r>
              <a:rPr lang="tr-TR" sz="2900" b="0" i="0" u="none" strike="noStrike" dirty="0">
                <a:solidFill>
                  <a:srgbClr val="000000"/>
                </a:solidFill>
                <a:effectLst/>
                <a:latin typeface="Gill Sans MT" panose="020B0502020104020203" pitchFamily="34" charset="0"/>
              </a:rPr>
              <a:t> sistemi için bir sunucu alıp </a:t>
            </a:r>
            <a:r>
              <a:rPr lang="tr-TR" sz="2900" b="0" i="0" u="none" strike="noStrike" dirty="0" err="1">
                <a:solidFill>
                  <a:srgbClr val="000000"/>
                </a:solidFill>
                <a:effectLst/>
                <a:latin typeface="Gill Sans MT" panose="020B0502020104020203" pitchFamily="34" charset="0"/>
              </a:rPr>
              <a:t>exchange</a:t>
            </a:r>
            <a:r>
              <a:rPr lang="tr-TR" sz="2900" b="0" i="0" u="none" strike="noStrike" dirty="0">
                <a:solidFill>
                  <a:srgbClr val="000000"/>
                </a:solidFill>
                <a:effectLst/>
                <a:latin typeface="Gill Sans MT" panose="020B0502020104020203" pitchFamily="34" charset="0"/>
              </a:rPr>
              <a:t> kuracağına direkt </a:t>
            </a:r>
            <a:r>
              <a:rPr lang="tr-TR" sz="2900" b="0" i="0" u="none" strike="noStrike" dirty="0" err="1">
                <a:solidFill>
                  <a:srgbClr val="000000"/>
                </a:solidFill>
                <a:effectLst/>
                <a:latin typeface="Gill Sans MT" panose="020B0502020104020203" pitchFamily="34" charset="0"/>
              </a:rPr>
              <a:t>cloud</a:t>
            </a:r>
            <a:r>
              <a:rPr lang="tr-TR" sz="2900" b="0" i="0" u="none" strike="noStrike" dirty="0">
                <a:solidFill>
                  <a:srgbClr val="000000"/>
                </a:solidFill>
                <a:effectLst/>
                <a:latin typeface="Gill Sans MT" panose="020B0502020104020203" pitchFamily="34" charset="0"/>
              </a:rPr>
              <a:t> üzerinden </a:t>
            </a:r>
            <a:r>
              <a:rPr lang="tr-TR" sz="2900" b="0" i="0" u="none" strike="noStrike" dirty="0" err="1">
                <a:solidFill>
                  <a:srgbClr val="000000"/>
                </a:solidFill>
                <a:effectLst/>
                <a:latin typeface="Gill Sans MT" panose="020B0502020104020203" pitchFamily="34" charset="0"/>
              </a:rPr>
              <a:t>exchange</a:t>
            </a:r>
            <a:r>
              <a:rPr lang="tr-TR" sz="2900" b="0" i="0" u="none" strike="noStrike" dirty="0">
                <a:solidFill>
                  <a:srgbClr val="000000"/>
                </a:solidFill>
                <a:effectLst/>
                <a:latin typeface="Gill Sans MT" panose="020B0502020104020203" pitchFamily="34" charset="0"/>
              </a:rPr>
              <a:t> hizmeti alabilir.</a:t>
            </a:r>
            <a:endParaRPr lang="tr-TR" sz="2900" dirty="0">
              <a:latin typeface="Gill Sans MT" panose="020B0502020104020203" pitchFamily="34" charset="0"/>
            </a:endParaRPr>
          </a:p>
          <a:p>
            <a:endParaRPr lang="tr-TR" dirty="0"/>
          </a:p>
          <a:p>
            <a:endParaRPr lang="tr-TR" dirty="0"/>
          </a:p>
          <a:p>
            <a:endParaRPr lang="tr-TR" dirty="0"/>
          </a:p>
        </p:txBody>
      </p:sp>
    </p:spTree>
    <p:extLst>
      <p:ext uri="{BB962C8B-B14F-4D97-AF65-F5344CB8AC3E}">
        <p14:creationId xmlns:p14="http://schemas.microsoft.com/office/powerpoint/2010/main" val="4191023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40520-B176-2016-4A83-7956FCF7027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407679C-A265-7295-EE71-4F24668E6A71}"/>
              </a:ext>
            </a:extLst>
          </p:cNvPr>
          <p:cNvSpPr>
            <a:spLocks noGrp="1"/>
          </p:cNvSpPr>
          <p:nvPr>
            <p:ph type="title"/>
          </p:nvPr>
        </p:nvSpPr>
        <p:spPr>
          <a:xfrm>
            <a:off x="2231136" y="272876"/>
            <a:ext cx="7729728" cy="1188720"/>
          </a:xfrm>
        </p:spPr>
        <p:txBody>
          <a:bodyPr/>
          <a:lstStyle/>
          <a:p>
            <a:r>
              <a:rPr lang="tr-TR" dirty="0" err="1"/>
              <a:t>Multıtenancy</a:t>
            </a:r>
            <a:r>
              <a:rPr lang="tr-TR" dirty="0"/>
              <a:t> öncesi </a:t>
            </a:r>
            <a:r>
              <a:rPr lang="tr-TR" dirty="0" err="1"/>
              <a:t>saas</a:t>
            </a:r>
            <a:r>
              <a:rPr lang="tr-TR" dirty="0"/>
              <a:t> uygulamaları</a:t>
            </a:r>
          </a:p>
        </p:txBody>
      </p:sp>
      <p:sp>
        <p:nvSpPr>
          <p:cNvPr id="3" name="İçerik Yer Tutucusu 2">
            <a:extLst>
              <a:ext uri="{FF2B5EF4-FFF2-40B4-BE49-F238E27FC236}">
                <a16:creationId xmlns:a16="http://schemas.microsoft.com/office/drawing/2014/main" id="{4C5A6F59-8E98-028C-8DAD-4946B4CE17F6}"/>
              </a:ext>
            </a:extLst>
          </p:cNvPr>
          <p:cNvSpPr>
            <a:spLocks noGrp="1"/>
          </p:cNvSpPr>
          <p:nvPr>
            <p:ph idx="1"/>
          </p:nvPr>
        </p:nvSpPr>
        <p:spPr>
          <a:xfrm>
            <a:off x="2231136" y="1878008"/>
            <a:ext cx="7729728" cy="3101983"/>
          </a:xfrm>
        </p:spPr>
        <p:txBody>
          <a:bodyPr>
            <a:normAutofit/>
          </a:bodyPr>
          <a:lstStyle/>
          <a:p>
            <a:r>
              <a:rPr lang="tr-TR" u="none" strike="noStrike" dirty="0">
                <a:solidFill>
                  <a:srgbClr val="000000"/>
                </a:solidFill>
                <a:effectLst/>
                <a:latin typeface="Gill Sans MT" panose="020B0502020104020203" pitchFamily="34" charset="0"/>
              </a:rPr>
              <a:t>Multi-</a:t>
            </a:r>
            <a:r>
              <a:rPr lang="tr-TR" u="none" strike="noStrike" dirty="0" err="1">
                <a:solidFill>
                  <a:srgbClr val="000000"/>
                </a:solidFill>
                <a:effectLst/>
                <a:latin typeface="Gill Sans MT" panose="020B0502020104020203" pitchFamily="34" charset="0"/>
              </a:rPr>
              <a:t>tenancy</a:t>
            </a:r>
            <a:r>
              <a:rPr lang="tr-TR" u="none" strike="noStrike" dirty="0">
                <a:solidFill>
                  <a:srgbClr val="000000"/>
                </a:solidFill>
                <a:effectLst/>
                <a:latin typeface="Gill Sans MT" panose="020B0502020104020203" pitchFamily="34" charset="0"/>
              </a:rPr>
              <a:t> öncesinde her müşteri için yazılımın ayrı bir örneği kurulup çalıştırılırdı (</a:t>
            </a:r>
            <a:r>
              <a:rPr lang="tr-TR" b="1" u="none" strike="noStrike" dirty="0" err="1">
                <a:solidFill>
                  <a:srgbClr val="000000"/>
                </a:solidFill>
                <a:effectLst/>
                <a:latin typeface="Gill Sans MT" panose="020B0502020104020203" pitchFamily="34" charset="0"/>
              </a:rPr>
              <a:t>single</a:t>
            </a:r>
            <a:r>
              <a:rPr lang="tr-TR" b="1" u="none" strike="noStrike" dirty="0">
                <a:solidFill>
                  <a:srgbClr val="000000"/>
                </a:solidFill>
                <a:effectLst/>
                <a:latin typeface="Gill Sans MT" panose="020B0502020104020203" pitchFamily="34" charset="0"/>
              </a:rPr>
              <a:t> </a:t>
            </a:r>
            <a:r>
              <a:rPr lang="tr-TR" b="1" u="none" strike="noStrike" dirty="0" err="1">
                <a:solidFill>
                  <a:srgbClr val="000000"/>
                </a:solidFill>
                <a:effectLst/>
                <a:latin typeface="Gill Sans MT" panose="020B0502020104020203" pitchFamily="34" charset="0"/>
              </a:rPr>
              <a:t>tenant</a:t>
            </a:r>
            <a:r>
              <a:rPr lang="tr-TR" b="1" u="none" strike="noStrike" dirty="0">
                <a:solidFill>
                  <a:srgbClr val="000000"/>
                </a:solidFill>
                <a:effectLst/>
                <a:latin typeface="Gill Sans MT" panose="020B0502020104020203" pitchFamily="34" charset="0"/>
              </a:rPr>
              <a:t> </a:t>
            </a:r>
            <a:r>
              <a:rPr lang="tr-TR" u="none" strike="noStrike" dirty="0">
                <a:solidFill>
                  <a:srgbClr val="000000"/>
                </a:solidFill>
                <a:effectLst/>
                <a:latin typeface="Gill Sans MT" panose="020B0502020104020203" pitchFamily="34" charset="0"/>
              </a:rPr>
              <a:t>yaklaşım). Yani her müşteri kendine özel uygulama </a:t>
            </a:r>
            <a:r>
              <a:rPr lang="tr-TR" u="none" strike="noStrike" dirty="0" err="1">
                <a:solidFill>
                  <a:srgbClr val="000000"/>
                </a:solidFill>
                <a:effectLst/>
                <a:latin typeface="Gill Sans MT" panose="020B0502020104020203" pitchFamily="34" charset="0"/>
              </a:rPr>
              <a:t>instance’ı</a:t>
            </a:r>
            <a:r>
              <a:rPr lang="tr-TR" u="none" strike="noStrike" dirty="0">
                <a:solidFill>
                  <a:srgbClr val="000000"/>
                </a:solidFill>
                <a:effectLst/>
                <a:latin typeface="Gill Sans MT" panose="020B0502020104020203" pitchFamily="34" charset="0"/>
              </a:rPr>
              <a:t> ve </a:t>
            </a:r>
            <a:r>
              <a:rPr lang="tr-TR" u="none" strike="noStrike" dirty="0" err="1">
                <a:solidFill>
                  <a:srgbClr val="000000"/>
                </a:solidFill>
                <a:effectLst/>
                <a:latin typeface="Gill Sans MT" panose="020B0502020104020203" pitchFamily="34" charset="0"/>
              </a:rPr>
              <a:t>veritabanına</a:t>
            </a:r>
            <a:r>
              <a:rPr lang="tr-TR" u="none" strike="noStrike" dirty="0">
                <a:solidFill>
                  <a:srgbClr val="000000"/>
                </a:solidFill>
                <a:effectLst/>
                <a:latin typeface="Gill Sans MT" panose="020B0502020104020203" pitchFamily="34" charset="0"/>
              </a:rPr>
              <a:t> sahip olurdu​. </a:t>
            </a:r>
          </a:p>
          <a:p>
            <a:r>
              <a:rPr lang="tr-TR" u="none" strike="noStrike" dirty="0">
                <a:solidFill>
                  <a:srgbClr val="000000"/>
                </a:solidFill>
                <a:effectLst/>
                <a:latin typeface="Gill Sans MT" panose="020B0502020104020203" pitchFamily="34" charset="0"/>
              </a:rPr>
              <a:t>Bu şekilde müşteriler arası tam izolasyon sağlanırken, her birine ayrı kaynak tahsisi anlamına da gelir.</a:t>
            </a:r>
            <a:endParaRPr lang="tr-TR" dirty="0">
              <a:latin typeface="Gill Sans MT" panose="020B0502020104020203" pitchFamily="34" charset="0"/>
            </a:endParaRPr>
          </a:p>
          <a:p>
            <a:endParaRPr lang="tr-TR" dirty="0"/>
          </a:p>
          <a:p>
            <a:endParaRPr lang="tr-TR" dirty="0"/>
          </a:p>
        </p:txBody>
      </p:sp>
    </p:spTree>
    <p:extLst>
      <p:ext uri="{BB962C8B-B14F-4D97-AF65-F5344CB8AC3E}">
        <p14:creationId xmlns:p14="http://schemas.microsoft.com/office/powerpoint/2010/main" val="1790893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49209-FAF3-71D5-922A-D589067C697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42B685A-0036-8551-D23D-EE2DF3394B43}"/>
              </a:ext>
            </a:extLst>
          </p:cNvPr>
          <p:cNvSpPr>
            <a:spLocks noGrp="1"/>
          </p:cNvSpPr>
          <p:nvPr>
            <p:ph type="title"/>
          </p:nvPr>
        </p:nvSpPr>
        <p:spPr>
          <a:xfrm>
            <a:off x="2231136" y="272876"/>
            <a:ext cx="7729728" cy="1188720"/>
          </a:xfrm>
        </p:spPr>
        <p:txBody>
          <a:bodyPr/>
          <a:lstStyle/>
          <a:p>
            <a:r>
              <a:rPr lang="tr-TR" dirty="0" err="1"/>
              <a:t>Sıngle</a:t>
            </a:r>
            <a:r>
              <a:rPr lang="tr-TR" dirty="0"/>
              <a:t> </a:t>
            </a:r>
            <a:r>
              <a:rPr lang="tr-TR" dirty="0" err="1"/>
              <a:t>tenant</a:t>
            </a:r>
            <a:r>
              <a:rPr lang="tr-TR" dirty="0"/>
              <a:t> uygulama geliştirmenin dezavantajları</a:t>
            </a:r>
          </a:p>
        </p:txBody>
      </p:sp>
      <p:sp>
        <p:nvSpPr>
          <p:cNvPr id="3" name="İçerik Yer Tutucusu 2">
            <a:extLst>
              <a:ext uri="{FF2B5EF4-FFF2-40B4-BE49-F238E27FC236}">
                <a16:creationId xmlns:a16="http://schemas.microsoft.com/office/drawing/2014/main" id="{B906BDC0-96BA-2D3D-B8C8-BCB96B43340E}"/>
              </a:ext>
            </a:extLst>
          </p:cNvPr>
          <p:cNvSpPr>
            <a:spLocks noGrp="1"/>
          </p:cNvSpPr>
          <p:nvPr>
            <p:ph idx="1"/>
          </p:nvPr>
        </p:nvSpPr>
        <p:spPr>
          <a:xfrm>
            <a:off x="2231136" y="1878008"/>
            <a:ext cx="7729728" cy="3101983"/>
          </a:xfrm>
        </p:spPr>
        <p:txBody>
          <a:bodyPr>
            <a:normAutofit/>
          </a:bodyPr>
          <a:lstStyle/>
          <a:p>
            <a:r>
              <a:rPr lang="tr-TR" dirty="0"/>
              <a:t>Her müşteri için ayrı kurulum olduğundan kod tabanı genelde ortak olsa da dağıtımlar özelleşir. Yeni bir müşteri eklemek, uygulamanın yeni bir kopyasını kurmayı gerektirir. </a:t>
            </a:r>
          </a:p>
          <a:p>
            <a:r>
              <a:rPr lang="tr-TR" dirty="0"/>
              <a:t>Bir hata düzeltmesi veya güncelleme çıktığında onlarca/yüzlerce ayrı </a:t>
            </a:r>
            <a:r>
              <a:rPr lang="tr-TR" dirty="0" err="1"/>
              <a:t>instance’a</a:t>
            </a:r>
            <a:r>
              <a:rPr lang="tr-TR" dirty="0"/>
              <a:t> tek tek uygulama güncellemesi yapmak gerekir, bu da </a:t>
            </a:r>
            <a:r>
              <a:rPr lang="tr-TR" dirty="0" err="1"/>
              <a:t>operasyonel</a:t>
            </a:r>
            <a:r>
              <a:rPr lang="tr-TR" dirty="0"/>
              <a:t> yük oluşturur.</a:t>
            </a:r>
          </a:p>
          <a:p>
            <a:r>
              <a:rPr lang="tr-TR" b="0" i="0" u="none" strike="noStrike" dirty="0">
                <a:solidFill>
                  <a:srgbClr val="000000"/>
                </a:solidFill>
                <a:effectLst/>
                <a:latin typeface="-webkit-standard"/>
              </a:rPr>
              <a:t>Az sayıda müşteri için bu yaklaşım basit görünebilir ancak ölçek büyüdükçe </a:t>
            </a:r>
            <a:r>
              <a:rPr lang="tr-TR" i="0" u="none" strike="noStrike" dirty="0">
                <a:solidFill>
                  <a:srgbClr val="000000"/>
                </a:solidFill>
                <a:effectLst/>
              </a:rPr>
              <a:t>kâbusa dönüşür</a:t>
            </a:r>
            <a:r>
              <a:rPr lang="tr-TR" i="0" u="none" strike="noStrike" dirty="0">
                <a:solidFill>
                  <a:srgbClr val="000000"/>
                </a:solidFill>
                <a:effectLst/>
                <a:latin typeface="-webkit-standard"/>
              </a:rPr>
              <a:t> </a:t>
            </a:r>
            <a:r>
              <a:rPr lang="tr-TR" b="0" i="0" u="none" strike="noStrike" dirty="0">
                <a:solidFill>
                  <a:srgbClr val="000000"/>
                </a:solidFill>
                <a:effectLst/>
                <a:latin typeface="-webkit-standard"/>
              </a:rPr>
              <a:t>– birkaç müşteriden fazlasını ayrı ayrı yönetmek çok zahmetlidir​. Her müşterinin </a:t>
            </a:r>
            <a:r>
              <a:rPr lang="tr-TR" b="0" i="0" u="none" strike="noStrike" dirty="0" err="1">
                <a:solidFill>
                  <a:srgbClr val="000000"/>
                </a:solidFill>
                <a:effectLst/>
                <a:latin typeface="-webkit-standard"/>
              </a:rPr>
              <a:t>veritabanı</a:t>
            </a:r>
            <a:r>
              <a:rPr lang="tr-TR" b="0" i="0" u="none" strike="noStrike" dirty="0">
                <a:solidFill>
                  <a:srgbClr val="000000"/>
                </a:solidFill>
                <a:effectLst/>
                <a:latin typeface="-webkit-standard"/>
              </a:rPr>
              <a:t> yedekleri, bakım zamanlaması, monitör edilmesi ayrı uğraş ister.</a:t>
            </a:r>
            <a:endParaRPr lang="tr-TR" dirty="0"/>
          </a:p>
          <a:p>
            <a:endParaRPr lang="tr-TR" dirty="0"/>
          </a:p>
        </p:txBody>
      </p:sp>
    </p:spTree>
    <p:extLst>
      <p:ext uri="{BB962C8B-B14F-4D97-AF65-F5344CB8AC3E}">
        <p14:creationId xmlns:p14="http://schemas.microsoft.com/office/powerpoint/2010/main" val="1638561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4982-FC71-8139-5A9B-B891F7FDA9F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95A7708-F510-DD18-71F6-563E9B6C428D}"/>
              </a:ext>
            </a:extLst>
          </p:cNvPr>
          <p:cNvSpPr>
            <a:spLocks noGrp="1"/>
          </p:cNvSpPr>
          <p:nvPr>
            <p:ph type="title"/>
          </p:nvPr>
        </p:nvSpPr>
        <p:spPr>
          <a:xfrm>
            <a:off x="2231136" y="272876"/>
            <a:ext cx="7729728" cy="1188720"/>
          </a:xfrm>
        </p:spPr>
        <p:txBody>
          <a:bodyPr/>
          <a:lstStyle/>
          <a:p>
            <a:r>
              <a:rPr lang="tr-TR" dirty="0" err="1"/>
              <a:t>Multıtenancy</a:t>
            </a:r>
            <a:r>
              <a:rPr lang="tr-TR" dirty="0"/>
              <a:t> öncesi </a:t>
            </a:r>
            <a:r>
              <a:rPr lang="tr-TR" dirty="0" err="1"/>
              <a:t>saas</a:t>
            </a:r>
            <a:r>
              <a:rPr lang="tr-TR" dirty="0"/>
              <a:t> uygulamaları</a:t>
            </a:r>
          </a:p>
        </p:txBody>
      </p:sp>
      <p:sp>
        <p:nvSpPr>
          <p:cNvPr id="3" name="İçerik Yer Tutucusu 2">
            <a:extLst>
              <a:ext uri="{FF2B5EF4-FFF2-40B4-BE49-F238E27FC236}">
                <a16:creationId xmlns:a16="http://schemas.microsoft.com/office/drawing/2014/main" id="{C67CC6E3-FC70-3A0D-5374-53791D0DC2C5}"/>
              </a:ext>
            </a:extLst>
          </p:cNvPr>
          <p:cNvSpPr>
            <a:spLocks noGrp="1"/>
          </p:cNvSpPr>
          <p:nvPr>
            <p:ph idx="1"/>
          </p:nvPr>
        </p:nvSpPr>
        <p:spPr>
          <a:xfrm>
            <a:off x="2231136" y="1878008"/>
            <a:ext cx="7729728" cy="3101983"/>
          </a:xfrm>
        </p:spPr>
        <p:txBody>
          <a:bodyPr>
            <a:normAutofit/>
          </a:bodyPr>
          <a:lstStyle/>
          <a:p>
            <a:r>
              <a:rPr lang="tr-TR" b="0" i="0" u="none" strike="noStrike" dirty="0" err="1">
                <a:solidFill>
                  <a:srgbClr val="000000"/>
                </a:solidFill>
                <a:effectLst/>
                <a:latin typeface="Gill Sans MT" panose="020B0502020104020203" pitchFamily="34" charset="0"/>
              </a:rPr>
              <a:t>Single-tenant</a:t>
            </a:r>
            <a:r>
              <a:rPr lang="tr-TR" b="0" i="0" u="none" strike="noStrike" dirty="0">
                <a:solidFill>
                  <a:srgbClr val="000000"/>
                </a:solidFill>
                <a:effectLst/>
                <a:latin typeface="Gill Sans MT" panose="020B0502020104020203" pitchFamily="34" charset="0"/>
              </a:rPr>
              <a:t> yapıda her müşteri için ayrı kaynak ayrıldığından verim düşüktür.</a:t>
            </a:r>
          </a:p>
          <a:p>
            <a:r>
              <a:rPr lang="tr-TR" b="0" i="0" u="none" strike="noStrike" dirty="0">
                <a:solidFill>
                  <a:srgbClr val="000000"/>
                </a:solidFill>
                <a:effectLst/>
                <a:latin typeface="Gill Sans MT" panose="020B0502020104020203" pitchFamily="34" charset="0"/>
              </a:rPr>
              <a:t>Bir müşteriye ayrılan sunucu kapasitesi tam kullanılmayabilir ve bu ayrılan kaynağın atıl durumda kalmasına neden olur. </a:t>
            </a:r>
          </a:p>
          <a:p>
            <a:r>
              <a:rPr lang="tr-TR" dirty="0">
                <a:solidFill>
                  <a:srgbClr val="000000"/>
                </a:solidFill>
                <a:latin typeface="Gill Sans MT" panose="020B0502020104020203" pitchFamily="34" charset="0"/>
              </a:rPr>
              <a:t>Örneğin </a:t>
            </a:r>
            <a:r>
              <a:rPr lang="tr-TR" b="0" i="0" u="none" strike="noStrike" dirty="0">
                <a:solidFill>
                  <a:srgbClr val="000000"/>
                </a:solidFill>
                <a:effectLst/>
                <a:latin typeface="Gill Sans MT" panose="020B0502020104020203" pitchFamily="34" charset="0"/>
              </a:rPr>
              <a:t>10 müşteri için 10 ayrı ortam çalıştırmak, ortak çalıştırmaya göre daha fazla altyapı gerektirir​. Ayrıca küçük ekiplerin birçok ortamı yönetmesi zorlaşır</a:t>
            </a:r>
            <a:endParaRPr lang="tr-TR" dirty="0">
              <a:latin typeface="Gill Sans MT" panose="020B0502020104020203" pitchFamily="34" charset="0"/>
            </a:endParaRPr>
          </a:p>
        </p:txBody>
      </p:sp>
    </p:spTree>
    <p:extLst>
      <p:ext uri="{BB962C8B-B14F-4D97-AF65-F5344CB8AC3E}">
        <p14:creationId xmlns:p14="http://schemas.microsoft.com/office/powerpoint/2010/main" val="651031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3DD6-D462-B1F4-46A9-C048296899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B4EE962-A189-1974-F497-A80D97895F27}"/>
              </a:ext>
            </a:extLst>
          </p:cNvPr>
          <p:cNvSpPr>
            <a:spLocks noGrp="1"/>
          </p:cNvSpPr>
          <p:nvPr>
            <p:ph type="title"/>
          </p:nvPr>
        </p:nvSpPr>
        <p:spPr>
          <a:xfrm>
            <a:off x="2231136" y="272876"/>
            <a:ext cx="7729728" cy="1188720"/>
          </a:xfrm>
        </p:spPr>
        <p:txBody>
          <a:bodyPr/>
          <a:lstStyle/>
          <a:p>
            <a:r>
              <a:rPr lang="tr-TR" dirty="0" err="1"/>
              <a:t>Multıtenancy</a:t>
            </a:r>
            <a:r>
              <a:rPr lang="tr-TR" dirty="0"/>
              <a:t> nedir?</a:t>
            </a:r>
          </a:p>
        </p:txBody>
      </p:sp>
      <p:sp>
        <p:nvSpPr>
          <p:cNvPr id="3" name="İçerik Yer Tutucusu 2">
            <a:extLst>
              <a:ext uri="{FF2B5EF4-FFF2-40B4-BE49-F238E27FC236}">
                <a16:creationId xmlns:a16="http://schemas.microsoft.com/office/drawing/2014/main" id="{EA431D92-99CC-03DF-5639-9C38D189AAC6}"/>
              </a:ext>
            </a:extLst>
          </p:cNvPr>
          <p:cNvSpPr>
            <a:spLocks noGrp="1"/>
          </p:cNvSpPr>
          <p:nvPr>
            <p:ph idx="1"/>
          </p:nvPr>
        </p:nvSpPr>
        <p:spPr>
          <a:xfrm>
            <a:off x="2231136" y="1878008"/>
            <a:ext cx="7729728" cy="3101983"/>
          </a:xfrm>
        </p:spPr>
        <p:txBody>
          <a:bodyPr>
            <a:normAutofit/>
          </a:bodyPr>
          <a:lstStyle/>
          <a:p>
            <a:r>
              <a:rPr lang="tr-TR" b="0" i="0" u="none" strike="noStrike" dirty="0">
                <a:solidFill>
                  <a:srgbClr val="000000"/>
                </a:solidFill>
                <a:effectLst/>
                <a:latin typeface="Gill Sans MT" panose="020B0502020104020203" pitchFamily="34" charset="0"/>
              </a:rPr>
              <a:t>Multi-</a:t>
            </a:r>
            <a:r>
              <a:rPr lang="tr-TR" b="0" i="0" u="none" strike="noStrike" dirty="0" err="1">
                <a:solidFill>
                  <a:srgbClr val="000000"/>
                </a:solidFill>
                <a:effectLst/>
                <a:latin typeface="Gill Sans MT" panose="020B0502020104020203" pitchFamily="34" charset="0"/>
              </a:rPr>
              <a:t>tenancy</a:t>
            </a:r>
            <a:r>
              <a:rPr lang="tr-TR" b="0" i="0" u="none" strike="noStrike" dirty="0">
                <a:solidFill>
                  <a:srgbClr val="000000"/>
                </a:solidFill>
                <a:effectLst/>
                <a:latin typeface="Gill Sans MT" panose="020B0502020104020203" pitchFamily="34" charset="0"/>
              </a:rPr>
              <a:t> (çok </a:t>
            </a:r>
            <a:r>
              <a:rPr lang="tr-TR" b="0" i="0" u="none" strike="noStrike" dirty="0" err="1">
                <a:solidFill>
                  <a:srgbClr val="000000"/>
                </a:solidFill>
                <a:effectLst/>
                <a:latin typeface="Gill Sans MT" panose="020B0502020104020203" pitchFamily="34" charset="0"/>
              </a:rPr>
              <a:t>kiracılı</a:t>
            </a:r>
            <a:r>
              <a:rPr lang="tr-TR" b="0" i="0" u="none" strike="noStrike" dirty="0">
                <a:solidFill>
                  <a:srgbClr val="000000"/>
                </a:solidFill>
                <a:effectLst/>
                <a:latin typeface="Gill Sans MT" panose="020B0502020104020203" pitchFamily="34" charset="0"/>
              </a:rPr>
              <a:t> mimari), tek bir yazılım kurulumunun (tek bir uygulama </a:t>
            </a:r>
            <a:r>
              <a:rPr lang="tr-TR" b="0" i="0" u="none" strike="noStrike" dirty="0" err="1">
                <a:solidFill>
                  <a:srgbClr val="000000"/>
                </a:solidFill>
                <a:effectLst/>
                <a:latin typeface="Gill Sans MT" panose="020B0502020104020203" pitchFamily="34" charset="0"/>
              </a:rPr>
              <a:t>instance’ının</a:t>
            </a:r>
            <a:r>
              <a:rPr lang="tr-TR" b="0" i="0" u="none" strike="noStrike" dirty="0">
                <a:solidFill>
                  <a:srgbClr val="000000"/>
                </a:solidFill>
                <a:effectLst/>
                <a:latin typeface="Gill Sans MT" panose="020B0502020104020203" pitchFamily="34" charset="0"/>
              </a:rPr>
              <a:t>) </a:t>
            </a:r>
            <a:r>
              <a:rPr lang="tr-TR" i="0" u="none" strike="noStrike" dirty="0">
                <a:solidFill>
                  <a:srgbClr val="000000"/>
                </a:solidFill>
                <a:effectLst/>
                <a:latin typeface="Gill Sans MT" panose="020B0502020104020203" pitchFamily="34" charset="0"/>
              </a:rPr>
              <a:t>birden çok müşteriye (</a:t>
            </a:r>
            <a:r>
              <a:rPr lang="tr-TR" i="0" u="none" strike="noStrike" dirty="0" err="1">
                <a:solidFill>
                  <a:srgbClr val="000000"/>
                </a:solidFill>
                <a:effectLst/>
                <a:latin typeface="Gill Sans MT" panose="020B0502020104020203" pitchFamily="34" charset="0"/>
              </a:rPr>
              <a:t>tenant</a:t>
            </a:r>
            <a:r>
              <a:rPr lang="tr-TR" i="0" u="none" strike="noStrike" dirty="0">
                <a:solidFill>
                  <a:srgbClr val="000000"/>
                </a:solidFill>
                <a:effectLst/>
                <a:latin typeface="Gill Sans MT" panose="020B0502020104020203" pitchFamily="34" charset="0"/>
              </a:rPr>
              <a:t>) hizmet etmesi </a:t>
            </a:r>
            <a:r>
              <a:rPr lang="tr-TR" b="0" i="0" u="none" strike="noStrike" dirty="0">
                <a:solidFill>
                  <a:srgbClr val="000000"/>
                </a:solidFill>
                <a:effectLst/>
                <a:latin typeface="Gill Sans MT" panose="020B0502020104020203" pitchFamily="34" charset="0"/>
              </a:rPr>
              <a:t>anlamına gelir​. Her müşteri uygulamayı ve </a:t>
            </a:r>
            <a:r>
              <a:rPr lang="tr-TR" b="0" i="0" u="none" strike="noStrike" dirty="0" err="1">
                <a:solidFill>
                  <a:srgbClr val="000000"/>
                </a:solidFill>
                <a:effectLst/>
                <a:latin typeface="Gill Sans MT" panose="020B0502020104020203" pitchFamily="34" charset="0"/>
              </a:rPr>
              <a:t>veritabanını</a:t>
            </a:r>
            <a:r>
              <a:rPr lang="tr-TR" b="0" i="0" u="none" strike="noStrike" dirty="0">
                <a:solidFill>
                  <a:srgbClr val="000000"/>
                </a:solidFill>
                <a:effectLst/>
                <a:latin typeface="Gill Sans MT" panose="020B0502020104020203" pitchFamily="34" charset="0"/>
              </a:rPr>
              <a:t> diğerleriyle paylaşıyor gibi görünse de, uygulama tasarımı sayesinde </a:t>
            </a:r>
            <a:r>
              <a:rPr lang="tr-TR" i="0" u="none" strike="noStrike" dirty="0">
                <a:solidFill>
                  <a:srgbClr val="000000"/>
                </a:solidFill>
                <a:effectLst/>
                <a:latin typeface="Gill Sans MT" panose="020B0502020104020203" pitchFamily="34" charset="0"/>
              </a:rPr>
              <a:t>müşteri verileri ve </a:t>
            </a:r>
            <a:r>
              <a:rPr lang="tr-TR" i="0" u="none" strike="noStrike" dirty="0" err="1">
                <a:solidFill>
                  <a:srgbClr val="000000"/>
                </a:solidFill>
                <a:effectLst/>
                <a:latin typeface="Gill Sans MT" panose="020B0502020104020203" pitchFamily="34" charset="0"/>
              </a:rPr>
              <a:t>konfigurasyonları</a:t>
            </a:r>
            <a:r>
              <a:rPr lang="tr-TR" i="0" u="none" strike="noStrike" dirty="0">
                <a:solidFill>
                  <a:srgbClr val="000000"/>
                </a:solidFill>
                <a:effectLst/>
                <a:latin typeface="Gill Sans MT" panose="020B0502020104020203" pitchFamily="34" charset="0"/>
              </a:rPr>
              <a:t> birbirinden tamamen izole tutulur​</a:t>
            </a:r>
            <a:r>
              <a:rPr lang="tr-TR" b="0" i="0" u="none" strike="noStrike" dirty="0">
                <a:solidFill>
                  <a:srgbClr val="000000"/>
                </a:solidFill>
                <a:effectLst/>
                <a:latin typeface="Gill Sans MT" panose="020B0502020104020203" pitchFamily="34" charset="0"/>
              </a:rPr>
              <a:t>. Müşteriler (</a:t>
            </a:r>
            <a:r>
              <a:rPr lang="tr-TR" b="0" i="0" u="none" strike="noStrike" dirty="0" err="1">
                <a:solidFill>
                  <a:srgbClr val="000000"/>
                </a:solidFill>
                <a:effectLst/>
                <a:latin typeface="Gill Sans MT" panose="020B0502020104020203" pitchFamily="34" charset="0"/>
              </a:rPr>
              <a:t>tenants</a:t>
            </a:r>
            <a:r>
              <a:rPr lang="tr-TR" b="0" i="0" u="none" strike="noStrike" dirty="0">
                <a:solidFill>
                  <a:srgbClr val="000000"/>
                </a:solidFill>
                <a:effectLst/>
                <a:latin typeface="Gill Sans MT" panose="020B0502020104020203" pitchFamily="34" charset="0"/>
              </a:rPr>
              <a:t>) birbirlerinin varlığından habersizdir ve verilerine erişemez​. Bu izolasyon genellikle mantıksal izolasyon şeklindedir (veri ayrımı, erişim kontrolü), fiziksel izolasyon olmadan güvenli paylaşım sağlanır.</a:t>
            </a:r>
            <a:endParaRPr lang="tr-TR" dirty="0">
              <a:latin typeface="Gill Sans MT" panose="020B0502020104020203" pitchFamily="34" charset="0"/>
            </a:endParaRPr>
          </a:p>
        </p:txBody>
      </p:sp>
    </p:spTree>
    <p:extLst>
      <p:ext uri="{BB962C8B-B14F-4D97-AF65-F5344CB8AC3E}">
        <p14:creationId xmlns:p14="http://schemas.microsoft.com/office/powerpoint/2010/main" val="1518292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2B098-56BA-7F2A-5152-6F96E6C53EF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39FF3EF-D475-ECEB-67D5-6D1ED0E9BC68}"/>
              </a:ext>
            </a:extLst>
          </p:cNvPr>
          <p:cNvSpPr>
            <a:spLocks noGrp="1"/>
          </p:cNvSpPr>
          <p:nvPr>
            <p:ph type="title"/>
          </p:nvPr>
        </p:nvSpPr>
        <p:spPr>
          <a:xfrm>
            <a:off x="2231136" y="272876"/>
            <a:ext cx="7729728" cy="1188720"/>
          </a:xfrm>
        </p:spPr>
        <p:txBody>
          <a:bodyPr/>
          <a:lstStyle/>
          <a:p>
            <a:r>
              <a:rPr lang="tr-TR" dirty="0" err="1"/>
              <a:t>Multıtenancy</a:t>
            </a:r>
            <a:r>
              <a:rPr lang="tr-TR" dirty="0"/>
              <a:t> nedir?</a:t>
            </a:r>
          </a:p>
        </p:txBody>
      </p:sp>
      <p:sp>
        <p:nvSpPr>
          <p:cNvPr id="3" name="İçerik Yer Tutucusu 2">
            <a:extLst>
              <a:ext uri="{FF2B5EF4-FFF2-40B4-BE49-F238E27FC236}">
                <a16:creationId xmlns:a16="http://schemas.microsoft.com/office/drawing/2014/main" id="{F22D27A6-3E81-3053-F252-C0CF916672C7}"/>
              </a:ext>
            </a:extLst>
          </p:cNvPr>
          <p:cNvSpPr>
            <a:spLocks noGrp="1"/>
          </p:cNvSpPr>
          <p:nvPr>
            <p:ph idx="1"/>
          </p:nvPr>
        </p:nvSpPr>
        <p:spPr>
          <a:xfrm>
            <a:off x="2231136" y="1878008"/>
            <a:ext cx="7729728" cy="3101983"/>
          </a:xfrm>
        </p:spPr>
        <p:txBody>
          <a:bodyPr>
            <a:normAutofit/>
          </a:bodyPr>
          <a:lstStyle/>
          <a:p>
            <a:r>
              <a:rPr lang="tr-TR" b="0" i="0" u="none" strike="noStrike" dirty="0">
                <a:solidFill>
                  <a:srgbClr val="000000"/>
                </a:solidFill>
                <a:effectLst/>
                <a:latin typeface="Gill Sans MT" panose="020B0502020104020203" pitchFamily="34" charset="0"/>
              </a:rPr>
              <a:t>Uygulama, her istekte hangi müşteriden geldiğini anlayıp o müşteriye ait verilerle işlem yapar. Müşteriler genellikle ayrı alt alan adları, URL veya kimlik bilgileri ile ayırt edilir. </a:t>
            </a:r>
          </a:p>
          <a:p>
            <a:r>
              <a:rPr lang="tr-TR" dirty="0">
                <a:solidFill>
                  <a:srgbClr val="000000"/>
                </a:solidFill>
                <a:latin typeface="Gill Sans MT" panose="020B0502020104020203" pitchFamily="34" charset="0"/>
              </a:rPr>
              <a:t>Böylece her müşteri kendi kullanıcı </a:t>
            </a:r>
            <a:r>
              <a:rPr lang="tr-TR" dirty="0" err="1">
                <a:solidFill>
                  <a:srgbClr val="000000"/>
                </a:solidFill>
                <a:latin typeface="Gill Sans MT" panose="020B0502020104020203" pitchFamily="34" charset="0"/>
              </a:rPr>
              <a:t>arayüzünü</a:t>
            </a:r>
            <a:r>
              <a:rPr lang="tr-TR" dirty="0">
                <a:solidFill>
                  <a:srgbClr val="000000"/>
                </a:solidFill>
                <a:latin typeface="Gill Sans MT" panose="020B0502020104020203" pitchFamily="34" charset="0"/>
              </a:rPr>
              <a:t>, verisini ve ayarlarını görür.</a:t>
            </a:r>
          </a:p>
        </p:txBody>
      </p:sp>
    </p:spTree>
    <p:extLst>
      <p:ext uri="{BB962C8B-B14F-4D97-AF65-F5344CB8AC3E}">
        <p14:creationId xmlns:p14="http://schemas.microsoft.com/office/powerpoint/2010/main" val="144171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124B4-D2A9-80C8-A53D-80DC53D17C7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04D096B-9EE2-63FF-E012-0C4F927FEAD7}"/>
              </a:ext>
            </a:extLst>
          </p:cNvPr>
          <p:cNvSpPr>
            <a:spLocks noGrp="1"/>
          </p:cNvSpPr>
          <p:nvPr>
            <p:ph type="title"/>
          </p:nvPr>
        </p:nvSpPr>
        <p:spPr>
          <a:xfrm>
            <a:off x="2231136" y="272876"/>
            <a:ext cx="7729728" cy="1188720"/>
          </a:xfrm>
        </p:spPr>
        <p:txBody>
          <a:bodyPr/>
          <a:lstStyle/>
          <a:p>
            <a:r>
              <a:rPr lang="tr-TR" dirty="0" err="1"/>
              <a:t>Multıtenancy</a:t>
            </a:r>
            <a:r>
              <a:rPr lang="tr-TR" dirty="0"/>
              <a:t> nedir?</a:t>
            </a:r>
          </a:p>
        </p:txBody>
      </p:sp>
      <p:sp>
        <p:nvSpPr>
          <p:cNvPr id="3" name="İçerik Yer Tutucusu 2">
            <a:extLst>
              <a:ext uri="{FF2B5EF4-FFF2-40B4-BE49-F238E27FC236}">
                <a16:creationId xmlns:a16="http://schemas.microsoft.com/office/drawing/2014/main" id="{EE17F69B-7B2A-77DE-5482-9A26F2A53B22}"/>
              </a:ext>
            </a:extLst>
          </p:cNvPr>
          <p:cNvSpPr>
            <a:spLocks noGrp="1"/>
          </p:cNvSpPr>
          <p:nvPr>
            <p:ph idx="1"/>
          </p:nvPr>
        </p:nvSpPr>
        <p:spPr>
          <a:xfrm>
            <a:off x="186489" y="1878008"/>
            <a:ext cx="5257800" cy="4372397"/>
          </a:xfrm>
        </p:spPr>
        <p:txBody>
          <a:bodyPr>
            <a:normAutofit lnSpcReduction="10000"/>
          </a:bodyPr>
          <a:lstStyle/>
          <a:p>
            <a:pPr algn="just"/>
            <a:r>
              <a:rPr lang="tr-TR" b="0" i="0" u="none" strike="noStrike" dirty="0">
                <a:solidFill>
                  <a:srgbClr val="000000"/>
                </a:solidFill>
                <a:effectLst/>
                <a:latin typeface="Gill Sans MT" panose="020B0502020104020203" pitchFamily="34" charset="0"/>
              </a:rPr>
              <a:t>Multi-</a:t>
            </a:r>
            <a:r>
              <a:rPr lang="tr-TR" b="0" i="0" u="none" strike="noStrike" dirty="0" err="1">
                <a:solidFill>
                  <a:srgbClr val="000000"/>
                </a:solidFill>
                <a:effectLst/>
                <a:latin typeface="Gill Sans MT" panose="020B0502020104020203" pitchFamily="34" charset="0"/>
              </a:rPr>
              <a:t>tenant</a:t>
            </a:r>
            <a:r>
              <a:rPr lang="tr-TR" b="0" i="0" u="none" strike="noStrike" dirty="0">
                <a:solidFill>
                  <a:srgbClr val="000000"/>
                </a:solidFill>
                <a:effectLst/>
                <a:latin typeface="Gill Sans MT" panose="020B0502020104020203" pitchFamily="34" charset="0"/>
              </a:rPr>
              <a:t> mimariyi anlamak için sık kullanılan bir benzetme apartman sistemidir. </a:t>
            </a:r>
          </a:p>
          <a:p>
            <a:pPr algn="just"/>
            <a:r>
              <a:rPr lang="tr-TR" i="0" u="none" strike="noStrike" dirty="0" err="1">
                <a:solidFill>
                  <a:srgbClr val="000000"/>
                </a:solidFill>
                <a:effectLst/>
                <a:latin typeface="Gill Sans MT" panose="020B0502020104020203" pitchFamily="34" charset="0"/>
              </a:rPr>
              <a:t>Single-tenant</a:t>
            </a:r>
            <a:r>
              <a:rPr lang="tr-TR" i="0" u="none" strike="noStrike" dirty="0">
                <a:solidFill>
                  <a:srgbClr val="000000"/>
                </a:solidFill>
                <a:effectLst/>
                <a:latin typeface="Gill Sans MT" panose="020B0502020104020203" pitchFamily="34" charset="0"/>
              </a:rPr>
              <a:t> </a:t>
            </a:r>
            <a:r>
              <a:rPr lang="tr-TR" b="0" i="0" u="none" strike="noStrike" dirty="0">
                <a:solidFill>
                  <a:srgbClr val="000000"/>
                </a:solidFill>
                <a:effectLst/>
                <a:latin typeface="Gill Sans MT" panose="020B0502020104020203" pitchFamily="34" charset="0"/>
              </a:rPr>
              <a:t>bir müşteri kendi müstakil evinde yaşar – bütün kaynaklar (binanın tamamı) ona özeldir. </a:t>
            </a:r>
          </a:p>
          <a:p>
            <a:pPr algn="just"/>
            <a:r>
              <a:rPr lang="tr-TR" i="0" u="none" strike="noStrike" dirty="0">
                <a:solidFill>
                  <a:srgbClr val="000000"/>
                </a:solidFill>
                <a:effectLst/>
                <a:latin typeface="Gill Sans MT" panose="020B0502020104020203" pitchFamily="34" charset="0"/>
              </a:rPr>
              <a:t>Multi-</a:t>
            </a:r>
            <a:r>
              <a:rPr lang="tr-TR" i="0" u="none" strike="noStrike" dirty="0" err="1">
                <a:solidFill>
                  <a:srgbClr val="000000"/>
                </a:solidFill>
                <a:effectLst/>
                <a:latin typeface="Gill Sans MT" panose="020B0502020104020203" pitchFamily="34" charset="0"/>
              </a:rPr>
              <a:t>tenant</a:t>
            </a:r>
            <a:r>
              <a:rPr lang="tr-TR" i="0" u="none" strike="noStrike" dirty="0">
                <a:solidFill>
                  <a:srgbClr val="000000"/>
                </a:solidFill>
                <a:effectLst/>
                <a:latin typeface="Gill Sans MT" panose="020B0502020104020203" pitchFamily="34" charset="0"/>
              </a:rPr>
              <a:t> </a:t>
            </a:r>
            <a:r>
              <a:rPr lang="tr-TR" b="0" i="0" u="none" strike="noStrike" dirty="0">
                <a:solidFill>
                  <a:srgbClr val="000000"/>
                </a:solidFill>
                <a:effectLst/>
                <a:latin typeface="Gill Sans MT" panose="020B0502020104020203" pitchFamily="34" charset="0"/>
              </a:rPr>
              <a:t>ise bir apartmandaki daireler gibidir; bina altyapısı (çatı, tesisat </a:t>
            </a:r>
            <a:r>
              <a:rPr lang="tr-TR" b="0" i="0" u="none" strike="noStrike" dirty="0" err="1">
                <a:solidFill>
                  <a:srgbClr val="000000"/>
                </a:solidFill>
                <a:effectLst/>
                <a:latin typeface="Gill Sans MT" panose="020B0502020104020203" pitchFamily="34" charset="0"/>
              </a:rPr>
              <a:t>vs</a:t>
            </a:r>
            <a:r>
              <a:rPr lang="tr-TR" b="0" i="0" u="none" strike="noStrike" dirty="0">
                <a:solidFill>
                  <a:srgbClr val="000000"/>
                </a:solidFill>
                <a:effectLst/>
                <a:latin typeface="Gill Sans MT" panose="020B0502020104020203" pitchFamily="34" charset="0"/>
              </a:rPr>
              <a:t>) ortak kullanılır ama her daire (müşteri) kendi özel alanında yaşar​.</a:t>
            </a:r>
          </a:p>
          <a:p>
            <a:pPr algn="just"/>
            <a:r>
              <a:rPr lang="tr-TR" b="0" i="0" u="none" strike="noStrike" dirty="0">
                <a:solidFill>
                  <a:srgbClr val="000000"/>
                </a:solidFill>
                <a:effectLst/>
                <a:latin typeface="Gill Sans MT" panose="020B0502020104020203" pitchFamily="34" charset="0"/>
              </a:rPr>
              <a:t>Ortak kaynak kullanımı sayesinde bakım, güvenlik, tesisat işleri bina yönetimi (sağlayıcı) tarafından halledilir, maliyet paylaşılır. </a:t>
            </a:r>
          </a:p>
          <a:p>
            <a:pPr algn="just"/>
            <a:r>
              <a:rPr lang="tr-TR" dirty="0">
                <a:solidFill>
                  <a:srgbClr val="000000"/>
                </a:solidFill>
                <a:latin typeface="Gill Sans MT" panose="020B0502020104020203" pitchFamily="34" charset="0"/>
              </a:rPr>
              <a:t>A</a:t>
            </a:r>
            <a:r>
              <a:rPr lang="tr-TR" b="0" i="0" u="none" strike="noStrike" dirty="0">
                <a:solidFill>
                  <a:srgbClr val="000000"/>
                </a:solidFill>
                <a:effectLst/>
                <a:latin typeface="Gill Sans MT" panose="020B0502020104020203" pitchFamily="34" charset="0"/>
              </a:rPr>
              <a:t>ncak duvarlar ortak olduğu için komşuların aktiviteleri (gürültü gibi) birbirini etkileyebilir. Bu benzetme, </a:t>
            </a:r>
            <a:r>
              <a:rPr lang="tr-TR" b="0" i="0" u="none" strike="noStrike" dirty="0" err="1">
                <a:solidFill>
                  <a:srgbClr val="000000"/>
                </a:solidFill>
                <a:effectLst/>
                <a:latin typeface="Gill Sans MT" panose="020B0502020104020203" pitchFamily="34" charset="0"/>
              </a:rPr>
              <a:t>multi-tenant’ın</a:t>
            </a:r>
            <a:r>
              <a:rPr lang="tr-TR" b="0" i="0" u="none" strike="noStrike" dirty="0">
                <a:solidFill>
                  <a:srgbClr val="000000"/>
                </a:solidFill>
                <a:effectLst/>
                <a:latin typeface="Gill Sans MT" panose="020B0502020104020203" pitchFamily="34" charset="0"/>
              </a:rPr>
              <a:t> avantaj ve dezavantajlarını somutlaştırır.</a:t>
            </a:r>
            <a:endParaRPr lang="tr-TR" dirty="0">
              <a:solidFill>
                <a:srgbClr val="000000"/>
              </a:solidFill>
              <a:latin typeface="Gill Sans MT" panose="020B0502020104020203" pitchFamily="34" charset="0"/>
            </a:endParaRPr>
          </a:p>
        </p:txBody>
      </p:sp>
      <p:pic>
        <p:nvPicPr>
          <p:cNvPr id="5" name="Resim 4">
            <a:extLst>
              <a:ext uri="{FF2B5EF4-FFF2-40B4-BE49-F238E27FC236}">
                <a16:creationId xmlns:a16="http://schemas.microsoft.com/office/drawing/2014/main" id="{47403654-D65E-1E4F-45C4-49F5E5ECA9DB}"/>
              </a:ext>
            </a:extLst>
          </p:cNvPr>
          <p:cNvPicPr>
            <a:picLocks noChangeAspect="1"/>
          </p:cNvPicPr>
          <p:nvPr/>
        </p:nvPicPr>
        <p:blipFill>
          <a:blip r:embed="rId2"/>
          <a:stretch>
            <a:fillRect/>
          </a:stretch>
        </p:blipFill>
        <p:spPr>
          <a:xfrm>
            <a:off x="5694841" y="2123575"/>
            <a:ext cx="6019202" cy="3477246"/>
          </a:xfrm>
          <a:prstGeom prst="rect">
            <a:avLst/>
          </a:prstGeom>
          <a:solidFill>
            <a:srgbClr val="FFFFFF">
              <a:shade val="85000"/>
            </a:srgbClr>
          </a:solidFill>
          <a:ln w="88900"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046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70F57-AF0B-CFE5-C100-43B4A948AD3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51C1721-18FB-6543-639D-C87F8ED07087}"/>
              </a:ext>
            </a:extLst>
          </p:cNvPr>
          <p:cNvSpPr>
            <a:spLocks noGrp="1"/>
          </p:cNvSpPr>
          <p:nvPr>
            <p:ph type="title"/>
          </p:nvPr>
        </p:nvSpPr>
        <p:spPr>
          <a:xfrm>
            <a:off x="2231136" y="272876"/>
            <a:ext cx="7729728" cy="1188720"/>
          </a:xfrm>
        </p:spPr>
        <p:txBody>
          <a:bodyPr/>
          <a:lstStyle/>
          <a:p>
            <a:r>
              <a:rPr lang="tr-TR" dirty="0" err="1"/>
              <a:t>Multıtenancy</a:t>
            </a:r>
            <a:r>
              <a:rPr lang="tr-TR" dirty="0"/>
              <a:t> mimarinin avantajları</a:t>
            </a:r>
          </a:p>
        </p:txBody>
      </p:sp>
      <p:sp>
        <p:nvSpPr>
          <p:cNvPr id="3" name="İçerik Yer Tutucusu 2">
            <a:extLst>
              <a:ext uri="{FF2B5EF4-FFF2-40B4-BE49-F238E27FC236}">
                <a16:creationId xmlns:a16="http://schemas.microsoft.com/office/drawing/2014/main" id="{0178C6B0-148D-7D2D-573F-24FFA5A5C927}"/>
              </a:ext>
            </a:extLst>
          </p:cNvPr>
          <p:cNvSpPr>
            <a:spLocks noGrp="1"/>
          </p:cNvSpPr>
          <p:nvPr>
            <p:ph idx="1"/>
          </p:nvPr>
        </p:nvSpPr>
        <p:spPr>
          <a:xfrm>
            <a:off x="1302057" y="1691519"/>
            <a:ext cx="9587885" cy="4707116"/>
          </a:xfrm>
        </p:spPr>
        <p:txBody>
          <a:bodyPr>
            <a:normAutofit/>
          </a:bodyPr>
          <a:lstStyle/>
          <a:p>
            <a:r>
              <a:rPr lang="tr-TR" b="1" i="0" u="none" strike="noStrike" dirty="0">
                <a:solidFill>
                  <a:srgbClr val="000000"/>
                </a:solidFill>
                <a:effectLst/>
                <a:latin typeface="Gill Sans MT" panose="020B0502020104020203" pitchFamily="34" charset="0"/>
              </a:rPr>
              <a:t>Kaynak Verimliliği</a:t>
            </a:r>
            <a:r>
              <a:rPr lang="tr-TR" b="0" i="0" u="none" strike="noStrike" dirty="0">
                <a:solidFill>
                  <a:srgbClr val="000000"/>
                </a:solidFill>
                <a:effectLst/>
                <a:latin typeface="Gill Sans MT" panose="020B0502020104020203" pitchFamily="34" charset="0"/>
              </a:rPr>
              <a:t>: Multi-</a:t>
            </a:r>
            <a:r>
              <a:rPr lang="tr-TR" b="0" i="0" u="none" strike="noStrike" dirty="0" err="1">
                <a:solidFill>
                  <a:srgbClr val="000000"/>
                </a:solidFill>
                <a:effectLst/>
                <a:latin typeface="Gill Sans MT" panose="020B0502020104020203" pitchFamily="34" charset="0"/>
              </a:rPr>
              <a:t>tenant</a:t>
            </a:r>
            <a:r>
              <a:rPr lang="tr-TR" b="0" i="0" u="none" strike="noStrike" dirty="0">
                <a:solidFill>
                  <a:srgbClr val="000000"/>
                </a:solidFill>
                <a:effectLst/>
                <a:latin typeface="Gill Sans MT" panose="020B0502020104020203" pitchFamily="34" charset="0"/>
              </a:rPr>
              <a:t> mimaride bir sunucu birden fazla müşteriye hizmet verebildiği için kaynaklar maksimum verimle kullanılır.  Tek müşteriye adanmış bir makine çoğu zaman kapasitesinin tamamını kullanmazken, paylaşım sayesinde boşta kalan kaynaklar diğer müşteriler tarafından kullanılabilir​. Böylece donanım verimliliği sağlanır.</a:t>
            </a:r>
          </a:p>
          <a:p>
            <a:r>
              <a:rPr lang="tr-TR" b="1" i="0" u="none" strike="noStrike" dirty="0">
                <a:solidFill>
                  <a:srgbClr val="000000"/>
                </a:solidFill>
                <a:effectLst/>
                <a:latin typeface="Gill Sans MT" panose="020B0502020104020203" pitchFamily="34" charset="0"/>
              </a:rPr>
              <a:t>Düşük Maliyet (Ekonomi of </a:t>
            </a:r>
            <a:r>
              <a:rPr lang="tr-TR" b="1" i="0" u="none" strike="noStrike" dirty="0" err="1">
                <a:solidFill>
                  <a:srgbClr val="000000"/>
                </a:solidFill>
                <a:effectLst/>
                <a:latin typeface="Gill Sans MT" panose="020B0502020104020203" pitchFamily="34" charset="0"/>
              </a:rPr>
              <a:t>Scale</a:t>
            </a:r>
            <a:r>
              <a:rPr lang="tr-TR" b="1" i="0" u="none" strike="noStrike" dirty="0">
                <a:solidFill>
                  <a:srgbClr val="000000"/>
                </a:solidFill>
                <a:effectLst/>
                <a:latin typeface="Gill Sans MT" panose="020B0502020104020203" pitchFamily="34" charset="0"/>
              </a:rPr>
              <a:t>):</a:t>
            </a:r>
            <a:r>
              <a:rPr lang="tr-TR" b="0" i="0" u="none" strike="noStrike" dirty="0">
                <a:solidFill>
                  <a:srgbClr val="000000"/>
                </a:solidFill>
                <a:effectLst/>
                <a:latin typeface="Gill Sans MT" panose="020B0502020104020203" pitchFamily="34" charset="0"/>
              </a:rPr>
              <a:t> Ortak altyapı kullanımı, maliyetleri müşteriler arasında paylaştırır. </a:t>
            </a:r>
            <a:r>
              <a:rPr lang="tr-TR" b="0" i="0" u="none" strike="noStrike" dirty="0" err="1">
                <a:solidFill>
                  <a:srgbClr val="000000"/>
                </a:solidFill>
                <a:effectLst/>
                <a:latin typeface="Gill Sans MT" panose="020B0502020104020203" pitchFamily="34" charset="0"/>
              </a:rPr>
              <a:t>SaaS</a:t>
            </a:r>
            <a:r>
              <a:rPr lang="tr-TR" b="0" i="0" u="none" strike="noStrike" dirty="0">
                <a:solidFill>
                  <a:srgbClr val="000000"/>
                </a:solidFill>
                <a:effectLst/>
                <a:latin typeface="Gill Sans MT" panose="020B0502020104020203" pitchFamily="34" charset="0"/>
              </a:rPr>
              <a:t> sağlayıcısı tek bir ortamı yöneterek tüm müşterilere hizmet verdiğinden, operasyon maliyetleri ölçek ekonomisiyle düşer ve </a:t>
            </a:r>
            <a:r>
              <a:rPr lang="tr-TR" b="1" i="0" u="none" strike="noStrike" dirty="0">
                <a:solidFill>
                  <a:srgbClr val="000000"/>
                </a:solidFill>
                <a:effectLst/>
                <a:latin typeface="Gill Sans MT" panose="020B0502020104020203" pitchFamily="34" charset="0"/>
              </a:rPr>
              <a:t>müşteri başına daha düşük ücret</a:t>
            </a:r>
            <a:r>
              <a:rPr lang="tr-TR" b="0" i="0" u="none" strike="noStrike" dirty="0">
                <a:solidFill>
                  <a:srgbClr val="000000"/>
                </a:solidFill>
                <a:effectLst/>
                <a:latin typeface="Gill Sans MT" panose="020B0502020104020203" pitchFamily="34" charset="0"/>
              </a:rPr>
              <a:t> sunulabilir​. Örneğin,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bir </a:t>
            </a:r>
            <a:r>
              <a:rPr lang="tr-TR" b="0" i="0" u="none" strike="noStrike" dirty="0" err="1">
                <a:solidFill>
                  <a:srgbClr val="000000"/>
                </a:solidFill>
                <a:effectLst/>
                <a:latin typeface="Gill Sans MT" panose="020B0502020104020203" pitchFamily="34" charset="0"/>
              </a:rPr>
              <a:t>veritabanı</a:t>
            </a:r>
            <a:r>
              <a:rPr lang="tr-TR" b="0" i="0" u="none" strike="noStrike" dirty="0">
                <a:solidFill>
                  <a:srgbClr val="000000"/>
                </a:solidFill>
                <a:effectLst/>
                <a:latin typeface="Gill Sans MT" panose="020B0502020104020203" pitchFamily="34" charset="0"/>
              </a:rPr>
              <a:t> milyonlarca kullanıcı verisini tutabilir; hepsi için ayrı ayrı sunucu tutmaya göre çok daha ucuzdur.</a:t>
            </a:r>
          </a:p>
          <a:p>
            <a:r>
              <a:rPr lang="tr-TR" b="1" i="0" u="none" strike="noStrike" dirty="0">
                <a:solidFill>
                  <a:srgbClr val="000000"/>
                </a:solidFill>
                <a:effectLst/>
                <a:latin typeface="Gill Sans MT" panose="020B0502020104020203" pitchFamily="34" charset="0"/>
              </a:rPr>
              <a:t>Kolay Bakım ve Güncelleme:</a:t>
            </a:r>
            <a:r>
              <a:rPr lang="tr-TR" b="0" i="0" u="none" strike="noStrike" dirty="0">
                <a:solidFill>
                  <a:srgbClr val="000000"/>
                </a:solidFill>
                <a:effectLst/>
                <a:latin typeface="Gill Sans MT" panose="020B0502020104020203" pitchFamily="34" charset="0"/>
              </a:rPr>
              <a:t> </a:t>
            </a:r>
            <a:r>
              <a:rPr lang="tr-TR" i="0" u="none" strike="noStrike" dirty="0">
                <a:solidFill>
                  <a:srgbClr val="000000"/>
                </a:solidFill>
                <a:effectLst/>
                <a:latin typeface="Gill Sans MT" panose="020B0502020104020203" pitchFamily="34" charset="0"/>
              </a:rPr>
              <a:t>Uygulamanın tek bir kurulumunu yönetmek, onlarcasını yönetmekten daha kolaydır. “Hands-</a:t>
            </a:r>
            <a:r>
              <a:rPr lang="tr-TR" i="0" u="none" strike="noStrike" dirty="0" err="1">
                <a:solidFill>
                  <a:srgbClr val="000000"/>
                </a:solidFill>
                <a:effectLst/>
                <a:latin typeface="Gill Sans MT" panose="020B0502020104020203" pitchFamily="34" charset="0"/>
              </a:rPr>
              <a:t>free</a:t>
            </a:r>
            <a:r>
              <a:rPr lang="tr-TR" i="0" u="none" strike="noStrike" dirty="0">
                <a:solidFill>
                  <a:srgbClr val="000000"/>
                </a:solidFill>
                <a:effectLst/>
                <a:latin typeface="Gill Sans MT" panose="020B0502020104020203" pitchFamily="34" charset="0"/>
              </a:rPr>
              <a:t>” bakım: Tüm müşteriler aynı uygulama </a:t>
            </a:r>
            <a:r>
              <a:rPr lang="tr-TR" i="0" u="none" strike="noStrike" dirty="0" err="1">
                <a:solidFill>
                  <a:srgbClr val="000000"/>
                </a:solidFill>
                <a:effectLst/>
                <a:latin typeface="Gill Sans MT" panose="020B0502020104020203" pitchFamily="34" charset="0"/>
              </a:rPr>
              <a:t>instance’larını</a:t>
            </a:r>
            <a:r>
              <a:rPr lang="tr-TR" i="0" u="none" strike="noStrike" dirty="0">
                <a:solidFill>
                  <a:srgbClr val="000000"/>
                </a:solidFill>
                <a:effectLst/>
                <a:latin typeface="Gill Sans MT" panose="020B0502020104020203" pitchFamily="34" charset="0"/>
              </a:rPr>
              <a:t> kullandığı için sağlayıcı bakım işlerini tek seferde yapar​. Yazılım güncellemeleri, güvenlik yamaları merkezi olarak uygulanır ve bütün müşteriler anında faydalanır. Müşterilerin kendi başına güncelleme yapmasına gerek kalmaz, versiyon uyumsuzluğu sorunu yaşanmaz.</a:t>
            </a:r>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1093501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A5BB-9A71-95B6-F573-78E93B86EBF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2701407-6B70-AF9F-6D5E-986E3E9B997F}"/>
              </a:ext>
            </a:extLst>
          </p:cNvPr>
          <p:cNvSpPr>
            <a:spLocks noGrp="1"/>
          </p:cNvSpPr>
          <p:nvPr>
            <p:ph type="title"/>
          </p:nvPr>
        </p:nvSpPr>
        <p:spPr>
          <a:xfrm>
            <a:off x="2231136" y="272876"/>
            <a:ext cx="7729728" cy="1188720"/>
          </a:xfrm>
        </p:spPr>
        <p:txBody>
          <a:bodyPr/>
          <a:lstStyle/>
          <a:p>
            <a:r>
              <a:rPr lang="tr-TR" dirty="0" err="1"/>
              <a:t>Multıtenancy</a:t>
            </a:r>
            <a:r>
              <a:rPr lang="tr-TR" dirty="0"/>
              <a:t> mimarinin avantajları</a:t>
            </a:r>
          </a:p>
        </p:txBody>
      </p:sp>
      <p:sp>
        <p:nvSpPr>
          <p:cNvPr id="3" name="İçerik Yer Tutucusu 2">
            <a:extLst>
              <a:ext uri="{FF2B5EF4-FFF2-40B4-BE49-F238E27FC236}">
                <a16:creationId xmlns:a16="http://schemas.microsoft.com/office/drawing/2014/main" id="{06B9F62F-30FF-184D-CCED-CC2DEA6A3ABE}"/>
              </a:ext>
            </a:extLst>
          </p:cNvPr>
          <p:cNvSpPr>
            <a:spLocks noGrp="1"/>
          </p:cNvSpPr>
          <p:nvPr>
            <p:ph idx="1"/>
          </p:nvPr>
        </p:nvSpPr>
        <p:spPr>
          <a:xfrm>
            <a:off x="2028645" y="1865977"/>
            <a:ext cx="8134710" cy="3830976"/>
          </a:xfrm>
        </p:spPr>
        <p:txBody>
          <a:bodyPr>
            <a:normAutofit/>
          </a:bodyPr>
          <a:lstStyle/>
          <a:p>
            <a:r>
              <a:rPr lang="tr-TR" b="1" i="0" u="none" strike="noStrike" dirty="0">
                <a:solidFill>
                  <a:srgbClr val="000000"/>
                </a:solidFill>
                <a:effectLst/>
                <a:latin typeface="Gill Sans MT" panose="020B0502020104020203" pitchFamily="34" charset="0"/>
              </a:rPr>
              <a:t>Farklı Ölçeklerde Müşteriye Hizmet:</a:t>
            </a:r>
            <a:r>
              <a:rPr lang="tr-TR" b="0" i="0" u="none" strike="noStrike" dirty="0">
                <a:solidFill>
                  <a:srgbClr val="000000"/>
                </a:solidFill>
                <a:effectLst/>
                <a:latin typeface="Gill Sans MT" panose="020B0502020104020203" pitchFamily="34" charset="0"/>
              </a:rPr>
              <a:t> Multi-</a:t>
            </a:r>
            <a:r>
              <a:rPr lang="tr-TR" b="0" i="0" u="none" strike="noStrike" dirty="0" err="1">
                <a:solidFill>
                  <a:srgbClr val="000000"/>
                </a:solidFill>
                <a:effectLst/>
                <a:latin typeface="Gill Sans MT" panose="020B0502020104020203" pitchFamily="34" charset="0"/>
              </a:rPr>
              <a:t>tenancy</a:t>
            </a:r>
            <a:r>
              <a:rPr lang="tr-TR" b="0" i="0" u="none" strike="noStrike" dirty="0">
                <a:solidFill>
                  <a:srgbClr val="000000"/>
                </a:solidFill>
                <a:effectLst/>
                <a:latin typeface="Gill Sans MT" panose="020B0502020104020203" pitchFamily="34" charset="0"/>
              </a:rPr>
              <a:t> ile aynı altyapıda hem küçük hem büyük müşterilere hizmet verilebilir. Örneğin küçük müşteriler birkaç kullanıcıyla sistemi kullanırken, büyük müşteriler de aynı platformda binlerce kullanıcıyla çalışabilir. </a:t>
            </a:r>
            <a:r>
              <a:rPr lang="tr-TR" i="0" u="none" strike="noStrike" dirty="0">
                <a:solidFill>
                  <a:srgbClr val="000000"/>
                </a:solidFill>
                <a:effectLst/>
                <a:latin typeface="Gill Sans MT" panose="020B0502020104020203" pitchFamily="34" charset="0"/>
              </a:rPr>
              <a:t>Ortak platform</a:t>
            </a:r>
            <a:r>
              <a:rPr lang="tr-TR" b="0" i="0" u="none" strike="noStrike" dirty="0">
                <a:solidFill>
                  <a:srgbClr val="000000"/>
                </a:solidFill>
                <a:effectLst/>
                <a:latin typeface="Gill Sans MT" panose="020B0502020104020203" pitchFamily="34" charset="0"/>
              </a:rPr>
              <a:t>, farklı boyuttaki müşterilerin ihtiyaçlarını karşılayacak şekilde ölçeklenebilir. Bu da </a:t>
            </a:r>
            <a:r>
              <a:rPr lang="tr-TR" b="0" i="0" u="none" strike="noStrike" dirty="0" err="1">
                <a:solidFill>
                  <a:srgbClr val="000000"/>
                </a:solidFill>
                <a:effectLst/>
                <a:latin typeface="Gill Sans MT" panose="020B0502020104020203" pitchFamily="34" charset="0"/>
              </a:rPr>
              <a:t>SaaS</a:t>
            </a:r>
            <a:r>
              <a:rPr lang="tr-TR" b="0" i="0" u="none" strike="noStrike" dirty="0">
                <a:solidFill>
                  <a:srgbClr val="000000"/>
                </a:solidFill>
                <a:effectLst/>
                <a:latin typeface="Gill Sans MT" panose="020B0502020104020203" pitchFamily="34" charset="0"/>
              </a:rPr>
              <a:t> sağlayıcısının geniş bir müşteri yelpazesine ulaşmasını sağlar​.</a:t>
            </a:r>
          </a:p>
          <a:p>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3106105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F114-84EF-18BB-0D42-21C34B7E83E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32BA1C9-A640-B6D4-23F1-B338B39363E3}"/>
              </a:ext>
            </a:extLst>
          </p:cNvPr>
          <p:cNvSpPr>
            <a:spLocks noGrp="1"/>
          </p:cNvSpPr>
          <p:nvPr>
            <p:ph type="title"/>
          </p:nvPr>
        </p:nvSpPr>
        <p:spPr>
          <a:xfrm>
            <a:off x="2231136" y="272876"/>
            <a:ext cx="7729728" cy="1188720"/>
          </a:xfrm>
        </p:spPr>
        <p:txBody>
          <a:bodyPr/>
          <a:lstStyle/>
          <a:p>
            <a:r>
              <a:rPr lang="tr-TR" dirty="0" err="1"/>
              <a:t>Multıtenancy</a:t>
            </a:r>
            <a:r>
              <a:rPr lang="tr-TR" dirty="0"/>
              <a:t> mimarinin dezavantajları</a:t>
            </a:r>
          </a:p>
        </p:txBody>
      </p:sp>
      <p:sp>
        <p:nvSpPr>
          <p:cNvPr id="3" name="İçerik Yer Tutucusu 2">
            <a:extLst>
              <a:ext uri="{FF2B5EF4-FFF2-40B4-BE49-F238E27FC236}">
                <a16:creationId xmlns:a16="http://schemas.microsoft.com/office/drawing/2014/main" id="{2841E61A-3E12-39F6-4BD1-4F80B925466B}"/>
              </a:ext>
            </a:extLst>
          </p:cNvPr>
          <p:cNvSpPr>
            <a:spLocks noGrp="1"/>
          </p:cNvSpPr>
          <p:nvPr>
            <p:ph idx="1"/>
          </p:nvPr>
        </p:nvSpPr>
        <p:spPr>
          <a:xfrm>
            <a:off x="1302057" y="1691519"/>
            <a:ext cx="9587885" cy="4707116"/>
          </a:xfrm>
        </p:spPr>
        <p:txBody>
          <a:bodyPr>
            <a:normAutofit/>
          </a:bodyPr>
          <a:lstStyle/>
          <a:p>
            <a:r>
              <a:rPr lang="tr-TR" b="1" i="0" u="none" strike="noStrike" dirty="0">
                <a:solidFill>
                  <a:srgbClr val="000000"/>
                </a:solidFill>
                <a:effectLst/>
                <a:latin typeface="Gill Sans MT" panose="020B0502020104020203" pitchFamily="34" charset="0"/>
              </a:rPr>
              <a:t>Güvenlik ve Veri Yalıtımı Endişeleri:</a:t>
            </a:r>
            <a:r>
              <a:rPr lang="tr-TR" b="0" i="0" u="none" strike="noStrike" dirty="0">
                <a:solidFill>
                  <a:srgbClr val="000000"/>
                </a:solidFill>
                <a:effectLst/>
                <a:latin typeface="Gill Sans MT" panose="020B0502020104020203" pitchFamily="34" charset="0"/>
              </a:rPr>
              <a:t> Kaynaklar mantıksal olarak ayrılmış olsa da aynı fiziksel sistemde barındığı için, bazı müşteriler </a:t>
            </a:r>
            <a:r>
              <a:rPr lang="tr-TR" i="0" u="none" strike="noStrike" dirty="0">
                <a:solidFill>
                  <a:srgbClr val="000000"/>
                </a:solidFill>
                <a:effectLst/>
                <a:latin typeface="Gill Sans MT" panose="020B0502020104020203" pitchFamily="34" charset="0"/>
              </a:rPr>
              <a:t>verilerini paylaşılan bir ortamda tutmak istemeyebilir</a:t>
            </a:r>
            <a:r>
              <a:rPr lang="tr-TR" b="0" i="0" u="none" strike="noStrike" dirty="0">
                <a:solidFill>
                  <a:srgbClr val="000000"/>
                </a:solidFill>
                <a:effectLst/>
                <a:latin typeface="Gill Sans MT" panose="020B0502020104020203" pitchFamily="34" charset="0"/>
              </a:rPr>
              <a:t>. Özellikle finans, sağlık gibi regülasyonların sıkı olduğu sektörlerde, her ne kadar güvenlik önlemleri güçlü olsa da, ortak altyapıda veri tutmak uyum sorunları çıkarabilir​. Teorik olarak bir müşteride meydana gelen bir güvenlik ihlali veya veri bozulması hatası, aynı makinedeki diğer müşterileri etkileyebilir​ (doğru yapılandırılmış bir sistemde bu son derece nadir olsa da). Bu nedenle yüksek güvenlik gerektiren bazı kurumlar tekil (</a:t>
            </a:r>
            <a:r>
              <a:rPr lang="tr-TR" b="0" i="0" u="none" strike="noStrike" dirty="0" err="1">
                <a:solidFill>
                  <a:srgbClr val="000000"/>
                </a:solidFill>
                <a:effectLst/>
                <a:latin typeface="Gill Sans MT" panose="020B0502020104020203" pitchFamily="34" charset="0"/>
              </a:rPr>
              <a:t>single-tenant</a:t>
            </a:r>
            <a:r>
              <a:rPr lang="tr-TR" b="0" i="0" u="none" strike="noStrike" dirty="0">
                <a:solidFill>
                  <a:srgbClr val="000000"/>
                </a:solidFill>
                <a:effectLst/>
                <a:latin typeface="Gill Sans MT" panose="020B0502020104020203" pitchFamily="34" charset="0"/>
              </a:rPr>
              <a:t>) çözümleri tercih edebilir.</a:t>
            </a:r>
          </a:p>
          <a:p>
            <a:r>
              <a:rPr lang="tr-TR" b="1" i="0" u="none" strike="noStrike" dirty="0">
                <a:solidFill>
                  <a:srgbClr val="000000"/>
                </a:solidFill>
                <a:effectLst/>
                <a:latin typeface="Gill Sans MT" panose="020B0502020104020203" pitchFamily="34" charset="0"/>
              </a:rPr>
              <a:t>“Gürültülü Komşu” Etkisi (Performans):</a:t>
            </a:r>
            <a:r>
              <a:rPr lang="tr-TR" b="0" i="0" u="none" strike="noStrike" dirty="0">
                <a:solidFill>
                  <a:srgbClr val="000000"/>
                </a:solidFill>
                <a:effectLst/>
                <a:latin typeface="Gill Sans MT" panose="020B0502020104020203" pitchFamily="34" charset="0"/>
              </a:rPr>
              <a:t> Aynı fiziksel kaynakları paylaşan müşterilerden biri aşırı kaynak tüketirse (CPU, bellek, I/O), diğer müşterilerin uygulama performansını olumsuz etkileyebilir​. Örneğin bir </a:t>
            </a:r>
            <a:r>
              <a:rPr lang="tr-TR" b="0" i="0" u="none" strike="noStrike" dirty="0" err="1">
                <a:solidFill>
                  <a:srgbClr val="000000"/>
                </a:solidFill>
                <a:effectLst/>
                <a:latin typeface="Gill Sans MT" panose="020B0502020104020203" pitchFamily="34" charset="0"/>
              </a:rPr>
              <a:t>tenant</a:t>
            </a:r>
            <a:r>
              <a:rPr lang="tr-TR" b="0" i="0" u="none" strike="noStrike" dirty="0">
                <a:solidFill>
                  <a:srgbClr val="000000"/>
                </a:solidFill>
                <a:effectLst/>
                <a:latin typeface="Gill Sans MT" panose="020B0502020104020203" pitchFamily="34" charset="0"/>
              </a:rPr>
              <a:t> yoğun bir raporlama çalıştırırken, aynı </a:t>
            </a:r>
            <a:r>
              <a:rPr lang="tr-TR" b="0" i="0" u="none" strike="noStrike" dirty="0" err="1">
                <a:solidFill>
                  <a:srgbClr val="000000"/>
                </a:solidFill>
                <a:effectLst/>
                <a:latin typeface="Gill Sans MT" panose="020B0502020104020203" pitchFamily="34" charset="0"/>
              </a:rPr>
              <a:t>veritabanını</a:t>
            </a:r>
            <a:r>
              <a:rPr lang="tr-TR" b="0" i="0" u="none" strike="noStrike" dirty="0">
                <a:solidFill>
                  <a:srgbClr val="000000"/>
                </a:solidFill>
                <a:effectLst/>
                <a:latin typeface="Gill Sans MT" panose="020B0502020104020203" pitchFamily="34" charset="0"/>
              </a:rPr>
              <a:t> kullanan diğer </a:t>
            </a:r>
            <a:r>
              <a:rPr lang="tr-TR" b="0" i="0" u="none" strike="noStrike" dirty="0" err="1">
                <a:solidFill>
                  <a:srgbClr val="000000"/>
                </a:solidFill>
                <a:effectLst/>
                <a:latin typeface="Gill Sans MT" panose="020B0502020104020203" pitchFamily="34" charset="0"/>
              </a:rPr>
              <a:t>tenantlerin</a:t>
            </a:r>
            <a:r>
              <a:rPr lang="tr-TR" b="0" i="0" u="none" strike="noStrike" dirty="0">
                <a:solidFill>
                  <a:srgbClr val="000000"/>
                </a:solidFill>
                <a:effectLst/>
                <a:latin typeface="Gill Sans MT" panose="020B0502020104020203" pitchFamily="34" charset="0"/>
              </a:rPr>
              <a:t> sorguları yavaşlayabilir. Bulut sağlayıcılar genelde kaynak yönetimiyle bunu minimize etse de tamamen ortadan kaldırmak zordur. Bu etkiye karşı </a:t>
            </a:r>
            <a:r>
              <a:rPr lang="tr-TR" b="1" i="0" u="none" strike="noStrike" dirty="0">
                <a:solidFill>
                  <a:srgbClr val="000000"/>
                </a:solidFill>
                <a:effectLst/>
                <a:latin typeface="Gill Sans MT" panose="020B0502020104020203" pitchFamily="34" charset="0"/>
              </a:rPr>
              <a:t>kaynak kotası</a:t>
            </a:r>
            <a:r>
              <a:rPr lang="tr-TR" b="0" i="0" u="none" strike="noStrike" dirty="0">
                <a:solidFill>
                  <a:srgbClr val="000000"/>
                </a:solidFill>
                <a:effectLst/>
                <a:latin typeface="Gill Sans MT" panose="020B0502020104020203" pitchFamily="34" charset="0"/>
              </a:rPr>
              <a:t> ve otomatik ölçeklendirme gibi önlemler alınmalıdır.</a:t>
            </a:r>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1357047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C72FE-AAD5-A9FB-008A-88DB1C7184E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CBBC64F-C02D-5A0C-4F3C-720CFC047CA9}"/>
              </a:ext>
            </a:extLst>
          </p:cNvPr>
          <p:cNvSpPr>
            <a:spLocks noGrp="1"/>
          </p:cNvSpPr>
          <p:nvPr>
            <p:ph type="title"/>
          </p:nvPr>
        </p:nvSpPr>
        <p:spPr>
          <a:xfrm>
            <a:off x="2231136" y="272876"/>
            <a:ext cx="7729728" cy="1188720"/>
          </a:xfrm>
        </p:spPr>
        <p:txBody>
          <a:bodyPr/>
          <a:lstStyle/>
          <a:p>
            <a:r>
              <a:rPr lang="tr-TR" dirty="0" err="1"/>
              <a:t>Multıtenancy</a:t>
            </a:r>
            <a:r>
              <a:rPr lang="tr-TR" dirty="0"/>
              <a:t> mimarinin dezavantajları</a:t>
            </a:r>
          </a:p>
        </p:txBody>
      </p:sp>
      <p:sp>
        <p:nvSpPr>
          <p:cNvPr id="3" name="İçerik Yer Tutucusu 2">
            <a:extLst>
              <a:ext uri="{FF2B5EF4-FFF2-40B4-BE49-F238E27FC236}">
                <a16:creationId xmlns:a16="http://schemas.microsoft.com/office/drawing/2014/main" id="{9EAFE4C2-0815-67E3-A69C-F4224C082FBB}"/>
              </a:ext>
            </a:extLst>
          </p:cNvPr>
          <p:cNvSpPr>
            <a:spLocks noGrp="1"/>
          </p:cNvSpPr>
          <p:nvPr>
            <p:ph idx="1"/>
          </p:nvPr>
        </p:nvSpPr>
        <p:spPr>
          <a:xfrm>
            <a:off x="1302057" y="1691519"/>
            <a:ext cx="9587885" cy="4707116"/>
          </a:xfrm>
        </p:spPr>
        <p:txBody>
          <a:bodyPr>
            <a:normAutofit/>
          </a:bodyPr>
          <a:lstStyle/>
          <a:p>
            <a:r>
              <a:rPr lang="tr-TR" b="1" i="0" u="none" strike="noStrike" dirty="0">
                <a:solidFill>
                  <a:srgbClr val="000000"/>
                </a:solidFill>
                <a:effectLst/>
                <a:latin typeface="Gill Sans MT" panose="020B0502020104020203" pitchFamily="34" charset="0"/>
              </a:rPr>
              <a:t>Kısıtlı Özelleştirme:</a:t>
            </a:r>
            <a:r>
              <a:rPr lang="tr-TR" b="0" i="0" u="none" strike="noStrike" dirty="0">
                <a:solidFill>
                  <a:srgbClr val="000000"/>
                </a:solidFill>
                <a:effectLst/>
                <a:latin typeface="Gill Sans MT" panose="020B0502020104020203" pitchFamily="34" charset="0"/>
              </a:rPr>
              <a:t> Multi-</a:t>
            </a:r>
            <a:r>
              <a:rPr lang="tr-TR" b="0" i="0" u="none" strike="noStrike" dirty="0" err="1">
                <a:solidFill>
                  <a:srgbClr val="000000"/>
                </a:solidFill>
                <a:effectLst/>
                <a:latin typeface="Gill Sans MT" panose="020B0502020104020203" pitchFamily="34" charset="0"/>
              </a:rPr>
              <a:t>tenant</a:t>
            </a:r>
            <a:r>
              <a:rPr lang="tr-TR" b="0" i="0" u="none" strike="noStrike" dirty="0">
                <a:solidFill>
                  <a:srgbClr val="000000"/>
                </a:solidFill>
                <a:effectLst/>
                <a:latin typeface="Gill Sans MT" panose="020B0502020104020203" pitchFamily="34" charset="0"/>
              </a:rPr>
              <a:t> modelde tüm müşteriler aynı uygulama </a:t>
            </a:r>
            <a:r>
              <a:rPr lang="tr-TR" b="0" i="0" u="none" strike="noStrike" dirty="0" err="1">
                <a:solidFill>
                  <a:srgbClr val="000000"/>
                </a:solidFill>
                <a:effectLst/>
                <a:latin typeface="Gill Sans MT" panose="020B0502020104020203" pitchFamily="34" charset="0"/>
              </a:rPr>
              <a:t>instance’ını</a:t>
            </a:r>
            <a:r>
              <a:rPr lang="tr-TR" b="0" i="0" u="none" strike="noStrike" dirty="0">
                <a:solidFill>
                  <a:srgbClr val="000000"/>
                </a:solidFill>
                <a:effectLst/>
                <a:latin typeface="Gill Sans MT" panose="020B0502020104020203" pitchFamily="34" charset="0"/>
              </a:rPr>
              <a:t> kullandığından, sağlayıcı herkes için ortak bir kod tabanı tutar. Bu da </a:t>
            </a:r>
            <a:r>
              <a:rPr lang="tr-TR" i="0" u="none" strike="noStrike" dirty="0">
                <a:solidFill>
                  <a:srgbClr val="000000"/>
                </a:solidFill>
                <a:effectLst/>
                <a:latin typeface="Gill Sans MT" panose="020B0502020104020203" pitchFamily="34" charset="0"/>
              </a:rPr>
              <a:t>müşteri bazında özel kod değişikliklerine izin vermemek</a:t>
            </a:r>
            <a:r>
              <a:rPr lang="tr-TR" b="0" i="0" u="none" strike="noStrike" dirty="0">
                <a:solidFill>
                  <a:srgbClr val="000000"/>
                </a:solidFill>
                <a:effectLst/>
                <a:latin typeface="Gill Sans MT" panose="020B0502020104020203" pitchFamily="34" charset="0"/>
              </a:rPr>
              <a:t> anlamına gelir​. Özelleştirme ancak konfigürasyonla sınırlıdır (tema, ayar </a:t>
            </a:r>
            <a:r>
              <a:rPr lang="tr-TR" b="0" i="0" u="none" strike="noStrike" dirty="0" err="1">
                <a:solidFill>
                  <a:srgbClr val="000000"/>
                </a:solidFill>
                <a:effectLst/>
                <a:latin typeface="Gill Sans MT" panose="020B0502020104020203" pitchFamily="34" charset="0"/>
              </a:rPr>
              <a:t>vs</a:t>
            </a:r>
            <a:r>
              <a:rPr lang="tr-TR" b="0" i="0" u="none" strike="noStrike" dirty="0">
                <a:solidFill>
                  <a:srgbClr val="000000"/>
                </a:solidFill>
                <a:effectLst/>
                <a:latin typeface="Gill Sans MT" panose="020B0502020104020203" pitchFamily="34" charset="0"/>
              </a:rPr>
              <a:t>), altyapı veya veri tabanı şemasında müşteri özelinde değişiklik yapmak mümkün olmayabilir. </a:t>
            </a:r>
            <a:r>
              <a:rPr lang="tr-TR" b="0" i="0" u="none" strike="noStrike" dirty="0" err="1">
                <a:solidFill>
                  <a:srgbClr val="000000"/>
                </a:solidFill>
                <a:effectLst/>
                <a:latin typeface="Gill Sans MT" panose="020B0502020104020203" pitchFamily="34" charset="0"/>
              </a:rPr>
              <a:t>Single-tenant</a:t>
            </a:r>
            <a:r>
              <a:rPr lang="tr-TR" b="0" i="0" u="none" strike="noStrike" dirty="0">
                <a:solidFill>
                  <a:srgbClr val="000000"/>
                </a:solidFill>
                <a:effectLst/>
                <a:latin typeface="Gill Sans MT" panose="020B0502020104020203" pitchFamily="34" charset="0"/>
              </a:rPr>
              <a:t> modelde müşteriye özel değişiklikler kolayken,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modelde bir değişiklik tüm müşterilere uygulanacağından, esneklik azalır.</a:t>
            </a:r>
          </a:p>
          <a:p>
            <a:r>
              <a:rPr lang="tr-TR" b="1" i="0" u="none" strike="noStrike" dirty="0">
                <a:solidFill>
                  <a:srgbClr val="000000"/>
                </a:solidFill>
                <a:effectLst/>
                <a:latin typeface="Gill Sans MT" panose="020B0502020104020203" pitchFamily="34" charset="0"/>
              </a:rPr>
              <a:t>Karmaşıklık ve Geliştirme Yükü:</a:t>
            </a:r>
            <a:r>
              <a:rPr lang="tr-TR" b="0" i="0" u="none" strike="noStrike" dirty="0">
                <a:solidFill>
                  <a:srgbClr val="000000"/>
                </a:solidFill>
                <a:effectLst/>
                <a:latin typeface="Gill Sans MT" panose="020B0502020104020203" pitchFamily="34" charset="0"/>
              </a:rPr>
              <a:t> Multi-</a:t>
            </a:r>
            <a:r>
              <a:rPr lang="tr-TR" b="0" i="0" u="none" strike="noStrike" dirty="0" err="1">
                <a:solidFill>
                  <a:srgbClr val="000000"/>
                </a:solidFill>
                <a:effectLst/>
                <a:latin typeface="Gill Sans MT" panose="020B0502020104020203" pitchFamily="34" charset="0"/>
              </a:rPr>
              <a:t>tenant</a:t>
            </a:r>
            <a:r>
              <a:rPr lang="tr-TR" b="0" i="0" u="none" strike="noStrike" dirty="0">
                <a:solidFill>
                  <a:srgbClr val="000000"/>
                </a:solidFill>
                <a:effectLst/>
                <a:latin typeface="Gill Sans MT" panose="020B0502020104020203" pitchFamily="34" charset="0"/>
              </a:rPr>
              <a:t> uygulama geliştirmek, </a:t>
            </a:r>
            <a:r>
              <a:rPr lang="tr-TR" b="0" i="0" u="none" strike="noStrike" dirty="0" err="1">
                <a:solidFill>
                  <a:srgbClr val="000000"/>
                </a:solidFill>
                <a:effectLst/>
                <a:latin typeface="Gill Sans MT" panose="020B0502020104020203" pitchFamily="34" charset="0"/>
              </a:rPr>
              <a:t>single-tenant’a</a:t>
            </a:r>
            <a:r>
              <a:rPr lang="tr-TR" b="0" i="0" u="none" strike="noStrike" dirty="0">
                <a:solidFill>
                  <a:srgbClr val="000000"/>
                </a:solidFill>
                <a:effectLst/>
                <a:latin typeface="Gill Sans MT" panose="020B0502020104020203" pitchFamily="34" charset="0"/>
              </a:rPr>
              <a:t> göre daha karmaşıktır. </a:t>
            </a:r>
            <a:r>
              <a:rPr lang="tr-TR" i="0" u="none" strike="noStrike" dirty="0">
                <a:solidFill>
                  <a:srgbClr val="000000"/>
                </a:solidFill>
                <a:effectLst/>
                <a:latin typeface="Gill Sans MT" panose="020B0502020104020203" pitchFamily="34" charset="0"/>
              </a:rPr>
              <a:t>Her seviyede “</a:t>
            </a:r>
            <a:r>
              <a:rPr lang="tr-TR" i="0" u="none" strike="noStrike" dirty="0" err="1">
                <a:solidFill>
                  <a:srgbClr val="000000"/>
                </a:solidFill>
                <a:effectLst/>
                <a:latin typeface="Gill Sans MT" panose="020B0502020104020203" pitchFamily="34" charset="0"/>
              </a:rPr>
              <a:t>tenant</a:t>
            </a:r>
            <a:r>
              <a:rPr lang="tr-TR" i="0" u="none" strike="noStrike" dirty="0">
                <a:solidFill>
                  <a:srgbClr val="000000"/>
                </a:solidFill>
                <a:effectLst/>
                <a:latin typeface="Gill Sans MT" panose="020B0502020104020203" pitchFamily="34" charset="0"/>
              </a:rPr>
              <a:t>” kavramını dikkate almak gerekir; </a:t>
            </a:r>
            <a:r>
              <a:rPr lang="tr-TR" b="0" i="0" u="none" strike="noStrike" dirty="0" err="1">
                <a:solidFill>
                  <a:srgbClr val="000000"/>
                </a:solidFill>
                <a:effectLst/>
                <a:latin typeface="Gill Sans MT" panose="020B0502020104020203" pitchFamily="34" charset="0"/>
              </a:rPr>
              <a:t>Veritabanı</a:t>
            </a:r>
            <a:r>
              <a:rPr lang="tr-TR" b="0" i="0" u="none" strike="noStrike" dirty="0">
                <a:solidFill>
                  <a:srgbClr val="000000"/>
                </a:solidFill>
                <a:effectLst/>
                <a:latin typeface="Gill Sans MT" panose="020B0502020104020203" pitchFamily="34" charset="0"/>
              </a:rPr>
              <a:t> sorgularından önbelleğe, kimlik doğrulamadan yetkilendirmeye kadar her işlemde hangi müşteri için yapıldığı ayırt edilmelidir. Geliştiricilerin, bir müşteriye ait verinin asla başka bir müşteriye gösterilmemesini garanti eden mantığı hatasız kurması gerekir. Bu ek karmaşıklık, geliştirme ve test sürecine yük bindirir.</a:t>
            </a:r>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2268825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6FFE3-B539-9D82-A52E-B3F524CED8D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2CC0F40-98F2-D5AE-EC11-54E4196C324E}"/>
              </a:ext>
            </a:extLst>
          </p:cNvPr>
          <p:cNvSpPr>
            <a:spLocks noGrp="1"/>
          </p:cNvSpPr>
          <p:nvPr>
            <p:ph type="title"/>
          </p:nvPr>
        </p:nvSpPr>
        <p:spPr>
          <a:xfrm>
            <a:off x="2231136" y="272876"/>
            <a:ext cx="7729728" cy="1188720"/>
          </a:xfrm>
        </p:spPr>
        <p:txBody>
          <a:bodyPr/>
          <a:lstStyle/>
          <a:p>
            <a:r>
              <a:rPr lang="tr-TR" dirty="0" err="1"/>
              <a:t>Multıtenancy</a:t>
            </a:r>
            <a:r>
              <a:rPr lang="tr-TR" dirty="0"/>
              <a:t> mimarinin dezavantajları</a:t>
            </a:r>
          </a:p>
        </p:txBody>
      </p:sp>
      <p:sp>
        <p:nvSpPr>
          <p:cNvPr id="3" name="İçerik Yer Tutucusu 2">
            <a:extLst>
              <a:ext uri="{FF2B5EF4-FFF2-40B4-BE49-F238E27FC236}">
                <a16:creationId xmlns:a16="http://schemas.microsoft.com/office/drawing/2014/main" id="{EF513A3E-6E98-E906-2708-ED424763499C}"/>
              </a:ext>
            </a:extLst>
          </p:cNvPr>
          <p:cNvSpPr>
            <a:spLocks noGrp="1"/>
          </p:cNvSpPr>
          <p:nvPr>
            <p:ph idx="1"/>
          </p:nvPr>
        </p:nvSpPr>
        <p:spPr>
          <a:xfrm>
            <a:off x="1302057" y="1691519"/>
            <a:ext cx="9587885" cy="4707116"/>
          </a:xfrm>
        </p:spPr>
        <p:txBody>
          <a:bodyPr>
            <a:normAutofit/>
          </a:bodyPr>
          <a:lstStyle/>
          <a:p>
            <a:r>
              <a:rPr lang="tr-TR" b="1" i="0" u="none" strike="noStrike" dirty="0">
                <a:solidFill>
                  <a:srgbClr val="000000"/>
                </a:solidFill>
                <a:effectLst/>
                <a:latin typeface="Gill Sans MT" panose="020B0502020104020203" pitchFamily="34" charset="0"/>
              </a:rPr>
              <a:t>Maliyet ve Kaynak Dağılımının Görünmezliği:</a:t>
            </a:r>
            <a:r>
              <a:rPr lang="tr-TR" b="0" i="0" u="none" strike="noStrike" dirty="0">
                <a:solidFill>
                  <a:srgbClr val="000000"/>
                </a:solidFill>
                <a:effectLst/>
                <a:latin typeface="Gill Sans MT" panose="020B0502020104020203" pitchFamily="34" charset="0"/>
              </a:rPr>
              <a:t> Tüm müşteriler tek altyapıyı paylaştığından, </a:t>
            </a:r>
            <a:r>
              <a:rPr lang="tr-TR" i="0" u="none" strike="noStrike" dirty="0">
                <a:solidFill>
                  <a:srgbClr val="000000"/>
                </a:solidFill>
                <a:effectLst/>
                <a:latin typeface="Gill Sans MT" panose="020B0502020104020203" pitchFamily="34" charset="0"/>
              </a:rPr>
              <a:t>müşteri başına maliyet analizi </a:t>
            </a:r>
            <a:r>
              <a:rPr lang="tr-TR" b="0" i="0" u="none" strike="noStrike" dirty="0">
                <a:solidFill>
                  <a:srgbClr val="000000"/>
                </a:solidFill>
                <a:effectLst/>
                <a:latin typeface="Gill Sans MT" panose="020B0502020104020203" pitchFamily="34" charset="0"/>
              </a:rPr>
              <a:t>zorlaşabilir​. Örneğin tek bir büyük </a:t>
            </a:r>
            <a:r>
              <a:rPr lang="tr-TR" b="0" i="0" u="none" strike="noStrike" dirty="0" err="1">
                <a:solidFill>
                  <a:srgbClr val="000000"/>
                </a:solidFill>
                <a:effectLst/>
                <a:latin typeface="Gill Sans MT" panose="020B0502020104020203" pitchFamily="34" charset="0"/>
              </a:rPr>
              <a:t>veritabanı</a:t>
            </a:r>
            <a:r>
              <a:rPr lang="tr-TR" b="0" i="0" u="none" strike="noStrike" dirty="0">
                <a:solidFill>
                  <a:srgbClr val="000000"/>
                </a:solidFill>
                <a:effectLst/>
                <a:latin typeface="Gill Sans MT" panose="020B0502020104020203" pitchFamily="34" charset="0"/>
              </a:rPr>
              <a:t> ve sunucu havuzunda her müşteri tarafından tüketilen kaynak ayrı ayrı ölçülmezse, hangi müşterinin daha fazla maliyet oluşturduğunu ayırt etmek güç olabilir. Bu da fiyatlandırma stratejilerini planlamayı zorlaştırabilir (bu problemi çözmek için gelişmiş metrik izleme ve faturalama araçları kullanılır).</a:t>
            </a:r>
          </a:p>
          <a:p>
            <a:r>
              <a:rPr lang="tr-TR" b="1" i="0" u="none" strike="noStrike" dirty="0">
                <a:solidFill>
                  <a:srgbClr val="000000"/>
                </a:solidFill>
                <a:effectLst/>
                <a:latin typeface="Gill Sans MT" panose="020B0502020104020203" pitchFamily="34" charset="0"/>
              </a:rPr>
              <a:t>Bağımlılık ve Kontrol Kaybı:</a:t>
            </a:r>
            <a:r>
              <a:rPr lang="tr-TR" b="0" i="0" u="none" strike="noStrike" dirty="0">
                <a:solidFill>
                  <a:srgbClr val="000000"/>
                </a:solidFill>
                <a:effectLst/>
                <a:latin typeface="Gill Sans MT" panose="020B0502020104020203" pitchFamily="34" charset="0"/>
              </a:rPr>
              <a:t> Altyapı tamamen sağlayıcı kontrolünde olduğundan, müşteriler bazı konularda esnekliklerini yitirir. Örneğin, belirli bir zamanda güncelleme almak istemeyen bir müşteri,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a:t>
            </a:r>
            <a:r>
              <a:rPr lang="tr-TR" b="0" i="0" u="none" strike="noStrike" dirty="0" err="1">
                <a:solidFill>
                  <a:srgbClr val="000000"/>
                </a:solidFill>
                <a:effectLst/>
                <a:latin typeface="Gill Sans MT" panose="020B0502020104020203" pitchFamily="34" charset="0"/>
              </a:rPr>
              <a:t>SaaS’ta</a:t>
            </a:r>
            <a:r>
              <a:rPr lang="tr-TR" b="0" i="0" u="none" strike="noStrike" dirty="0">
                <a:solidFill>
                  <a:srgbClr val="000000"/>
                </a:solidFill>
                <a:effectLst/>
                <a:latin typeface="Gill Sans MT" panose="020B0502020104020203" pitchFamily="34" charset="0"/>
              </a:rPr>
              <a:t> sağlayıcı güncelleme yaparsa mecburen alır. Veya altyapı kesintisi yaşanırsa tüm müşteriler etkilenir. </a:t>
            </a:r>
            <a:r>
              <a:rPr lang="tr-TR" b="0" i="0" u="none" strike="noStrike" dirty="0" err="1">
                <a:solidFill>
                  <a:srgbClr val="000000"/>
                </a:solidFill>
                <a:effectLst/>
                <a:latin typeface="Gill Sans MT" panose="020B0502020104020203" pitchFamily="34" charset="0"/>
              </a:rPr>
              <a:t>Single-tenant</a:t>
            </a:r>
            <a:r>
              <a:rPr lang="tr-TR" b="0" i="0" u="none" strike="noStrike" dirty="0">
                <a:solidFill>
                  <a:srgbClr val="000000"/>
                </a:solidFill>
                <a:effectLst/>
                <a:latin typeface="Gill Sans MT" panose="020B0502020104020203" pitchFamily="34" charset="0"/>
              </a:rPr>
              <a:t> modelde müşteri kendi zamanlamasını kontrol edebilirken (örneğin kendi sunucusunu istediğinde kapatıp açabilirken),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modelde merkezi planlamaya tabi olunur.</a:t>
            </a:r>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1537976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27D17-44F6-24BD-E64D-890BB2799A8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4925B15-568A-EC01-5EAE-64F6C895E0BD}"/>
              </a:ext>
            </a:extLst>
          </p:cNvPr>
          <p:cNvSpPr>
            <a:spLocks noGrp="1"/>
          </p:cNvSpPr>
          <p:nvPr>
            <p:ph type="title"/>
          </p:nvPr>
        </p:nvSpPr>
        <p:spPr>
          <a:xfrm>
            <a:off x="2231136" y="272876"/>
            <a:ext cx="7729728" cy="1188720"/>
          </a:xfrm>
        </p:spPr>
        <p:txBody>
          <a:bodyPr/>
          <a:lstStyle/>
          <a:p>
            <a:r>
              <a:rPr lang="tr-TR" dirty="0" err="1"/>
              <a:t>Multıtenancy</a:t>
            </a:r>
            <a:r>
              <a:rPr lang="tr-TR" dirty="0"/>
              <a:t> mimari uygulama yöntemleri</a:t>
            </a:r>
          </a:p>
        </p:txBody>
      </p:sp>
      <p:sp>
        <p:nvSpPr>
          <p:cNvPr id="3" name="İçerik Yer Tutucusu 2">
            <a:extLst>
              <a:ext uri="{FF2B5EF4-FFF2-40B4-BE49-F238E27FC236}">
                <a16:creationId xmlns:a16="http://schemas.microsoft.com/office/drawing/2014/main" id="{EB276F48-C665-0423-34D0-085DCFB82582}"/>
              </a:ext>
            </a:extLst>
          </p:cNvPr>
          <p:cNvSpPr>
            <a:spLocks noGrp="1"/>
          </p:cNvSpPr>
          <p:nvPr>
            <p:ph idx="1"/>
          </p:nvPr>
        </p:nvSpPr>
        <p:spPr>
          <a:xfrm>
            <a:off x="1302057" y="1691519"/>
            <a:ext cx="9587885" cy="4707116"/>
          </a:xfrm>
        </p:spPr>
        <p:txBody>
          <a:bodyPr>
            <a:normAutofit/>
          </a:bodyPr>
          <a:lstStyle/>
          <a:p>
            <a:r>
              <a:rPr lang="tr-TR" b="1" i="0" u="none" strike="noStrike" dirty="0">
                <a:solidFill>
                  <a:srgbClr val="000000"/>
                </a:solidFill>
                <a:effectLst/>
                <a:latin typeface="Gill Sans MT" panose="020B0502020104020203" pitchFamily="34" charset="0"/>
              </a:rPr>
              <a:t>Tam Multi-</a:t>
            </a:r>
            <a:r>
              <a:rPr lang="tr-TR" b="1" i="0" u="none" strike="noStrike" dirty="0" err="1">
                <a:solidFill>
                  <a:srgbClr val="000000"/>
                </a:solidFill>
                <a:effectLst/>
                <a:latin typeface="Gill Sans MT" panose="020B0502020104020203" pitchFamily="34" charset="0"/>
              </a:rPr>
              <a:t>Tenant</a:t>
            </a:r>
            <a:r>
              <a:rPr lang="tr-TR" b="1" i="0" u="none" strike="noStrike" dirty="0">
                <a:solidFill>
                  <a:srgbClr val="000000"/>
                </a:solidFill>
                <a:effectLst/>
                <a:latin typeface="Gill Sans MT" panose="020B0502020104020203" pitchFamily="34" charset="0"/>
              </a:rPr>
              <a:t> vs. </a:t>
            </a:r>
            <a:r>
              <a:rPr lang="tr-TR" b="1" i="0" u="none" strike="noStrike" dirty="0" err="1">
                <a:solidFill>
                  <a:srgbClr val="000000"/>
                </a:solidFill>
                <a:effectLst/>
                <a:latin typeface="Gill Sans MT" panose="020B0502020104020203" pitchFamily="34" charset="0"/>
              </a:rPr>
              <a:t>Hybrid</a:t>
            </a:r>
            <a:r>
              <a:rPr lang="tr-TR" b="1" i="0" u="none" strike="noStrike" dirty="0">
                <a:solidFill>
                  <a:srgbClr val="000000"/>
                </a:solidFill>
                <a:effectLst/>
                <a:latin typeface="Gill Sans MT" panose="020B0502020104020203" pitchFamily="34" charset="0"/>
              </a:rPr>
              <a:t> Yaklaşım:</a:t>
            </a:r>
            <a:r>
              <a:rPr lang="tr-TR" b="0" i="0" u="none" strike="noStrike" dirty="0">
                <a:solidFill>
                  <a:srgbClr val="000000"/>
                </a:solidFill>
                <a:effectLst/>
                <a:latin typeface="Gill Sans MT" panose="020B0502020104020203" pitchFamily="34" charset="0"/>
              </a:rPr>
              <a:t> Uygulama mimarisinde her bileşeni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yapmak zorunlu değildir. </a:t>
            </a:r>
            <a:r>
              <a:rPr lang="tr-TR" b="0" dirty="0" err="1">
                <a:solidFill>
                  <a:srgbClr val="000000"/>
                </a:solidFill>
                <a:latin typeface="Gill Sans MT" panose="020B0502020104020203" pitchFamily="34" charset="0"/>
              </a:rPr>
              <a:t>H</a:t>
            </a:r>
            <a:r>
              <a:rPr lang="tr-TR" i="0" u="none" strike="noStrike" dirty="0" err="1">
                <a:solidFill>
                  <a:srgbClr val="000000"/>
                </a:solidFill>
                <a:effectLst/>
                <a:latin typeface="Gill Sans MT" panose="020B0502020104020203" pitchFamily="34" charset="0"/>
              </a:rPr>
              <a:t>ybrid-tenancy</a:t>
            </a:r>
            <a:r>
              <a:rPr lang="tr-TR" b="0" i="0" u="none" strike="noStrike" dirty="0">
                <a:solidFill>
                  <a:srgbClr val="000000"/>
                </a:solidFill>
                <a:effectLst/>
                <a:latin typeface="Gill Sans MT" panose="020B0502020104020203" pitchFamily="34" charset="0"/>
              </a:rPr>
              <a:t>, sistemin bazı servislerinin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bazılarının ise </a:t>
            </a:r>
            <a:r>
              <a:rPr lang="tr-TR" b="0" i="0" u="none" strike="noStrike" dirty="0" err="1">
                <a:solidFill>
                  <a:srgbClr val="000000"/>
                </a:solidFill>
                <a:effectLst/>
                <a:latin typeface="Gill Sans MT" panose="020B0502020104020203" pitchFamily="34" charset="0"/>
              </a:rPr>
              <a:t>single-tenant</a:t>
            </a:r>
            <a:r>
              <a:rPr lang="tr-TR" b="0" i="0" u="none" strike="noStrike" dirty="0">
                <a:solidFill>
                  <a:srgbClr val="000000"/>
                </a:solidFill>
                <a:effectLst/>
                <a:latin typeface="Gill Sans MT" panose="020B0502020104020203" pitchFamily="34" charset="0"/>
              </a:rPr>
              <a:t> olarak ayrık çalıştırılmasıdır​. Modern </a:t>
            </a:r>
            <a:r>
              <a:rPr lang="tr-TR" b="0" i="0" u="none" strike="noStrike" dirty="0" err="1">
                <a:solidFill>
                  <a:srgbClr val="000000"/>
                </a:solidFill>
                <a:effectLst/>
                <a:latin typeface="Gill Sans MT" panose="020B0502020104020203" pitchFamily="34" charset="0"/>
              </a:rPr>
              <a:t>mikroservis</a:t>
            </a:r>
            <a:r>
              <a:rPr lang="tr-TR" b="0" i="0" u="none" strike="noStrike" dirty="0">
                <a:solidFill>
                  <a:srgbClr val="000000"/>
                </a:solidFill>
                <a:effectLst/>
                <a:latin typeface="Gill Sans MT" panose="020B0502020104020203" pitchFamily="34" charset="0"/>
              </a:rPr>
              <a:t> mimarileri sayesinde, her servisin farklı </a:t>
            </a:r>
            <a:r>
              <a:rPr lang="tr-TR" b="0" i="0" u="none" strike="noStrike" dirty="0" err="1">
                <a:solidFill>
                  <a:srgbClr val="000000"/>
                </a:solidFill>
                <a:effectLst/>
                <a:latin typeface="Gill Sans MT" panose="020B0502020104020203" pitchFamily="34" charset="0"/>
              </a:rPr>
              <a:t>tenancy</a:t>
            </a:r>
            <a:r>
              <a:rPr lang="tr-TR" b="0" i="0" u="none" strike="noStrike" dirty="0">
                <a:solidFill>
                  <a:srgbClr val="000000"/>
                </a:solidFill>
                <a:effectLst/>
                <a:latin typeface="Gill Sans MT" panose="020B0502020104020203" pitchFamily="34" charset="0"/>
              </a:rPr>
              <a:t> modelinde çalışması mümkündür. Örneğin bir uygulamanın kullanıcı yönetimi servisi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(tüm müşteriler tek servisi kullanıyor) olabilir, ama raporlama servisi aşırı yük oluşturuyorsa her müşteri için ayrı bir raporlama servisi </a:t>
            </a:r>
            <a:r>
              <a:rPr lang="tr-TR" b="0" i="0" u="none" strike="noStrike" dirty="0" err="1">
                <a:solidFill>
                  <a:srgbClr val="000000"/>
                </a:solidFill>
                <a:effectLst/>
                <a:latin typeface="Gill Sans MT" panose="020B0502020104020203" pitchFamily="34" charset="0"/>
              </a:rPr>
              <a:t>instance’ı</a:t>
            </a:r>
            <a:r>
              <a:rPr lang="tr-TR" b="0" i="0" u="none" strike="noStrike" dirty="0">
                <a:solidFill>
                  <a:srgbClr val="000000"/>
                </a:solidFill>
                <a:effectLst/>
                <a:latin typeface="Gill Sans MT" panose="020B0502020104020203" pitchFamily="34" charset="0"/>
              </a:rPr>
              <a:t> çalıştırılabilir (</a:t>
            </a:r>
            <a:r>
              <a:rPr lang="tr-TR" b="0" i="0" u="none" strike="noStrike" dirty="0" err="1">
                <a:solidFill>
                  <a:srgbClr val="000000"/>
                </a:solidFill>
                <a:effectLst/>
                <a:latin typeface="Gill Sans MT" panose="020B0502020104020203" pitchFamily="34" charset="0"/>
              </a:rPr>
              <a:t>single-tenant</a:t>
            </a:r>
            <a:r>
              <a:rPr lang="tr-TR" b="0" i="0" u="none" strike="noStrike" dirty="0">
                <a:solidFill>
                  <a:srgbClr val="000000"/>
                </a:solidFill>
                <a:effectLst/>
                <a:latin typeface="Gill Sans MT" panose="020B0502020104020203" pitchFamily="34" charset="0"/>
              </a:rPr>
              <a:t> servis). </a:t>
            </a:r>
            <a:r>
              <a:rPr lang="tr-TR" i="0" u="none" strike="noStrike" dirty="0" err="1">
                <a:solidFill>
                  <a:srgbClr val="000000"/>
                </a:solidFill>
                <a:effectLst/>
                <a:latin typeface="Gill Sans MT" panose="020B0502020104020203" pitchFamily="34" charset="0"/>
              </a:rPr>
              <a:t>Mikroservis</a:t>
            </a:r>
            <a:r>
              <a:rPr lang="tr-TR" i="0" u="none" strike="noStrike" dirty="0">
                <a:solidFill>
                  <a:srgbClr val="000000"/>
                </a:solidFill>
                <a:effectLst/>
                <a:latin typeface="Gill Sans MT" panose="020B0502020104020203" pitchFamily="34" charset="0"/>
              </a:rPr>
              <a:t> mimarisi</a:t>
            </a:r>
            <a:r>
              <a:rPr lang="tr-TR" b="0" i="0" u="none" strike="noStrike" dirty="0">
                <a:solidFill>
                  <a:srgbClr val="000000"/>
                </a:solidFill>
                <a:effectLst/>
                <a:latin typeface="Gill Sans MT" panose="020B0502020104020203" pitchFamily="34" charset="0"/>
              </a:rPr>
              <a:t>, farklı servisler için farklı tercih yapma esnekliği sunar​.</a:t>
            </a:r>
          </a:p>
          <a:p>
            <a:r>
              <a:rPr lang="tr-TR" b="1" dirty="0" err="1">
                <a:latin typeface="Gill Sans MT" panose="020B0502020104020203" pitchFamily="34" charset="0"/>
              </a:rPr>
              <a:t>Hibrit</a:t>
            </a:r>
            <a:r>
              <a:rPr lang="tr-TR" b="1" dirty="0">
                <a:latin typeface="Gill Sans MT" panose="020B0502020104020203" pitchFamily="34" charset="0"/>
              </a:rPr>
              <a:t> Model Örnekleri:</a:t>
            </a:r>
            <a:r>
              <a:rPr lang="tr-TR" dirty="0">
                <a:latin typeface="Gill Sans MT" panose="020B0502020104020203" pitchFamily="34" charset="0"/>
              </a:rPr>
              <a:t> Güvenlik veya performans gerekçeleriyle </a:t>
            </a:r>
            <a:r>
              <a:rPr lang="tr-TR" dirty="0" err="1">
                <a:latin typeface="Gill Sans MT" panose="020B0502020104020203" pitchFamily="34" charset="0"/>
              </a:rPr>
              <a:t>hibrit</a:t>
            </a:r>
            <a:r>
              <a:rPr lang="tr-TR" dirty="0">
                <a:latin typeface="Gill Sans MT" panose="020B0502020104020203" pitchFamily="34" charset="0"/>
              </a:rPr>
              <a:t> yaklaşım uygulanabilir. Örneğin, kritik ve hassas veri işleyen bir servis (ödeme işlemleri gibi) her müşteri için ayrı bir </a:t>
            </a:r>
            <a:r>
              <a:rPr lang="tr-TR" dirty="0" err="1">
                <a:latin typeface="Gill Sans MT" panose="020B0502020104020203" pitchFamily="34" charset="0"/>
              </a:rPr>
              <a:t>instance</a:t>
            </a:r>
            <a:r>
              <a:rPr lang="tr-TR" dirty="0">
                <a:latin typeface="Gill Sans MT" panose="020B0502020104020203" pitchFamily="34" charset="0"/>
              </a:rPr>
              <a:t> olarak çalıştırılırken, daha genel bir servis (örneğin ürün kataloğu) tüm müşterilere ortak sunulabilir. </a:t>
            </a:r>
            <a:br>
              <a:rPr lang="tr-TR" dirty="0"/>
            </a:br>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4262994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5BC7-54B2-623C-6038-585B00FE58C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23116EB-F682-C2AC-C2D6-29B0724724EC}"/>
              </a:ext>
            </a:extLst>
          </p:cNvPr>
          <p:cNvSpPr>
            <a:spLocks noGrp="1"/>
          </p:cNvSpPr>
          <p:nvPr>
            <p:ph type="title"/>
          </p:nvPr>
        </p:nvSpPr>
        <p:spPr>
          <a:xfrm>
            <a:off x="2231136" y="272876"/>
            <a:ext cx="7729728" cy="1188720"/>
          </a:xfrm>
        </p:spPr>
        <p:txBody>
          <a:bodyPr/>
          <a:lstStyle/>
          <a:p>
            <a:r>
              <a:rPr lang="tr-TR" dirty="0" err="1"/>
              <a:t>Multıtenancy</a:t>
            </a:r>
            <a:r>
              <a:rPr lang="tr-TR" dirty="0"/>
              <a:t> mimari </a:t>
            </a:r>
            <a:r>
              <a:rPr lang="tr-TR" dirty="0" err="1"/>
              <a:t>veritabanı</a:t>
            </a:r>
            <a:r>
              <a:rPr lang="tr-TR" dirty="0"/>
              <a:t> stratejileri</a:t>
            </a:r>
          </a:p>
        </p:txBody>
      </p:sp>
      <p:sp>
        <p:nvSpPr>
          <p:cNvPr id="3" name="İçerik Yer Tutucusu 2">
            <a:extLst>
              <a:ext uri="{FF2B5EF4-FFF2-40B4-BE49-F238E27FC236}">
                <a16:creationId xmlns:a16="http://schemas.microsoft.com/office/drawing/2014/main" id="{84965B8A-C07E-81C6-DBD3-8AB9E583E7A0}"/>
              </a:ext>
            </a:extLst>
          </p:cNvPr>
          <p:cNvSpPr>
            <a:spLocks noGrp="1"/>
          </p:cNvSpPr>
          <p:nvPr>
            <p:ph idx="1"/>
          </p:nvPr>
        </p:nvSpPr>
        <p:spPr>
          <a:xfrm>
            <a:off x="4522510" y="1793787"/>
            <a:ext cx="3146980" cy="2838371"/>
          </a:xfrm>
        </p:spPr>
        <p:txBody>
          <a:bodyPr>
            <a:normAutofit/>
          </a:bodyPr>
          <a:lstStyle/>
          <a:p>
            <a:r>
              <a:rPr lang="tr-TR" dirty="0"/>
              <a:t>3 farklı strateji vardır:</a:t>
            </a:r>
          </a:p>
          <a:p>
            <a:pPr lvl="1"/>
            <a:r>
              <a:rPr lang="tr-TR" b="0" i="0" u="none" strike="noStrike" dirty="0">
                <a:solidFill>
                  <a:srgbClr val="000000"/>
                </a:solidFill>
                <a:effectLst/>
                <a:latin typeface="-webkit-standard"/>
              </a:rPr>
              <a:t>Database </a:t>
            </a:r>
            <a:r>
              <a:rPr lang="tr-TR" b="0" i="0" u="none" strike="noStrike" dirty="0" err="1">
                <a:solidFill>
                  <a:srgbClr val="000000"/>
                </a:solidFill>
                <a:effectLst/>
                <a:latin typeface="-webkit-standard"/>
              </a:rPr>
              <a:t>per</a:t>
            </a:r>
            <a:r>
              <a:rPr lang="tr-TR" b="0" i="0" u="none" strike="noStrike" dirty="0">
                <a:solidFill>
                  <a:srgbClr val="000000"/>
                </a:solidFill>
                <a:effectLst/>
                <a:latin typeface="-webkit-standard"/>
              </a:rPr>
              <a:t> </a:t>
            </a:r>
            <a:r>
              <a:rPr lang="tr-TR" b="0" i="0" u="none" strike="noStrike" dirty="0" err="1">
                <a:solidFill>
                  <a:srgbClr val="000000"/>
                </a:solidFill>
                <a:effectLst/>
                <a:latin typeface="-webkit-standard"/>
              </a:rPr>
              <a:t>Tenant</a:t>
            </a:r>
            <a:endParaRPr lang="tr-TR" b="0" i="0" u="none" strike="noStrike" dirty="0">
              <a:solidFill>
                <a:srgbClr val="000000"/>
              </a:solidFill>
              <a:effectLst/>
              <a:latin typeface="-webkit-standard"/>
            </a:endParaRPr>
          </a:p>
          <a:p>
            <a:pPr lvl="1"/>
            <a:r>
              <a:rPr lang="tr-TR" b="0" i="0" u="none" strike="noStrike" dirty="0" err="1">
                <a:solidFill>
                  <a:srgbClr val="000000"/>
                </a:solidFill>
                <a:effectLst/>
                <a:latin typeface="-webkit-standard"/>
              </a:rPr>
              <a:t>Schema</a:t>
            </a:r>
            <a:r>
              <a:rPr lang="tr-TR" b="0" i="0" u="none" strike="noStrike" dirty="0">
                <a:solidFill>
                  <a:srgbClr val="000000"/>
                </a:solidFill>
                <a:effectLst/>
                <a:latin typeface="-webkit-standard"/>
              </a:rPr>
              <a:t> </a:t>
            </a:r>
            <a:r>
              <a:rPr lang="tr-TR" b="0" i="0" u="none" strike="noStrike" dirty="0" err="1">
                <a:solidFill>
                  <a:srgbClr val="000000"/>
                </a:solidFill>
                <a:effectLst/>
                <a:latin typeface="-webkit-standard"/>
              </a:rPr>
              <a:t>per</a:t>
            </a:r>
            <a:r>
              <a:rPr lang="tr-TR" b="0" i="0" u="none" strike="noStrike" dirty="0">
                <a:solidFill>
                  <a:srgbClr val="000000"/>
                </a:solidFill>
                <a:effectLst/>
                <a:latin typeface="-webkit-standard"/>
              </a:rPr>
              <a:t> </a:t>
            </a:r>
            <a:r>
              <a:rPr lang="tr-TR" b="0" i="0" u="none" strike="noStrike" dirty="0" err="1">
                <a:solidFill>
                  <a:srgbClr val="000000"/>
                </a:solidFill>
                <a:effectLst/>
                <a:latin typeface="-webkit-standard"/>
              </a:rPr>
              <a:t>Tenant</a:t>
            </a:r>
            <a:endParaRPr lang="tr-TR" b="0" i="0" u="none" strike="noStrike" dirty="0">
              <a:solidFill>
                <a:srgbClr val="000000"/>
              </a:solidFill>
              <a:effectLst/>
              <a:latin typeface="-webkit-standard"/>
            </a:endParaRPr>
          </a:p>
          <a:p>
            <a:pPr lvl="1"/>
            <a:r>
              <a:rPr lang="tr-TR" b="0" i="0" u="none" strike="noStrike" dirty="0" err="1">
                <a:solidFill>
                  <a:srgbClr val="000000"/>
                </a:solidFill>
                <a:effectLst/>
                <a:latin typeface="-webkit-standard"/>
              </a:rPr>
              <a:t>Shared</a:t>
            </a:r>
            <a:r>
              <a:rPr lang="tr-TR" b="0" i="0" u="none" strike="noStrike" dirty="0">
                <a:solidFill>
                  <a:srgbClr val="000000"/>
                </a:solidFill>
                <a:effectLst/>
                <a:latin typeface="-webkit-standard"/>
              </a:rPr>
              <a:t> </a:t>
            </a:r>
            <a:r>
              <a:rPr lang="tr-TR" b="0" i="0" u="none" strike="noStrike" dirty="0" err="1">
                <a:solidFill>
                  <a:srgbClr val="000000"/>
                </a:solidFill>
                <a:effectLst/>
                <a:latin typeface="-webkit-standard"/>
              </a:rPr>
              <a:t>Table</a:t>
            </a:r>
            <a:br>
              <a:rPr lang="tr-TR" dirty="0"/>
            </a:br>
            <a:endParaRPr lang="tr-TR" dirty="0">
              <a:solidFill>
                <a:srgbClr val="000000"/>
              </a:solidFill>
              <a:latin typeface="Gill Sans MT" panose="020B0502020104020203" pitchFamily="34" charset="0"/>
            </a:endParaRPr>
          </a:p>
        </p:txBody>
      </p:sp>
    </p:spTree>
    <p:extLst>
      <p:ext uri="{BB962C8B-B14F-4D97-AF65-F5344CB8AC3E}">
        <p14:creationId xmlns:p14="http://schemas.microsoft.com/office/powerpoint/2010/main" val="246221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B04BA-529E-762D-9800-8E9FCB176D0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B47564B-264B-4258-6697-6491970534C0}"/>
              </a:ext>
            </a:extLst>
          </p:cNvPr>
          <p:cNvSpPr>
            <a:spLocks noGrp="1"/>
          </p:cNvSpPr>
          <p:nvPr>
            <p:ph type="title"/>
          </p:nvPr>
        </p:nvSpPr>
        <p:spPr>
          <a:xfrm>
            <a:off x="2231136" y="272876"/>
            <a:ext cx="7729728" cy="1188720"/>
          </a:xfrm>
        </p:spPr>
        <p:txBody>
          <a:bodyPr/>
          <a:lstStyle/>
          <a:p>
            <a:r>
              <a:rPr lang="tr-TR" dirty="0" err="1"/>
              <a:t>Shared</a:t>
            </a:r>
            <a:r>
              <a:rPr lang="tr-TR" dirty="0"/>
              <a:t> </a:t>
            </a:r>
            <a:r>
              <a:rPr lang="tr-TR" dirty="0" err="1"/>
              <a:t>table</a:t>
            </a:r>
            <a:endParaRPr lang="tr-TR" dirty="0"/>
          </a:p>
        </p:txBody>
      </p:sp>
      <p:sp>
        <p:nvSpPr>
          <p:cNvPr id="3" name="İçerik Yer Tutucusu 2">
            <a:extLst>
              <a:ext uri="{FF2B5EF4-FFF2-40B4-BE49-F238E27FC236}">
                <a16:creationId xmlns:a16="http://schemas.microsoft.com/office/drawing/2014/main" id="{E8B43C8D-4720-56E6-37A5-6BB4C42EC2AB}"/>
              </a:ext>
            </a:extLst>
          </p:cNvPr>
          <p:cNvSpPr>
            <a:spLocks noGrp="1"/>
          </p:cNvSpPr>
          <p:nvPr>
            <p:ph idx="1"/>
          </p:nvPr>
        </p:nvSpPr>
        <p:spPr>
          <a:xfrm>
            <a:off x="1302057" y="1685504"/>
            <a:ext cx="9587885" cy="4707116"/>
          </a:xfrm>
        </p:spPr>
        <p:txBody>
          <a:bodyPr>
            <a:normAutofit/>
          </a:bodyPr>
          <a:lstStyle/>
          <a:p>
            <a:r>
              <a:rPr lang="tr-TR" b="0" i="0" u="none" strike="noStrike" dirty="0">
                <a:solidFill>
                  <a:srgbClr val="000000"/>
                </a:solidFill>
                <a:effectLst/>
                <a:latin typeface="Gill Sans MT" panose="020B0502020104020203" pitchFamily="34" charset="0"/>
              </a:rPr>
              <a:t>Tüm müşterilerin verileri </a:t>
            </a:r>
            <a:r>
              <a:rPr lang="tr-TR" i="0" u="none" strike="noStrike" dirty="0">
                <a:solidFill>
                  <a:srgbClr val="000000"/>
                </a:solidFill>
                <a:effectLst/>
                <a:latin typeface="Gill Sans MT" panose="020B0502020104020203" pitchFamily="34" charset="0"/>
              </a:rPr>
              <a:t>aynı </a:t>
            </a:r>
            <a:r>
              <a:rPr lang="tr-TR" i="0" u="none" strike="noStrike" dirty="0" err="1">
                <a:solidFill>
                  <a:srgbClr val="000000"/>
                </a:solidFill>
                <a:effectLst/>
                <a:latin typeface="Gill Sans MT" panose="020B0502020104020203" pitchFamily="34" charset="0"/>
              </a:rPr>
              <a:t>veritabanındaki</a:t>
            </a:r>
            <a:r>
              <a:rPr lang="tr-TR" i="0" u="none" strike="noStrike" dirty="0">
                <a:solidFill>
                  <a:srgbClr val="000000"/>
                </a:solidFill>
                <a:effectLst/>
                <a:latin typeface="Gill Sans MT" panose="020B0502020104020203" pitchFamily="34" charset="0"/>
              </a:rPr>
              <a:t> ortak </a:t>
            </a:r>
            <a:r>
              <a:rPr lang="tr-TR" i="0" u="none" strike="noStrike" dirty="0" err="1">
                <a:solidFill>
                  <a:srgbClr val="000000"/>
                </a:solidFill>
                <a:effectLst/>
                <a:latin typeface="Gill Sans MT" panose="020B0502020104020203" pitchFamily="34" charset="0"/>
              </a:rPr>
              <a:t>tablollarda</a:t>
            </a:r>
            <a:r>
              <a:rPr lang="tr-TR" i="0" u="none" strike="noStrike" dirty="0">
                <a:solidFill>
                  <a:srgbClr val="000000"/>
                </a:solidFill>
                <a:effectLst/>
                <a:latin typeface="Gill Sans MT" panose="020B0502020104020203" pitchFamily="34" charset="0"/>
              </a:rPr>
              <a:t> tutulur</a:t>
            </a:r>
            <a:r>
              <a:rPr lang="tr-TR" b="0" i="0" u="none" strike="noStrike" dirty="0">
                <a:solidFill>
                  <a:srgbClr val="000000"/>
                </a:solidFill>
                <a:effectLst/>
                <a:latin typeface="Gill Sans MT" panose="020B0502020104020203" pitchFamily="34" charset="0"/>
              </a:rPr>
              <a:t>. Her tabloya bir </a:t>
            </a:r>
            <a:r>
              <a:rPr lang="tr-TR" b="0" i="0" u="none" strike="noStrike" dirty="0" err="1">
                <a:solidFill>
                  <a:srgbClr val="000000"/>
                </a:solidFill>
                <a:effectLst/>
                <a:latin typeface="Gill Sans MT" panose="020B0502020104020203" pitchFamily="34" charset="0"/>
              </a:rPr>
              <a:t>tenant_id</a:t>
            </a:r>
            <a:r>
              <a:rPr lang="tr-TR" b="0" i="0" u="none" strike="noStrike" dirty="0">
                <a:solidFill>
                  <a:srgbClr val="000000"/>
                </a:solidFill>
                <a:effectLst/>
                <a:latin typeface="Gill Sans MT" panose="020B0502020104020203" pitchFamily="34" charset="0"/>
              </a:rPr>
              <a:t> sütunu eklenerek kayıtlar mantıksal olarak ayrılır​. Örneğin tek bir </a:t>
            </a:r>
            <a:r>
              <a:rPr lang="tr-TR" b="1" i="0" u="none" strike="noStrike" dirty="0" err="1">
                <a:solidFill>
                  <a:srgbClr val="000000"/>
                </a:solidFill>
                <a:effectLst/>
                <a:latin typeface="Gill Sans MT" panose="020B0502020104020203" pitchFamily="34" charset="0"/>
                <a:cs typeface="Consolas" panose="020B0609020204030204" pitchFamily="49" charset="0"/>
              </a:rPr>
              <a:t>Customers</a:t>
            </a:r>
            <a:r>
              <a:rPr lang="tr-TR" b="0" i="0" u="none" strike="noStrike" dirty="0">
                <a:solidFill>
                  <a:srgbClr val="000000"/>
                </a:solidFill>
                <a:effectLst/>
                <a:latin typeface="Gill Sans MT" panose="020B0502020104020203" pitchFamily="34" charset="0"/>
              </a:rPr>
              <a:t> tablosu vardır, içinde farklı </a:t>
            </a:r>
            <a:r>
              <a:rPr lang="tr-TR" b="0" i="0" u="none" strike="noStrike" dirty="0" err="1">
                <a:solidFill>
                  <a:srgbClr val="000000"/>
                </a:solidFill>
                <a:effectLst/>
                <a:latin typeface="Gill Sans MT" panose="020B0502020104020203" pitchFamily="34" charset="0"/>
              </a:rPr>
              <a:t>tenant’lara</a:t>
            </a:r>
            <a:r>
              <a:rPr lang="tr-TR" b="0" i="0" u="none" strike="noStrike" dirty="0">
                <a:solidFill>
                  <a:srgbClr val="000000"/>
                </a:solidFill>
                <a:effectLst/>
                <a:latin typeface="Gill Sans MT" panose="020B0502020104020203" pitchFamily="34" charset="0"/>
              </a:rPr>
              <a:t> ait kayıtlar </a:t>
            </a:r>
            <a:r>
              <a:rPr lang="tr-TR" b="1" i="0" u="none" strike="noStrike" dirty="0" err="1">
                <a:solidFill>
                  <a:srgbClr val="000000"/>
                </a:solidFill>
                <a:effectLst/>
                <a:latin typeface="Gill Sans MT" panose="020B0502020104020203" pitchFamily="34" charset="0"/>
                <a:cs typeface="Consolas" panose="020B0609020204030204" pitchFamily="49" charset="0"/>
              </a:rPr>
              <a:t>tenant_id</a:t>
            </a:r>
            <a:r>
              <a:rPr lang="tr-TR" b="1" i="0" u="none" strike="noStrike" dirty="0">
                <a:solidFill>
                  <a:srgbClr val="000000"/>
                </a:solidFill>
                <a:effectLst/>
                <a:latin typeface="Gill Sans MT" panose="020B0502020104020203" pitchFamily="34" charset="0"/>
                <a:cs typeface="Consolas" panose="020B0609020204030204" pitchFamily="49" charset="0"/>
              </a:rPr>
              <a:t> </a:t>
            </a:r>
            <a:r>
              <a:rPr lang="tr-TR" b="0" i="0" u="none" strike="noStrike" dirty="0">
                <a:solidFill>
                  <a:srgbClr val="000000"/>
                </a:solidFill>
                <a:effectLst/>
                <a:latin typeface="Gill Sans MT" panose="020B0502020104020203" pitchFamily="34" charset="0"/>
              </a:rPr>
              <a:t>ile ayrılmıştır.</a:t>
            </a:r>
          </a:p>
          <a:p>
            <a:pPr lvl="1"/>
            <a:r>
              <a:rPr lang="tr-TR" sz="1800" b="1" i="1" u="none" strike="noStrike" dirty="0">
                <a:solidFill>
                  <a:srgbClr val="000000"/>
                </a:solidFill>
                <a:effectLst/>
                <a:latin typeface="Gill Sans MT" panose="020B0502020104020203" pitchFamily="34" charset="0"/>
              </a:rPr>
              <a:t>Avantajları</a:t>
            </a:r>
            <a:r>
              <a:rPr lang="tr-TR" sz="1800" b="0" i="1" u="none" strike="noStrike" dirty="0">
                <a:solidFill>
                  <a:srgbClr val="000000"/>
                </a:solidFill>
                <a:effectLst/>
                <a:latin typeface="Gill Sans MT" panose="020B0502020104020203" pitchFamily="34" charset="0"/>
              </a:rPr>
              <a:t>:</a:t>
            </a:r>
            <a:r>
              <a:rPr lang="tr-TR" sz="1800" b="0" i="0" u="none" strike="noStrike" dirty="0">
                <a:solidFill>
                  <a:srgbClr val="000000"/>
                </a:solidFill>
                <a:effectLst/>
                <a:latin typeface="Gill Sans MT" panose="020B0502020104020203" pitchFamily="34" charset="0"/>
              </a:rPr>
              <a:t> En </a:t>
            </a:r>
            <a:r>
              <a:rPr lang="tr-TR" sz="1800" i="0" u="none" strike="noStrike" dirty="0">
                <a:solidFill>
                  <a:srgbClr val="000000"/>
                </a:solidFill>
                <a:effectLst/>
                <a:latin typeface="Gill Sans MT" panose="020B0502020104020203" pitchFamily="34" charset="0"/>
              </a:rPr>
              <a:t>basit ve maliyet etkin </a:t>
            </a:r>
            <a:r>
              <a:rPr lang="tr-TR" sz="1800" b="0" i="0" u="none" strike="noStrike" dirty="0">
                <a:solidFill>
                  <a:srgbClr val="000000"/>
                </a:solidFill>
                <a:effectLst/>
                <a:latin typeface="Gill Sans MT" panose="020B0502020104020203" pitchFamily="34" charset="0"/>
              </a:rPr>
              <a:t>yaklaşımdır – yönetilecek tek bir </a:t>
            </a:r>
            <a:r>
              <a:rPr lang="tr-TR" sz="1800" b="0" i="0" u="none" strike="noStrike" dirty="0" err="1">
                <a:solidFill>
                  <a:srgbClr val="000000"/>
                </a:solidFill>
                <a:effectLst/>
                <a:latin typeface="Gill Sans MT" panose="020B0502020104020203" pitchFamily="34" charset="0"/>
              </a:rPr>
              <a:t>veritabanı</a:t>
            </a:r>
            <a:r>
              <a:rPr lang="tr-TR" sz="1800" b="0" i="0" u="none" strike="noStrike" dirty="0">
                <a:solidFill>
                  <a:srgbClr val="000000"/>
                </a:solidFill>
                <a:effectLst/>
                <a:latin typeface="Gill Sans MT" panose="020B0502020104020203" pitchFamily="34" charset="0"/>
              </a:rPr>
              <a:t> olduğundan bakım (yedekleme, izleme, güncelleme) kolaydır​. Şema değişiklikleri (ör. yeni sütun eklemek) merkezi olarak yapılır ve tüm müşterilere uygulanır​. Kaynak kullanımı en verimli haldedir, tüm müşteriler aynı </a:t>
            </a:r>
            <a:r>
              <a:rPr lang="tr-TR" sz="1800" b="0" i="0" u="none" strike="noStrike" dirty="0" err="1">
                <a:solidFill>
                  <a:srgbClr val="000000"/>
                </a:solidFill>
                <a:effectLst/>
                <a:latin typeface="Gill Sans MT" panose="020B0502020104020203" pitchFamily="34" charset="0"/>
              </a:rPr>
              <a:t>DB’yi</a:t>
            </a:r>
            <a:r>
              <a:rPr lang="tr-TR" sz="1800" b="0" i="0" u="none" strike="noStrike" dirty="0">
                <a:solidFill>
                  <a:srgbClr val="000000"/>
                </a:solidFill>
                <a:effectLst/>
                <a:latin typeface="Gill Sans MT" panose="020B0502020104020203" pitchFamily="34" charset="0"/>
              </a:rPr>
              <a:t> paylaştığı için boş kapasite paylaşılır.</a:t>
            </a:r>
          </a:p>
          <a:p>
            <a:pPr lvl="1"/>
            <a:r>
              <a:rPr lang="tr-TR" sz="1800" b="1" i="1" u="none" strike="noStrike" dirty="0">
                <a:solidFill>
                  <a:srgbClr val="000000"/>
                </a:solidFill>
                <a:effectLst/>
                <a:latin typeface="Gill Sans MT" panose="020B0502020104020203" pitchFamily="34" charset="0"/>
              </a:rPr>
              <a:t>Dezavantajları</a:t>
            </a:r>
            <a:r>
              <a:rPr lang="tr-TR" sz="1800" b="0" i="1" u="none" strike="noStrike" dirty="0">
                <a:solidFill>
                  <a:srgbClr val="000000"/>
                </a:solidFill>
                <a:effectLst/>
                <a:latin typeface="Gill Sans MT" panose="020B0502020104020203" pitchFamily="34" charset="0"/>
              </a:rPr>
              <a:t>:</a:t>
            </a:r>
            <a:r>
              <a:rPr lang="tr-TR" sz="1800" b="0" i="0" u="none" strike="noStrike" dirty="0">
                <a:solidFill>
                  <a:srgbClr val="000000"/>
                </a:solidFill>
                <a:effectLst/>
                <a:latin typeface="Gill Sans MT" panose="020B0502020104020203" pitchFamily="34" charset="0"/>
              </a:rPr>
              <a:t> </a:t>
            </a:r>
            <a:r>
              <a:rPr lang="tr-TR" sz="1800" i="0" u="none" strike="noStrike" dirty="0">
                <a:solidFill>
                  <a:srgbClr val="000000"/>
                </a:solidFill>
                <a:effectLst/>
                <a:latin typeface="Gill Sans MT" panose="020B0502020104020203" pitchFamily="34" charset="0"/>
              </a:rPr>
              <a:t>İzolasyon riski en yüksek </a:t>
            </a:r>
            <a:r>
              <a:rPr lang="tr-TR" sz="1800" b="0" i="0" u="none" strike="noStrike" dirty="0">
                <a:solidFill>
                  <a:srgbClr val="000000"/>
                </a:solidFill>
                <a:effectLst/>
                <a:latin typeface="Gill Sans MT" panose="020B0502020104020203" pitchFamily="34" charset="0"/>
              </a:rPr>
              <a:t>modeldir. Uygulama tarafında sorgulara doğru </a:t>
            </a:r>
            <a:r>
              <a:rPr lang="tr-TR" sz="1800" b="0" i="0" u="none" strike="noStrike" dirty="0" err="1">
                <a:solidFill>
                  <a:srgbClr val="000000"/>
                </a:solidFill>
                <a:effectLst/>
                <a:latin typeface="Gill Sans MT" panose="020B0502020104020203" pitchFamily="34" charset="0"/>
              </a:rPr>
              <a:t>tenant</a:t>
            </a:r>
            <a:r>
              <a:rPr lang="tr-TR" sz="1800" b="0" i="0" u="none" strike="noStrike" dirty="0">
                <a:solidFill>
                  <a:srgbClr val="000000"/>
                </a:solidFill>
                <a:effectLst/>
                <a:latin typeface="Gill Sans MT" panose="020B0502020104020203" pitchFamily="34" charset="0"/>
              </a:rPr>
              <a:t> filtresi eklenmezse bir müşterinin başka müşterinin verisini görmesi riski vardır​. Performans konusunda da </a:t>
            </a:r>
            <a:r>
              <a:rPr lang="tr-TR" sz="1800" b="1" i="0" u="none" strike="noStrike" dirty="0">
                <a:solidFill>
                  <a:srgbClr val="000000"/>
                </a:solidFill>
                <a:effectLst/>
                <a:latin typeface="Gill Sans MT" panose="020B0502020104020203" pitchFamily="34" charset="0"/>
              </a:rPr>
              <a:t>“</a:t>
            </a:r>
            <a:r>
              <a:rPr lang="tr-TR" sz="1800" i="0" u="none" strike="noStrike" dirty="0">
                <a:solidFill>
                  <a:srgbClr val="000000"/>
                </a:solidFill>
                <a:effectLst/>
                <a:latin typeface="Gill Sans MT" panose="020B0502020104020203" pitchFamily="34" charset="0"/>
              </a:rPr>
              <a:t>gürültülü komşu</a:t>
            </a:r>
            <a:r>
              <a:rPr lang="tr-TR" sz="1800" b="1" i="0" u="none" strike="noStrike" dirty="0">
                <a:solidFill>
                  <a:srgbClr val="000000"/>
                </a:solidFill>
                <a:effectLst/>
                <a:latin typeface="Gill Sans MT" panose="020B0502020104020203" pitchFamily="34" charset="0"/>
              </a:rPr>
              <a:t>”</a:t>
            </a:r>
            <a:r>
              <a:rPr lang="tr-TR" sz="1800" b="0" i="0" u="none" strike="noStrike" dirty="0">
                <a:solidFill>
                  <a:srgbClr val="000000"/>
                </a:solidFill>
                <a:effectLst/>
                <a:latin typeface="Gill Sans MT" panose="020B0502020104020203" pitchFamily="34" charset="0"/>
              </a:rPr>
              <a:t> etkisine en açık modeldir – tüm yük aynı </a:t>
            </a:r>
            <a:r>
              <a:rPr lang="tr-TR" sz="1800" b="0" i="0" u="none" strike="noStrike" dirty="0" err="1">
                <a:solidFill>
                  <a:srgbClr val="000000"/>
                </a:solidFill>
                <a:effectLst/>
                <a:latin typeface="Gill Sans MT" panose="020B0502020104020203" pitchFamily="34" charset="0"/>
              </a:rPr>
              <a:t>veritabanına</a:t>
            </a:r>
            <a:r>
              <a:rPr lang="tr-TR" sz="1800" b="0" i="0" u="none" strike="noStrike" dirty="0">
                <a:solidFill>
                  <a:srgbClr val="000000"/>
                </a:solidFill>
                <a:effectLst/>
                <a:latin typeface="Gill Sans MT" panose="020B0502020104020203" pitchFamily="34" charset="0"/>
              </a:rPr>
              <a:t> gelir, ağır sorgular diğerlerini etkileyebilir​. Müşteri bazında özelleştirme imkânı kısıtlıdır (tüm tablo yapısı ortak olduğundan özel alan eklemek zordur)​. Çok yüksek sayıda müşteri ve veri olunca tablolar çok büyüyebilir.</a:t>
            </a:r>
          </a:p>
        </p:txBody>
      </p:sp>
    </p:spTree>
    <p:extLst>
      <p:ext uri="{BB962C8B-B14F-4D97-AF65-F5344CB8AC3E}">
        <p14:creationId xmlns:p14="http://schemas.microsoft.com/office/powerpoint/2010/main" val="3006385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40D29-C87D-29C4-9AA9-98C222D6C46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1772A24-E2F9-6531-68CC-0EA7AE6200A6}"/>
              </a:ext>
            </a:extLst>
          </p:cNvPr>
          <p:cNvSpPr>
            <a:spLocks noGrp="1"/>
          </p:cNvSpPr>
          <p:nvPr>
            <p:ph type="title"/>
          </p:nvPr>
        </p:nvSpPr>
        <p:spPr>
          <a:xfrm>
            <a:off x="2231136" y="272876"/>
            <a:ext cx="7729728" cy="1188720"/>
          </a:xfrm>
        </p:spPr>
        <p:txBody>
          <a:bodyPr/>
          <a:lstStyle/>
          <a:p>
            <a:r>
              <a:rPr lang="tr-TR" dirty="0" err="1"/>
              <a:t>Schema</a:t>
            </a:r>
            <a:r>
              <a:rPr lang="tr-TR" dirty="0"/>
              <a:t> </a:t>
            </a:r>
            <a:r>
              <a:rPr lang="tr-TR" dirty="0" err="1"/>
              <a:t>per</a:t>
            </a:r>
            <a:r>
              <a:rPr lang="tr-TR" dirty="0"/>
              <a:t> </a:t>
            </a:r>
            <a:r>
              <a:rPr lang="tr-TR" dirty="0" err="1"/>
              <a:t>tenant</a:t>
            </a:r>
            <a:endParaRPr lang="tr-TR" dirty="0"/>
          </a:p>
        </p:txBody>
      </p:sp>
      <p:sp>
        <p:nvSpPr>
          <p:cNvPr id="3" name="İçerik Yer Tutucusu 2">
            <a:extLst>
              <a:ext uri="{FF2B5EF4-FFF2-40B4-BE49-F238E27FC236}">
                <a16:creationId xmlns:a16="http://schemas.microsoft.com/office/drawing/2014/main" id="{8F1425DA-CD1D-3DDE-025E-20A3B5861ECE}"/>
              </a:ext>
            </a:extLst>
          </p:cNvPr>
          <p:cNvSpPr>
            <a:spLocks noGrp="1"/>
          </p:cNvSpPr>
          <p:nvPr>
            <p:ph idx="1"/>
          </p:nvPr>
        </p:nvSpPr>
        <p:spPr>
          <a:xfrm>
            <a:off x="1302057" y="1691519"/>
            <a:ext cx="9587885" cy="4707116"/>
          </a:xfrm>
        </p:spPr>
        <p:txBody>
          <a:bodyPr>
            <a:normAutofit/>
          </a:bodyPr>
          <a:lstStyle/>
          <a:p>
            <a:pPr algn="l"/>
            <a:r>
              <a:rPr lang="tr-TR" b="0" i="0" u="none" strike="noStrike" dirty="0">
                <a:solidFill>
                  <a:srgbClr val="000000"/>
                </a:solidFill>
                <a:effectLst/>
              </a:rPr>
              <a:t>Tüm müşteriler aynı </a:t>
            </a:r>
            <a:r>
              <a:rPr lang="tr-TR" b="0" i="0" u="none" strike="noStrike" dirty="0" err="1">
                <a:solidFill>
                  <a:srgbClr val="000000"/>
                </a:solidFill>
                <a:effectLst/>
              </a:rPr>
              <a:t>veritabanı</a:t>
            </a:r>
            <a:r>
              <a:rPr lang="tr-TR" b="0" i="0" u="none" strike="noStrike" dirty="0">
                <a:solidFill>
                  <a:srgbClr val="000000"/>
                </a:solidFill>
                <a:effectLst/>
              </a:rPr>
              <a:t> sunucusunu (</a:t>
            </a:r>
            <a:r>
              <a:rPr lang="tr-TR" b="0" i="0" u="none" strike="noStrike" dirty="0" err="1">
                <a:solidFill>
                  <a:srgbClr val="000000"/>
                </a:solidFill>
                <a:effectLst/>
              </a:rPr>
              <a:t>instance</a:t>
            </a:r>
            <a:r>
              <a:rPr lang="tr-TR" b="0" i="0" u="none" strike="noStrike" dirty="0">
                <a:solidFill>
                  <a:srgbClr val="000000"/>
                </a:solidFill>
                <a:effectLst/>
              </a:rPr>
              <a:t>) kullanır, fakat </a:t>
            </a:r>
            <a:r>
              <a:rPr lang="tr-TR" i="0" u="none" strike="noStrike" dirty="0">
                <a:solidFill>
                  <a:srgbClr val="000000"/>
                </a:solidFill>
                <a:effectLst/>
              </a:rPr>
              <a:t>her müşteri için ayrı bir şema</a:t>
            </a:r>
            <a:r>
              <a:rPr lang="tr-TR" b="0" i="0" u="none" strike="noStrike" dirty="0">
                <a:solidFill>
                  <a:srgbClr val="000000"/>
                </a:solidFill>
                <a:effectLst/>
              </a:rPr>
              <a:t> oluşturulur​. Örneğin </a:t>
            </a:r>
            <a:r>
              <a:rPr lang="tr-TR" b="0" i="0" u="none" strike="noStrike" dirty="0" err="1">
                <a:solidFill>
                  <a:srgbClr val="000000"/>
                </a:solidFill>
                <a:effectLst/>
              </a:rPr>
              <a:t>PostgreSQL’de</a:t>
            </a:r>
            <a:r>
              <a:rPr lang="tr-TR" b="0" i="0" u="none" strike="noStrike" dirty="0">
                <a:solidFill>
                  <a:srgbClr val="000000"/>
                </a:solidFill>
                <a:effectLst/>
              </a:rPr>
              <a:t> </a:t>
            </a:r>
            <a:r>
              <a:rPr lang="tr-TR" b="1" i="0" u="none" strike="noStrike" dirty="0">
                <a:solidFill>
                  <a:srgbClr val="000000"/>
                </a:solidFill>
                <a:effectLst/>
                <a:latin typeface="Consolas" panose="020B0609020204030204" pitchFamily="49" charset="0"/>
                <a:cs typeface="Consolas" panose="020B0609020204030204" pitchFamily="49" charset="0"/>
              </a:rPr>
              <a:t>tenant1.customers </a:t>
            </a:r>
            <a:r>
              <a:rPr lang="tr-TR" b="0" i="0" u="none" strike="noStrike" dirty="0">
                <a:solidFill>
                  <a:srgbClr val="000000"/>
                </a:solidFill>
                <a:effectLst/>
              </a:rPr>
              <a:t>ve </a:t>
            </a:r>
            <a:r>
              <a:rPr lang="tr-TR" b="1" i="0" u="none" strike="noStrike" dirty="0">
                <a:solidFill>
                  <a:srgbClr val="000000"/>
                </a:solidFill>
                <a:effectLst/>
                <a:latin typeface="Consolas" panose="020B0609020204030204" pitchFamily="49" charset="0"/>
                <a:cs typeface="Consolas" panose="020B0609020204030204" pitchFamily="49" charset="0"/>
              </a:rPr>
              <a:t>tenant2.customers </a:t>
            </a:r>
            <a:r>
              <a:rPr lang="tr-TR" b="0" i="0" u="none" strike="noStrike" dirty="0">
                <a:solidFill>
                  <a:srgbClr val="000000"/>
                </a:solidFill>
                <a:effectLst/>
              </a:rPr>
              <a:t>gibi ayrı şemalarda benzer tablolar vardır.</a:t>
            </a:r>
          </a:p>
          <a:p>
            <a:pPr lvl="1"/>
            <a:r>
              <a:rPr lang="tr-TR" sz="1800" b="1" i="1" u="none" strike="noStrike" dirty="0">
                <a:solidFill>
                  <a:srgbClr val="000000"/>
                </a:solidFill>
                <a:effectLst/>
              </a:rPr>
              <a:t>Avantajları</a:t>
            </a:r>
            <a:r>
              <a:rPr lang="tr-TR" sz="1800" b="0" i="1" u="none" strike="noStrike" dirty="0">
                <a:solidFill>
                  <a:srgbClr val="000000"/>
                </a:solidFill>
                <a:effectLst/>
              </a:rPr>
              <a:t>:</a:t>
            </a:r>
            <a:r>
              <a:rPr lang="tr-TR" sz="1800" b="0" i="0" u="none" strike="noStrike" dirty="0">
                <a:solidFill>
                  <a:srgbClr val="000000"/>
                </a:solidFill>
                <a:effectLst/>
              </a:rPr>
              <a:t> Müşterilerin verileri şema düzeyinde ayrıldığı için </a:t>
            </a:r>
            <a:r>
              <a:rPr lang="tr-TR" sz="1800" i="0" u="none" strike="noStrike" dirty="0">
                <a:solidFill>
                  <a:srgbClr val="000000"/>
                </a:solidFill>
                <a:effectLst/>
              </a:rPr>
              <a:t>veri sızıntısı riski azalır </a:t>
            </a:r>
            <a:r>
              <a:rPr lang="tr-TR" sz="1800" b="0" i="0" u="none" strike="noStrike" dirty="0">
                <a:solidFill>
                  <a:srgbClr val="000000"/>
                </a:solidFill>
                <a:effectLst/>
              </a:rPr>
              <a:t>– bir şemadaki tabloya sorgu yaparken yanlışlıkla diğerini çekme ihtimali düşüktür​. Tek bir </a:t>
            </a:r>
            <a:r>
              <a:rPr lang="tr-TR" sz="1800" b="0" i="0" u="none" strike="noStrike" dirty="0" err="1">
                <a:solidFill>
                  <a:srgbClr val="000000"/>
                </a:solidFill>
                <a:effectLst/>
              </a:rPr>
              <a:t>veritabanı</a:t>
            </a:r>
            <a:r>
              <a:rPr lang="tr-TR" sz="1800" b="0" i="0" u="none" strike="noStrike" dirty="0">
                <a:solidFill>
                  <a:srgbClr val="000000"/>
                </a:solidFill>
                <a:effectLst/>
              </a:rPr>
              <a:t> sunucusu kullanıldığı için yönetim maliyeti hala makuldür (tek DB </a:t>
            </a:r>
            <a:r>
              <a:rPr lang="tr-TR" sz="1800" b="0" i="0" u="none" strike="noStrike" dirty="0" err="1">
                <a:solidFill>
                  <a:srgbClr val="000000"/>
                </a:solidFill>
                <a:effectLst/>
              </a:rPr>
              <a:t>backup</a:t>
            </a:r>
            <a:r>
              <a:rPr lang="tr-TR" sz="1800" b="0" i="0" u="none" strike="noStrike" dirty="0">
                <a:solidFill>
                  <a:srgbClr val="000000"/>
                </a:solidFill>
                <a:effectLst/>
              </a:rPr>
              <a:t> vb.)​ Ayrıca şema izolasyonu sayesinde aynı tabloda farklı müşteri için küçük özelleştirmeler yapmak (</a:t>
            </a:r>
            <a:r>
              <a:rPr lang="tr-TR" sz="1800" b="0" i="0" u="none" strike="noStrike" dirty="0" err="1">
                <a:solidFill>
                  <a:srgbClr val="000000"/>
                </a:solidFill>
                <a:effectLst/>
              </a:rPr>
              <a:t>örn</a:t>
            </a:r>
            <a:r>
              <a:rPr lang="tr-TR" sz="1800" b="0" i="0" u="none" strike="noStrike" dirty="0">
                <a:solidFill>
                  <a:srgbClr val="000000"/>
                </a:solidFill>
                <a:effectLst/>
              </a:rPr>
              <a:t>. </a:t>
            </a:r>
            <a:r>
              <a:rPr lang="tr-TR" sz="1800" b="0" i="0" u="none" strike="noStrike" dirty="0" err="1">
                <a:solidFill>
                  <a:srgbClr val="000000"/>
                </a:solidFill>
                <a:effectLst/>
              </a:rPr>
              <a:t>index</a:t>
            </a:r>
            <a:r>
              <a:rPr lang="tr-TR" sz="1800" b="0" i="0" u="none" strike="noStrike" dirty="0">
                <a:solidFill>
                  <a:srgbClr val="000000"/>
                </a:solidFill>
                <a:effectLst/>
              </a:rPr>
              <a:t> eklemek) daha mümkün olabilir. </a:t>
            </a:r>
            <a:r>
              <a:rPr lang="tr-TR" sz="1800" i="0" u="none" strike="noStrike" dirty="0" err="1">
                <a:solidFill>
                  <a:srgbClr val="000000"/>
                </a:solidFill>
                <a:effectLst/>
              </a:rPr>
              <a:t>Tenant</a:t>
            </a:r>
            <a:r>
              <a:rPr lang="tr-TR" sz="1800" i="0" u="none" strike="noStrike" dirty="0">
                <a:solidFill>
                  <a:srgbClr val="000000"/>
                </a:solidFill>
                <a:effectLst/>
              </a:rPr>
              <a:t> başına özelleştirme </a:t>
            </a:r>
            <a:r>
              <a:rPr lang="tr-TR" sz="1800" b="0" i="0" u="none" strike="noStrike" dirty="0">
                <a:solidFill>
                  <a:srgbClr val="000000"/>
                </a:solidFill>
                <a:effectLst/>
              </a:rPr>
              <a:t>imkânı, </a:t>
            </a:r>
            <a:r>
              <a:rPr lang="tr-TR" sz="1800" b="0" i="0" u="none" strike="noStrike" dirty="0" err="1">
                <a:solidFill>
                  <a:srgbClr val="000000"/>
                </a:solidFill>
                <a:effectLst/>
              </a:rPr>
              <a:t>shared</a:t>
            </a:r>
            <a:r>
              <a:rPr lang="tr-TR" sz="1800" b="0" i="0" u="none" strike="noStrike" dirty="0">
                <a:solidFill>
                  <a:srgbClr val="000000"/>
                </a:solidFill>
                <a:effectLst/>
              </a:rPr>
              <a:t> </a:t>
            </a:r>
            <a:r>
              <a:rPr lang="tr-TR" sz="1800" b="0" i="0" u="none" strike="noStrike" dirty="0" err="1">
                <a:solidFill>
                  <a:srgbClr val="000000"/>
                </a:solidFill>
                <a:effectLst/>
              </a:rPr>
              <a:t>table</a:t>
            </a:r>
            <a:r>
              <a:rPr lang="tr-TR" sz="1800" b="0" i="0" u="none" strike="noStrike" dirty="0">
                <a:solidFill>
                  <a:srgbClr val="000000"/>
                </a:solidFill>
                <a:effectLst/>
              </a:rPr>
              <a:t> modeline göre daha yüksektir​.</a:t>
            </a:r>
          </a:p>
          <a:p>
            <a:pPr lvl="1"/>
            <a:r>
              <a:rPr lang="tr-TR" sz="1800" b="1" i="1" u="none" strike="noStrike" dirty="0">
                <a:solidFill>
                  <a:srgbClr val="000000"/>
                </a:solidFill>
                <a:effectLst/>
              </a:rPr>
              <a:t>Dezavantajları</a:t>
            </a:r>
            <a:r>
              <a:rPr lang="tr-TR" sz="1800" b="0" i="1" u="none" strike="noStrike" dirty="0">
                <a:solidFill>
                  <a:srgbClr val="000000"/>
                </a:solidFill>
                <a:effectLst/>
              </a:rPr>
              <a:t>:</a:t>
            </a:r>
            <a:r>
              <a:rPr lang="tr-TR" sz="1800" b="0" i="0" u="none" strike="noStrike" dirty="0">
                <a:solidFill>
                  <a:srgbClr val="000000"/>
                </a:solidFill>
                <a:effectLst/>
              </a:rPr>
              <a:t> Bir şema değişikliği (</a:t>
            </a:r>
            <a:r>
              <a:rPr lang="tr-TR" sz="1800" b="0" i="0" u="none" strike="noStrike" dirty="0" err="1">
                <a:solidFill>
                  <a:srgbClr val="000000"/>
                </a:solidFill>
                <a:effectLst/>
              </a:rPr>
              <a:t>migration</a:t>
            </a:r>
            <a:r>
              <a:rPr lang="tr-TR" sz="1800" b="0" i="0" u="none" strike="noStrike" dirty="0">
                <a:solidFill>
                  <a:srgbClr val="000000"/>
                </a:solidFill>
                <a:effectLst/>
              </a:rPr>
              <a:t>) yapıldığında her </a:t>
            </a:r>
            <a:r>
              <a:rPr lang="tr-TR" sz="1800" b="0" i="0" u="none" strike="noStrike" dirty="0" err="1">
                <a:solidFill>
                  <a:srgbClr val="000000"/>
                </a:solidFill>
                <a:effectLst/>
              </a:rPr>
              <a:t>tenant’ın</a:t>
            </a:r>
            <a:r>
              <a:rPr lang="tr-TR" sz="1800" b="0" i="0" u="none" strike="noStrike" dirty="0">
                <a:solidFill>
                  <a:srgbClr val="000000"/>
                </a:solidFill>
                <a:effectLst/>
              </a:rPr>
              <a:t> şemasına ayrı uygulamak gerekir​. </a:t>
            </a:r>
            <a:r>
              <a:rPr lang="tr-TR" sz="1800" b="0" i="0" u="none" strike="noStrike" dirty="0" err="1">
                <a:solidFill>
                  <a:srgbClr val="000000"/>
                </a:solidFill>
                <a:effectLst/>
              </a:rPr>
              <a:t>Tenant</a:t>
            </a:r>
            <a:r>
              <a:rPr lang="tr-TR" sz="1800" b="0" i="0" u="none" strike="noStrike" dirty="0">
                <a:solidFill>
                  <a:srgbClr val="000000"/>
                </a:solidFill>
                <a:effectLst/>
              </a:rPr>
              <a:t> sayısı çok artarsa </a:t>
            </a:r>
            <a:r>
              <a:rPr lang="tr-TR" sz="1800" b="0" i="0" u="none" strike="noStrike" dirty="0" err="1">
                <a:solidFill>
                  <a:srgbClr val="000000"/>
                </a:solidFill>
                <a:effectLst/>
              </a:rPr>
              <a:t>veritabanı</a:t>
            </a:r>
            <a:r>
              <a:rPr lang="tr-TR" sz="1800" b="0" i="0" u="none" strike="noStrike" dirty="0">
                <a:solidFill>
                  <a:srgbClr val="000000"/>
                </a:solidFill>
                <a:effectLst/>
              </a:rPr>
              <a:t> sunucusunda şema sayısı yönetilemez boyuta gelebilir (DB nesne limitlerine yaklaşabilir)​. Kaynak paylaşımı tek DB </a:t>
            </a:r>
            <a:r>
              <a:rPr lang="tr-TR" sz="1800" b="0" i="0" u="none" strike="noStrike" dirty="0" err="1">
                <a:solidFill>
                  <a:srgbClr val="000000"/>
                </a:solidFill>
                <a:effectLst/>
              </a:rPr>
              <a:t>instance</a:t>
            </a:r>
            <a:r>
              <a:rPr lang="tr-TR" sz="1800" b="0" i="0" u="none" strike="noStrike" dirty="0">
                <a:solidFill>
                  <a:srgbClr val="000000"/>
                </a:solidFill>
                <a:effectLst/>
              </a:rPr>
              <a:t> üzerinde olduğu için yoğun </a:t>
            </a:r>
            <a:r>
              <a:rPr lang="tr-TR" sz="1800" b="0" i="0" u="none" strike="noStrike" dirty="0" err="1">
                <a:solidFill>
                  <a:srgbClr val="000000"/>
                </a:solidFill>
                <a:effectLst/>
              </a:rPr>
              <a:t>tenant’lar</a:t>
            </a:r>
            <a:r>
              <a:rPr lang="tr-TR" sz="1800" b="0" i="0" u="none" strike="noStrike" dirty="0">
                <a:solidFill>
                  <a:srgbClr val="000000"/>
                </a:solidFill>
                <a:effectLst/>
              </a:rPr>
              <a:t> diğerlerini hala etkileyebilir (CPU/IO paylaşımı aynı)​. Yedek alma/geri yükleme gibi işlemler </a:t>
            </a:r>
            <a:r>
              <a:rPr lang="tr-TR" sz="1800" b="0" i="0" u="none" strike="noStrike" dirty="0" err="1">
                <a:solidFill>
                  <a:srgbClr val="000000"/>
                </a:solidFill>
                <a:effectLst/>
              </a:rPr>
              <a:t>tenant</a:t>
            </a:r>
            <a:r>
              <a:rPr lang="tr-TR" sz="1800" b="0" i="0" u="none" strike="noStrike" dirty="0">
                <a:solidFill>
                  <a:srgbClr val="000000"/>
                </a:solidFill>
                <a:effectLst/>
              </a:rPr>
              <a:t> ayrımında daha karmaşık hale gelir (tüm </a:t>
            </a:r>
            <a:r>
              <a:rPr lang="tr-TR" sz="1800" b="0" i="0" u="none" strike="noStrike" dirty="0" err="1">
                <a:solidFill>
                  <a:srgbClr val="000000"/>
                </a:solidFill>
                <a:effectLst/>
              </a:rPr>
              <a:t>DB’yi</a:t>
            </a:r>
            <a:r>
              <a:rPr lang="tr-TR" sz="1800" b="0" i="0" u="none" strike="noStrike" dirty="0">
                <a:solidFill>
                  <a:srgbClr val="000000"/>
                </a:solidFill>
                <a:effectLst/>
              </a:rPr>
              <a:t> yedekleyince hepsi içinde, tek </a:t>
            </a:r>
            <a:r>
              <a:rPr lang="tr-TR" sz="1800" b="0" i="0" u="none" strike="noStrike" dirty="0" err="1">
                <a:solidFill>
                  <a:srgbClr val="000000"/>
                </a:solidFill>
                <a:effectLst/>
              </a:rPr>
              <a:t>tenant’ı</a:t>
            </a:r>
            <a:r>
              <a:rPr lang="tr-TR" sz="1800" b="0" i="0" u="none" strike="noStrike" dirty="0">
                <a:solidFill>
                  <a:srgbClr val="000000"/>
                </a:solidFill>
                <a:effectLst/>
              </a:rPr>
              <a:t> geri getirmek zor).</a:t>
            </a:r>
          </a:p>
        </p:txBody>
      </p:sp>
    </p:spTree>
    <p:extLst>
      <p:ext uri="{BB962C8B-B14F-4D97-AF65-F5344CB8AC3E}">
        <p14:creationId xmlns:p14="http://schemas.microsoft.com/office/powerpoint/2010/main" val="4208165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DD69B-B391-2786-09D8-3AA81055091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F041366-F33C-EE1C-4ED9-B21658D9AD0B}"/>
              </a:ext>
            </a:extLst>
          </p:cNvPr>
          <p:cNvSpPr>
            <a:spLocks noGrp="1"/>
          </p:cNvSpPr>
          <p:nvPr>
            <p:ph type="title"/>
          </p:nvPr>
        </p:nvSpPr>
        <p:spPr>
          <a:xfrm>
            <a:off x="2231136" y="272876"/>
            <a:ext cx="7729728" cy="1188720"/>
          </a:xfrm>
        </p:spPr>
        <p:txBody>
          <a:bodyPr/>
          <a:lstStyle/>
          <a:p>
            <a:r>
              <a:rPr lang="tr-TR" dirty="0" err="1"/>
              <a:t>database</a:t>
            </a:r>
            <a:r>
              <a:rPr lang="tr-TR" dirty="0"/>
              <a:t> </a:t>
            </a:r>
            <a:r>
              <a:rPr lang="tr-TR" dirty="0" err="1"/>
              <a:t>per</a:t>
            </a:r>
            <a:r>
              <a:rPr lang="tr-TR" dirty="0"/>
              <a:t> </a:t>
            </a:r>
            <a:r>
              <a:rPr lang="tr-TR" dirty="0" err="1"/>
              <a:t>tenant</a:t>
            </a:r>
            <a:endParaRPr lang="tr-TR" dirty="0"/>
          </a:p>
        </p:txBody>
      </p:sp>
      <p:sp>
        <p:nvSpPr>
          <p:cNvPr id="3" name="İçerik Yer Tutucusu 2">
            <a:extLst>
              <a:ext uri="{FF2B5EF4-FFF2-40B4-BE49-F238E27FC236}">
                <a16:creationId xmlns:a16="http://schemas.microsoft.com/office/drawing/2014/main" id="{44E334F5-CE20-71FB-FC34-FDBF2AB7C004}"/>
              </a:ext>
            </a:extLst>
          </p:cNvPr>
          <p:cNvSpPr>
            <a:spLocks noGrp="1"/>
          </p:cNvSpPr>
          <p:nvPr>
            <p:ph idx="1"/>
          </p:nvPr>
        </p:nvSpPr>
        <p:spPr>
          <a:xfrm>
            <a:off x="933771" y="1679487"/>
            <a:ext cx="10324458" cy="4673186"/>
          </a:xfrm>
        </p:spPr>
        <p:txBody>
          <a:bodyPr>
            <a:noAutofit/>
          </a:bodyPr>
          <a:lstStyle/>
          <a:p>
            <a:r>
              <a:rPr lang="tr-TR" b="0" i="0" u="none" strike="noStrike" dirty="0">
                <a:solidFill>
                  <a:srgbClr val="000000"/>
                </a:solidFill>
                <a:effectLst/>
              </a:rPr>
              <a:t>Her müşteri için </a:t>
            </a:r>
            <a:r>
              <a:rPr lang="tr-TR" i="0" u="none" strike="noStrike" dirty="0">
                <a:solidFill>
                  <a:srgbClr val="000000"/>
                </a:solidFill>
                <a:effectLst/>
              </a:rPr>
              <a:t>ayrı bir </a:t>
            </a:r>
            <a:r>
              <a:rPr lang="tr-TR" i="0" u="none" strike="noStrike" dirty="0" err="1">
                <a:solidFill>
                  <a:srgbClr val="000000"/>
                </a:solidFill>
                <a:effectLst/>
              </a:rPr>
              <a:t>veritabanı</a:t>
            </a:r>
            <a:r>
              <a:rPr lang="tr-TR" i="0" u="none" strike="noStrike" dirty="0">
                <a:solidFill>
                  <a:srgbClr val="000000"/>
                </a:solidFill>
                <a:effectLst/>
              </a:rPr>
              <a:t> (veya ayrı sunucu) </a:t>
            </a:r>
            <a:r>
              <a:rPr lang="tr-TR" b="0" i="0" u="none" strike="noStrike" dirty="0">
                <a:solidFill>
                  <a:srgbClr val="000000"/>
                </a:solidFill>
                <a:effectLst/>
              </a:rPr>
              <a:t>tutulur​. Örneğin her </a:t>
            </a:r>
            <a:r>
              <a:rPr lang="tr-TR" b="0" i="0" u="none" strike="noStrike" dirty="0" err="1">
                <a:solidFill>
                  <a:srgbClr val="000000"/>
                </a:solidFill>
                <a:effectLst/>
              </a:rPr>
              <a:t>tenant’ın</a:t>
            </a:r>
            <a:r>
              <a:rPr lang="tr-TR" b="0" i="0" u="none" strike="noStrike" dirty="0">
                <a:solidFill>
                  <a:srgbClr val="000000"/>
                </a:solidFill>
                <a:effectLst/>
              </a:rPr>
              <a:t> kendi ayrı </a:t>
            </a:r>
            <a:r>
              <a:rPr lang="tr-TR" b="0" i="0" u="none" strike="noStrike" dirty="0" err="1">
                <a:solidFill>
                  <a:srgbClr val="000000"/>
                </a:solidFill>
                <a:effectLst/>
              </a:rPr>
              <a:t>MySQL</a:t>
            </a:r>
            <a:r>
              <a:rPr lang="tr-TR" b="0" i="0" u="none" strike="noStrike" dirty="0">
                <a:solidFill>
                  <a:srgbClr val="000000"/>
                </a:solidFill>
                <a:effectLst/>
              </a:rPr>
              <a:t> </a:t>
            </a:r>
            <a:r>
              <a:rPr lang="tr-TR" b="0" i="0" u="none" strike="noStrike" dirty="0" err="1">
                <a:solidFill>
                  <a:srgbClr val="000000"/>
                </a:solidFill>
                <a:effectLst/>
              </a:rPr>
              <a:t>database’i</a:t>
            </a:r>
            <a:r>
              <a:rPr lang="tr-TR" b="0" i="0" u="none" strike="noStrike" dirty="0">
                <a:solidFill>
                  <a:srgbClr val="000000"/>
                </a:solidFill>
                <a:effectLst/>
              </a:rPr>
              <a:t> veya ayrı bir SQL Server </a:t>
            </a:r>
            <a:r>
              <a:rPr lang="tr-TR" b="0" i="0" u="none" strike="noStrike" dirty="0" err="1">
                <a:solidFill>
                  <a:srgbClr val="000000"/>
                </a:solidFill>
                <a:effectLst/>
              </a:rPr>
              <a:t>instance’ı</a:t>
            </a:r>
            <a:r>
              <a:rPr lang="tr-TR" b="0" i="0" u="none" strike="noStrike" dirty="0">
                <a:solidFill>
                  <a:srgbClr val="000000"/>
                </a:solidFill>
                <a:effectLst/>
              </a:rPr>
              <a:t> olabilir. Uygulama, işlem yaparken ilgili müşterinin </a:t>
            </a:r>
            <a:r>
              <a:rPr lang="tr-TR" b="0" i="0" u="none" strike="noStrike" dirty="0" err="1">
                <a:solidFill>
                  <a:srgbClr val="000000"/>
                </a:solidFill>
                <a:effectLst/>
              </a:rPr>
              <a:t>DB’sine</a:t>
            </a:r>
            <a:r>
              <a:rPr lang="tr-TR" b="0" i="0" u="none" strike="noStrike" dirty="0">
                <a:solidFill>
                  <a:srgbClr val="000000"/>
                </a:solidFill>
                <a:effectLst/>
              </a:rPr>
              <a:t> bağlanır.</a:t>
            </a:r>
          </a:p>
          <a:p>
            <a:pPr lvl="1"/>
            <a:r>
              <a:rPr lang="tr-TR" sz="1800" b="1" i="1" u="none" strike="noStrike" dirty="0">
                <a:solidFill>
                  <a:srgbClr val="000000"/>
                </a:solidFill>
                <a:effectLst/>
              </a:rPr>
              <a:t>Avantajları</a:t>
            </a:r>
            <a:r>
              <a:rPr lang="tr-TR" sz="1800" b="0" i="1" u="none" strike="noStrike" dirty="0">
                <a:solidFill>
                  <a:srgbClr val="000000"/>
                </a:solidFill>
                <a:effectLst/>
              </a:rPr>
              <a:t>:</a:t>
            </a:r>
            <a:r>
              <a:rPr lang="tr-TR" sz="1800" b="0" i="0" u="none" strike="noStrike" dirty="0">
                <a:solidFill>
                  <a:srgbClr val="000000"/>
                </a:solidFill>
                <a:effectLst/>
              </a:rPr>
              <a:t> </a:t>
            </a:r>
            <a:r>
              <a:rPr lang="tr-TR" sz="1800" i="0" u="none" strike="noStrike" dirty="0">
                <a:solidFill>
                  <a:srgbClr val="000000"/>
                </a:solidFill>
                <a:effectLst/>
              </a:rPr>
              <a:t>Maksimum izolasyon </a:t>
            </a:r>
            <a:r>
              <a:rPr lang="tr-TR" sz="1800" b="0" i="0" u="none" strike="noStrike" dirty="0">
                <a:solidFill>
                  <a:srgbClr val="000000"/>
                </a:solidFill>
                <a:effectLst/>
              </a:rPr>
              <a:t>sağlar – her müşteri fiziksel olarak ayrılmış veri depolama kullanır​. Bu modelde bir müşterinin verisi veya performans kullanımı diğerini etkilemez, “gürültülü komşu” sorunu elimine edilir​. Veri sızıntısı riski en düşük olan modeldir (yanlışlıkla bile diğer </a:t>
            </a:r>
            <a:r>
              <a:rPr lang="tr-TR" sz="1800" b="0" i="0" u="none" strike="noStrike" dirty="0" err="1">
                <a:solidFill>
                  <a:srgbClr val="000000"/>
                </a:solidFill>
                <a:effectLst/>
              </a:rPr>
              <a:t>DB’den</a:t>
            </a:r>
            <a:r>
              <a:rPr lang="tr-TR" sz="1800" b="0" i="0" u="none" strike="noStrike" dirty="0">
                <a:solidFill>
                  <a:srgbClr val="000000"/>
                </a:solidFill>
                <a:effectLst/>
              </a:rPr>
              <a:t> veri çekmek normalde olmaz). Müşteri bazında özelleştirme ve bakım çok esnektir: bir müşteri için </a:t>
            </a:r>
            <a:r>
              <a:rPr lang="tr-TR" sz="1800" b="0" i="0" u="none" strike="noStrike" dirty="0" err="1">
                <a:solidFill>
                  <a:srgbClr val="000000"/>
                </a:solidFill>
                <a:effectLst/>
              </a:rPr>
              <a:t>veritabanı</a:t>
            </a:r>
            <a:r>
              <a:rPr lang="tr-TR" sz="1800" b="0" i="0" u="none" strike="noStrike" dirty="0">
                <a:solidFill>
                  <a:srgbClr val="000000"/>
                </a:solidFill>
                <a:effectLst/>
              </a:rPr>
              <a:t> seviyesi ayarlar yapabilir, dilediğinde ölçeklendirebilir veya özel bakım takvimi uygulayabilirsiniz​. Regülasyon ve </a:t>
            </a:r>
            <a:r>
              <a:rPr lang="tr-TR" sz="1800" i="0" u="none" strike="noStrike" dirty="0">
                <a:solidFill>
                  <a:srgbClr val="000000"/>
                </a:solidFill>
                <a:effectLst/>
              </a:rPr>
              <a:t>veri yerelliği </a:t>
            </a:r>
            <a:r>
              <a:rPr lang="tr-TR" sz="1800" b="0" i="0" u="none" strike="noStrike" dirty="0">
                <a:solidFill>
                  <a:srgbClr val="000000"/>
                </a:solidFill>
                <a:effectLst/>
              </a:rPr>
              <a:t>gereksinimleri kolayca karşılanır (her müşteri </a:t>
            </a:r>
            <a:r>
              <a:rPr lang="tr-TR" sz="1800" b="0" i="0" u="none" strike="noStrike" dirty="0" err="1">
                <a:solidFill>
                  <a:srgbClr val="000000"/>
                </a:solidFill>
                <a:effectLst/>
              </a:rPr>
              <a:t>veritabanını</a:t>
            </a:r>
            <a:r>
              <a:rPr lang="tr-TR" sz="1800" b="0" i="0" u="none" strike="noStrike" dirty="0">
                <a:solidFill>
                  <a:srgbClr val="000000"/>
                </a:solidFill>
                <a:effectLst/>
              </a:rPr>
              <a:t> istenen konumda tutabilir)​.</a:t>
            </a:r>
          </a:p>
          <a:p>
            <a:pPr lvl="1"/>
            <a:r>
              <a:rPr lang="tr-TR" sz="1800" b="1" i="1" u="none" strike="noStrike" dirty="0">
                <a:solidFill>
                  <a:srgbClr val="000000"/>
                </a:solidFill>
                <a:effectLst/>
              </a:rPr>
              <a:t>Dezavantajları</a:t>
            </a:r>
            <a:r>
              <a:rPr lang="tr-TR" sz="1800" b="0" i="1" u="none" strike="noStrike" dirty="0">
                <a:solidFill>
                  <a:srgbClr val="000000"/>
                </a:solidFill>
                <a:effectLst/>
              </a:rPr>
              <a:t>:</a:t>
            </a:r>
            <a:r>
              <a:rPr lang="tr-TR" sz="1800" b="0" i="0" u="none" strike="noStrike" dirty="0">
                <a:solidFill>
                  <a:srgbClr val="000000"/>
                </a:solidFill>
                <a:effectLst/>
              </a:rPr>
              <a:t> </a:t>
            </a:r>
            <a:r>
              <a:rPr lang="tr-TR" sz="1800" i="0" u="none" strike="noStrike" dirty="0">
                <a:solidFill>
                  <a:srgbClr val="000000"/>
                </a:solidFill>
                <a:effectLst/>
              </a:rPr>
              <a:t>En yüksek </a:t>
            </a:r>
            <a:r>
              <a:rPr lang="tr-TR" sz="1800" i="0" u="none" strike="noStrike" dirty="0" err="1">
                <a:solidFill>
                  <a:srgbClr val="000000"/>
                </a:solidFill>
                <a:effectLst/>
              </a:rPr>
              <a:t>operasyonel</a:t>
            </a:r>
            <a:r>
              <a:rPr lang="tr-TR" sz="1800" i="0" u="none" strike="noStrike" dirty="0">
                <a:solidFill>
                  <a:srgbClr val="000000"/>
                </a:solidFill>
                <a:effectLst/>
              </a:rPr>
              <a:t> yük </a:t>
            </a:r>
            <a:r>
              <a:rPr lang="tr-TR" sz="1800" b="0" i="0" u="none" strike="noStrike" dirty="0">
                <a:solidFill>
                  <a:srgbClr val="000000"/>
                </a:solidFill>
                <a:effectLst/>
              </a:rPr>
              <a:t>bu modelde gelir – çok sayıda küçük </a:t>
            </a:r>
            <a:r>
              <a:rPr lang="tr-TR" sz="1800" b="0" i="0" u="none" strike="noStrike" dirty="0" err="1">
                <a:solidFill>
                  <a:srgbClr val="000000"/>
                </a:solidFill>
                <a:effectLst/>
              </a:rPr>
              <a:t>veritabanını</a:t>
            </a:r>
            <a:r>
              <a:rPr lang="tr-TR" sz="1800" b="0" i="0" u="none" strike="noStrike" dirty="0">
                <a:solidFill>
                  <a:srgbClr val="000000"/>
                </a:solidFill>
                <a:effectLst/>
              </a:rPr>
              <a:t> yönetmek zorlaşır​. Örneğin 1000 müşteriniz varsa 1000 ayrı </a:t>
            </a:r>
            <a:r>
              <a:rPr lang="tr-TR" sz="1800" b="0" i="0" u="none" strike="noStrike" dirty="0" err="1">
                <a:solidFill>
                  <a:srgbClr val="000000"/>
                </a:solidFill>
                <a:effectLst/>
              </a:rPr>
              <a:t>veritabanı</a:t>
            </a:r>
            <a:r>
              <a:rPr lang="tr-TR" sz="1800" b="0" i="0" u="none" strike="noStrike" dirty="0">
                <a:solidFill>
                  <a:srgbClr val="000000"/>
                </a:solidFill>
                <a:effectLst/>
              </a:rPr>
              <a:t> için </a:t>
            </a:r>
            <a:r>
              <a:rPr lang="tr-TR" sz="1800" b="0" i="0" u="none" strike="noStrike" dirty="0" err="1">
                <a:solidFill>
                  <a:srgbClr val="000000"/>
                </a:solidFill>
                <a:effectLst/>
              </a:rPr>
              <a:t>migration</a:t>
            </a:r>
            <a:r>
              <a:rPr lang="tr-TR" sz="1800" b="0" i="0" u="none" strike="noStrike" dirty="0">
                <a:solidFill>
                  <a:srgbClr val="000000"/>
                </a:solidFill>
                <a:effectLst/>
              </a:rPr>
              <a:t> </a:t>
            </a:r>
            <a:r>
              <a:rPr lang="tr-TR" sz="1800" b="0" i="0" u="none" strike="noStrike" dirty="0" err="1">
                <a:solidFill>
                  <a:srgbClr val="000000"/>
                </a:solidFill>
                <a:effectLst/>
              </a:rPr>
              <a:t>script’i</a:t>
            </a:r>
            <a:r>
              <a:rPr lang="tr-TR" sz="1800" b="0" i="0" u="none" strike="noStrike" dirty="0">
                <a:solidFill>
                  <a:srgbClr val="000000"/>
                </a:solidFill>
                <a:effectLst/>
              </a:rPr>
              <a:t> çalıştırmanız gerekir, bu otomasyon gerektirir ve hata riski vardır​. Altyapı maliyeti de yüksektir – küçük müşterileriniz bile olsa her biri için ayrı kaynak ayırdığınızdan, kaynak kullanımında verimsizlik olabilir (çoğu küçük DB düşük kullanımda kalır ama yine de bakım ister)​. </a:t>
            </a:r>
            <a:r>
              <a:rPr lang="tr-TR" sz="1800" i="0" u="none" strike="noStrike" dirty="0">
                <a:solidFill>
                  <a:srgbClr val="000000"/>
                </a:solidFill>
                <a:effectLst/>
              </a:rPr>
              <a:t>Connection </a:t>
            </a:r>
            <a:r>
              <a:rPr lang="tr-TR" sz="1800" i="0" u="none" strike="noStrike" dirty="0" err="1">
                <a:solidFill>
                  <a:srgbClr val="000000"/>
                </a:solidFill>
                <a:effectLst/>
              </a:rPr>
              <a:t>management</a:t>
            </a:r>
            <a:r>
              <a:rPr lang="tr-TR" sz="1800" i="0" u="none" strike="noStrike" dirty="0">
                <a:solidFill>
                  <a:srgbClr val="000000"/>
                </a:solidFill>
                <a:effectLst/>
              </a:rPr>
              <a:t> </a:t>
            </a:r>
            <a:r>
              <a:rPr lang="tr-TR" sz="1800" b="0" i="0" u="none" strike="noStrike" dirty="0">
                <a:solidFill>
                  <a:srgbClr val="000000"/>
                </a:solidFill>
                <a:effectLst/>
              </a:rPr>
              <a:t>karmaşıktır: uygulama her istek geldiğinde doğru </a:t>
            </a:r>
            <a:r>
              <a:rPr lang="tr-TR" sz="1800" b="0" i="0" u="none" strike="noStrike" dirty="0" err="1">
                <a:solidFill>
                  <a:srgbClr val="000000"/>
                </a:solidFill>
                <a:effectLst/>
              </a:rPr>
              <a:t>veritabanına</a:t>
            </a:r>
            <a:r>
              <a:rPr lang="tr-TR" sz="1800" b="0" i="0" u="none" strike="noStrike" dirty="0">
                <a:solidFill>
                  <a:srgbClr val="000000"/>
                </a:solidFill>
                <a:effectLst/>
              </a:rPr>
              <a:t> bağlanmak zorundadır, bu da ek bir yönlendirme katmanı gerektirir. </a:t>
            </a:r>
            <a:r>
              <a:rPr lang="tr-TR" sz="1800" b="0" i="0" u="none" strike="noStrike" dirty="0" err="1">
                <a:solidFill>
                  <a:srgbClr val="000000"/>
                </a:solidFill>
                <a:effectLst/>
              </a:rPr>
              <a:t>Tenant</a:t>
            </a:r>
            <a:r>
              <a:rPr lang="tr-TR" sz="1800" b="0" i="0" u="none" strike="noStrike" dirty="0">
                <a:solidFill>
                  <a:srgbClr val="000000"/>
                </a:solidFill>
                <a:effectLst/>
              </a:rPr>
              <a:t> sayısı büyüdükçe sunucu yönetimi ve izleme çok emek ister.</a:t>
            </a:r>
          </a:p>
        </p:txBody>
      </p:sp>
    </p:spTree>
    <p:extLst>
      <p:ext uri="{BB962C8B-B14F-4D97-AF65-F5344CB8AC3E}">
        <p14:creationId xmlns:p14="http://schemas.microsoft.com/office/powerpoint/2010/main" val="1268623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C8248-1CCF-5AC4-7953-07C11F75BF4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C79BF17-F1EE-3E46-8675-602F0AEF5632}"/>
              </a:ext>
            </a:extLst>
          </p:cNvPr>
          <p:cNvSpPr>
            <a:spLocks noGrp="1"/>
          </p:cNvSpPr>
          <p:nvPr>
            <p:ph type="title"/>
          </p:nvPr>
        </p:nvSpPr>
        <p:spPr>
          <a:xfrm>
            <a:off x="2231136" y="272876"/>
            <a:ext cx="7729728" cy="1188720"/>
          </a:xfrm>
        </p:spPr>
        <p:txBody>
          <a:bodyPr/>
          <a:lstStyle/>
          <a:p>
            <a:r>
              <a:rPr lang="tr-TR" dirty="0"/>
              <a:t>Öneriler</a:t>
            </a:r>
          </a:p>
        </p:txBody>
      </p:sp>
      <p:sp>
        <p:nvSpPr>
          <p:cNvPr id="3" name="İçerik Yer Tutucusu 2">
            <a:extLst>
              <a:ext uri="{FF2B5EF4-FFF2-40B4-BE49-F238E27FC236}">
                <a16:creationId xmlns:a16="http://schemas.microsoft.com/office/drawing/2014/main" id="{F35AFAC2-C648-AD28-7FDF-B3557DBAF33E}"/>
              </a:ext>
            </a:extLst>
          </p:cNvPr>
          <p:cNvSpPr>
            <a:spLocks noGrp="1"/>
          </p:cNvSpPr>
          <p:nvPr>
            <p:ph idx="1"/>
          </p:nvPr>
        </p:nvSpPr>
        <p:spPr>
          <a:xfrm>
            <a:off x="2231136" y="1691519"/>
            <a:ext cx="7729728" cy="2880481"/>
          </a:xfrm>
        </p:spPr>
        <p:txBody>
          <a:bodyPr>
            <a:normAutofit/>
          </a:bodyPr>
          <a:lstStyle/>
          <a:p>
            <a:r>
              <a:rPr lang="tr-TR" b="0" i="0" u="none" strike="noStrike" dirty="0">
                <a:solidFill>
                  <a:srgbClr val="000000"/>
                </a:solidFill>
                <a:effectLst/>
                <a:latin typeface="-webkit-standard"/>
              </a:rPr>
              <a:t>Genellikle başlangıçta </a:t>
            </a:r>
            <a:r>
              <a:rPr lang="tr-TR" b="1" i="1" u="none" strike="noStrike" dirty="0" err="1">
                <a:solidFill>
                  <a:srgbClr val="000000"/>
                </a:solidFill>
                <a:effectLst/>
              </a:rPr>
              <a:t>Shared</a:t>
            </a:r>
            <a:r>
              <a:rPr lang="tr-TR" b="1" i="1" u="none" strike="noStrike" dirty="0">
                <a:solidFill>
                  <a:srgbClr val="000000"/>
                </a:solidFill>
                <a:effectLst/>
              </a:rPr>
              <a:t> Database, </a:t>
            </a:r>
            <a:r>
              <a:rPr lang="tr-TR" b="1" i="1" u="none" strike="noStrike" dirty="0" err="1">
                <a:solidFill>
                  <a:srgbClr val="000000"/>
                </a:solidFill>
                <a:effectLst/>
              </a:rPr>
              <a:t>Shared</a:t>
            </a:r>
            <a:r>
              <a:rPr lang="tr-TR" b="1" i="1" u="none" strike="noStrike" dirty="0">
                <a:solidFill>
                  <a:srgbClr val="000000"/>
                </a:solidFill>
                <a:effectLst/>
              </a:rPr>
              <a:t> </a:t>
            </a:r>
            <a:r>
              <a:rPr lang="tr-TR" b="1" i="1" u="none" strike="noStrike" dirty="0" err="1">
                <a:solidFill>
                  <a:srgbClr val="000000"/>
                </a:solidFill>
                <a:effectLst/>
              </a:rPr>
              <a:t>Schema</a:t>
            </a:r>
            <a:r>
              <a:rPr lang="tr-TR" b="1" i="0" u="none" strike="noStrike" dirty="0">
                <a:solidFill>
                  <a:srgbClr val="000000"/>
                </a:solidFill>
                <a:effectLst/>
                <a:latin typeface="-webkit-standard"/>
              </a:rPr>
              <a:t> </a:t>
            </a:r>
            <a:r>
              <a:rPr lang="tr-TR" b="0" i="0" u="none" strike="noStrike" dirty="0">
                <a:solidFill>
                  <a:srgbClr val="000000"/>
                </a:solidFill>
                <a:effectLst/>
                <a:latin typeface="-webkit-standard"/>
              </a:rPr>
              <a:t>(en basit model) ile başlamak, müşteri sayısı ve gereksinimler arttıkça izolasyonu artırmaya yönelmek önerilir​. Eğer regülasyon gereği en baştan fiziksel izolasyon şartsa doğrudan Database-</a:t>
            </a:r>
            <a:r>
              <a:rPr lang="tr-TR" b="0" i="0" u="none" strike="noStrike" dirty="0" err="1">
                <a:solidFill>
                  <a:srgbClr val="000000"/>
                </a:solidFill>
                <a:effectLst/>
                <a:latin typeface="-webkit-standard"/>
              </a:rPr>
              <a:t>per</a:t>
            </a:r>
            <a:r>
              <a:rPr lang="tr-TR" b="0" i="0" u="none" strike="noStrike" dirty="0">
                <a:solidFill>
                  <a:srgbClr val="000000"/>
                </a:solidFill>
                <a:effectLst/>
                <a:latin typeface="-webkit-standard"/>
              </a:rPr>
              <a:t>-</a:t>
            </a:r>
            <a:r>
              <a:rPr lang="tr-TR" b="0" i="0" u="none" strike="noStrike" dirty="0" err="1">
                <a:solidFill>
                  <a:srgbClr val="000000"/>
                </a:solidFill>
                <a:effectLst/>
                <a:latin typeface="-webkit-standard"/>
              </a:rPr>
              <a:t>tenant</a:t>
            </a:r>
            <a:r>
              <a:rPr lang="tr-TR" b="0" i="0" u="none" strike="noStrike" dirty="0">
                <a:solidFill>
                  <a:srgbClr val="000000"/>
                </a:solidFill>
                <a:effectLst/>
                <a:latin typeface="-webkit-standard"/>
              </a:rPr>
              <a:t> seçilebilir​. Bir de ara çözüm olarak </a:t>
            </a:r>
            <a:r>
              <a:rPr lang="tr-TR" b="0" i="1" u="none" strike="noStrike" dirty="0">
                <a:solidFill>
                  <a:srgbClr val="000000"/>
                </a:solidFill>
                <a:effectLst/>
              </a:rPr>
              <a:t>“</a:t>
            </a:r>
            <a:r>
              <a:rPr lang="tr-TR" b="0" i="1" u="none" strike="noStrike" dirty="0" err="1">
                <a:solidFill>
                  <a:srgbClr val="000000"/>
                </a:solidFill>
                <a:effectLst/>
              </a:rPr>
              <a:t>hybrid</a:t>
            </a:r>
            <a:r>
              <a:rPr lang="tr-TR" b="0" i="1" u="none" strike="noStrike" dirty="0">
                <a:solidFill>
                  <a:srgbClr val="000000"/>
                </a:solidFill>
                <a:effectLst/>
              </a:rPr>
              <a:t>”</a:t>
            </a:r>
            <a:r>
              <a:rPr lang="tr-TR" b="0" i="0" u="none" strike="noStrike" dirty="0">
                <a:solidFill>
                  <a:srgbClr val="000000"/>
                </a:solidFill>
                <a:effectLst/>
                <a:latin typeface="-webkit-standard"/>
              </a:rPr>
              <a:t>: büyük müşterilere ayrı </a:t>
            </a:r>
            <a:r>
              <a:rPr lang="tr-TR" b="0" i="0" u="none" strike="noStrike" dirty="0" err="1">
                <a:solidFill>
                  <a:srgbClr val="000000"/>
                </a:solidFill>
                <a:effectLst/>
                <a:latin typeface="-webkit-standard"/>
              </a:rPr>
              <a:t>database</a:t>
            </a:r>
            <a:r>
              <a:rPr lang="tr-TR" b="0" i="0" u="none" strike="noStrike" dirty="0">
                <a:solidFill>
                  <a:srgbClr val="000000"/>
                </a:solidFill>
                <a:effectLst/>
                <a:latin typeface="-webkit-standard"/>
              </a:rPr>
              <a:t>, orta ölçeklilere ayrı </a:t>
            </a:r>
            <a:r>
              <a:rPr lang="tr-TR" b="0" i="0" u="none" strike="noStrike" dirty="0" err="1">
                <a:solidFill>
                  <a:srgbClr val="000000"/>
                </a:solidFill>
                <a:effectLst/>
                <a:latin typeface="-webkit-standard"/>
              </a:rPr>
              <a:t>schema</a:t>
            </a:r>
            <a:r>
              <a:rPr lang="tr-TR" b="0" i="0" u="none" strike="noStrike" dirty="0">
                <a:solidFill>
                  <a:srgbClr val="000000"/>
                </a:solidFill>
                <a:effectLst/>
                <a:latin typeface="-webkit-standard"/>
              </a:rPr>
              <a:t>, küçükler ortak tablo gibi bir kombinasyon da uygulanabilir​. Ancak bu karmaşık olacağından dikkatle yönetilmelidir. Özetle, </a:t>
            </a:r>
            <a:r>
              <a:rPr lang="tr-TR" i="0" u="none" strike="noStrike" dirty="0">
                <a:solidFill>
                  <a:srgbClr val="000000"/>
                </a:solidFill>
                <a:effectLst/>
              </a:rPr>
              <a:t>güvenlik/uyumluluk ihtiyacı ve operasyon maliyeti</a:t>
            </a:r>
            <a:r>
              <a:rPr lang="tr-TR" b="0" i="0" u="none" strike="noStrike" dirty="0">
                <a:solidFill>
                  <a:srgbClr val="000000"/>
                </a:solidFill>
                <a:effectLst/>
                <a:latin typeface="-webkit-standard"/>
              </a:rPr>
              <a:t> dengesine göre uygun strateji seçilmelidir.</a:t>
            </a:r>
            <a:endParaRPr lang="tr-TR" b="0" i="0" u="none" strike="noStrike" dirty="0">
              <a:solidFill>
                <a:srgbClr val="000000"/>
              </a:solidFill>
              <a:effectLst/>
            </a:endParaRPr>
          </a:p>
        </p:txBody>
      </p:sp>
    </p:spTree>
    <p:extLst>
      <p:ext uri="{BB962C8B-B14F-4D97-AF65-F5344CB8AC3E}">
        <p14:creationId xmlns:p14="http://schemas.microsoft.com/office/powerpoint/2010/main" val="3169069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1934-E75D-3A0F-B04B-A90001BF292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5A6FF07-91F3-027E-197F-C04DD5467FF5}"/>
              </a:ext>
            </a:extLst>
          </p:cNvPr>
          <p:cNvSpPr>
            <a:spLocks noGrp="1"/>
          </p:cNvSpPr>
          <p:nvPr>
            <p:ph type="title"/>
          </p:nvPr>
        </p:nvSpPr>
        <p:spPr>
          <a:xfrm>
            <a:off x="2231136" y="272876"/>
            <a:ext cx="7729728" cy="1188720"/>
          </a:xfrm>
        </p:spPr>
        <p:txBody>
          <a:bodyPr/>
          <a:lstStyle/>
          <a:p>
            <a:r>
              <a:rPr lang="tr-TR" dirty="0" err="1"/>
              <a:t>ımplementasyon</a:t>
            </a:r>
            <a:endParaRPr lang="tr-TR" dirty="0"/>
          </a:p>
        </p:txBody>
      </p:sp>
      <p:sp>
        <p:nvSpPr>
          <p:cNvPr id="3" name="İçerik Yer Tutucusu 2">
            <a:extLst>
              <a:ext uri="{FF2B5EF4-FFF2-40B4-BE49-F238E27FC236}">
                <a16:creationId xmlns:a16="http://schemas.microsoft.com/office/drawing/2014/main" id="{CA48F7BB-BDE2-9EBF-DF5B-224C14AE18A1}"/>
              </a:ext>
            </a:extLst>
          </p:cNvPr>
          <p:cNvSpPr>
            <a:spLocks noGrp="1"/>
          </p:cNvSpPr>
          <p:nvPr>
            <p:ph idx="1"/>
          </p:nvPr>
        </p:nvSpPr>
        <p:spPr>
          <a:xfrm>
            <a:off x="2231136" y="1691519"/>
            <a:ext cx="7729728" cy="2880481"/>
          </a:xfrm>
        </p:spPr>
        <p:txBody>
          <a:bodyPr>
            <a:normAutofit/>
          </a:bodyPr>
          <a:lstStyle/>
          <a:p>
            <a:r>
              <a:rPr lang="tr-TR" b="0" i="0" u="none" strike="noStrike" dirty="0">
                <a:solidFill>
                  <a:srgbClr val="000000"/>
                </a:solidFill>
                <a:effectLst/>
                <a:latin typeface="Gill Sans MT" panose="020B0502020104020203" pitchFamily="34" charset="0"/>
              </a:rPr>
              <a:t>Spring </a:t>
            </a:r>
            <a:r>
              <a:rPr lang="tr-TR" b="0" i="0" u="none" strike="noStrike" dirty="0" err="1">
                <a:solidFill>
                  <a:srgbClr val="000000"/>
                </a:solidFill>
                <a:effectLst/>
                <a:latin typeface="Gill Sans MT" panose="020B0502020104020203" pitchFamily="34" charset="0"/>
              </a:rPr>
              <a:t>Boot</a:t>
            </a:r>
            <a:r>
              <a:rPr lang="tr-TR" b="0" i="0" u="none" strike="noStrike" dirty="0">
                <a:solidFill>
                  <a:srgbClr val="000000"/>
                </a:solidFill>
                <a:effectLst/>
                <a:latin typeface="Gill Sans MT" panose="020B0502020104020203" pitchFamily="34" charset="0"/>
              </a:rPr>
              <a:t> + </a:t>
            </a:r>
            <a:r>
              <a:rPr lang="tr-TR" b="0" i="0" u="none" strike="noStrike" dirty="0" err="1">
                <a:solidFill>
                  <a:srgbClr val="000000"/>
                </a:solidFill>
                <a:effectLst/>
                <a:latin typeface="Gill Sans MT" panose="020B0502020104020203" pitchFamily="34" charset="0"/>
              </a:rPr>
              <a:t>Hibernate</a:t>
            </a:r>
            <a:r>
              <a:rPr lang="tr-TR" b="0" i="0" u="none" strike="noStrike" dirty="0">
                <a:solidFill>
                  <a:srgbClr val="000000"/>
                </a:solidFill>
                <a:effectLst/>
                <a:latin typeface="Gill Sans MT" panose="020B0502020104020203" pitchFamily="34" charset="0"/>
              </a:rPr>
              <a:t>, </a:t>
            </a:r>
            <a:r>
              <a:rPr lang="tr-TR" b="0" i="0" u="none" strike="noStrike" dirty="0" err="1">
                <a:solidFill>
                  <a:srgbClr val="000000"/>
                </a:solidFill>
                <a:effectLst/>
                <a:latin typeface="Gill Sans MT" panose="020B0502020104020203" pitchFamily="34" charset="0"/>
              </a:rPr>
              <a:t>multi-tenant</a:t>
            </a:r>
            <a:r>
              <a:rPr lang="tr-TR" b="0" i="0" u="none" strike="noStrike" dirty="0">
                <a:solidFill>
                  <a:srgbClr val="000000"/>
                </a:solidFill>
                <a:effectLst/>
                <a:latin typeface="Gill Sans MT" panose="020B0502020104020203" pitchFamily="34" charset="0"/>
              </a:rPr>
              <a:t> </a:t>
            </a:r>
            <a:r>
              <a:rPr lang="tr-TR" b="0" i="0" u="none" strike="noStrike" dirty="0" err="1">
                <a:solidFill>
                  <a:srgbClr val="000000"/>
                </a:solidFill>
                <a:effectLst/>
                <a:latin typeface="Gill Sans MT" panose="020B0502020104020203" pitchFamily="34" charset="0"/>
              </a:rPr>
              <a:t>veritabanı</a:t>
            </a:r>
            <a:r>
              <a:rPr lang="tr-TR" b="0" i="0" u="none" strike="noStrike" dirty="0">
                <a:solidFill>
                  <a:srgbClr val="000000"/>
                </a:solidFill>
                <a:effectLst/>
                <a:latin typeface="Gill Sans MT" panose="020B0502020104020203" pitchFamily="34" charset="0"/>
              </a:rPr>
              <a:t> stratejilerini desteklemek için esnek araçlar sunar. </a:t>
            </a:r>
            <a:r>
              <a:rPr lang="tr-TR" b="0" i="0" u="none" strike="noStrike" dirty="0" err="1">
                <a:solidFill>
                  <a:srgbClr val="000000"/>
                </a:solidFill>
                <a:effectLst/>
                <a:latin typeface="Gill Sans MT" panose="020B0502020104020203" pitchFamily="34" charset="0"/>
              </a:rPr>
              <a:t>Hibernate</a:t>
            </a:r>
            <a:r>
              <a:rPr lang="tr-TR" b="0" i="0" u="none" strike="noStrike" dirty="0">
                <a:solidFill>
                  <a:srgbClr val="000000"/>
                </a:solidFill>
                <a:effectLst/>
                <a:latin typeface="Gill Sans MT" panose="020B0502020104020203" pitchFamily="34" charset="0"/>
              </a:rPr>
              <a:t> 5+ ile gelen </a:t>
            </a:r>
            <a:r>
              <a:rPr lang="tr-TR" b="0" i="0" u="none" strike="noStrike" dirty="0" err="1">
                <a:solidFill>
                  <a:srgbClr val="000000"/>
                </a:solidFill>
                <a:effectLst/>
                <a:latin typeface="Gill Sans MT" panose="020B0502020104020203" pitchFamily="34" charset="0"/>
              </a:rPr>
              <a:t>multi-tenancy</a:t>
            </a:r>
            <a:r>
              <a:rPr lang="tr-TR" b="0" i="0" u="none" strike="noStrike" dirty="0">
                <a:solidFill>
                  <a:srgbClr val="000000"/>
                </a:solidFill>
                <a:effectLst/>
                <a:latin typeface="Gill Sans MT" panose="020B0502020104020203" pitchFamily="34" charset="0"/>
              </a:rPr>
              <a:t> özelliği üç stratejiyi de içerir.</a:t>
            </a:r>
          </a:p>
          <a:p>
            <a:r>
              <a:rPr lang="tr-TR" dirty="0" err="1">
                <a:solidFill>
                  <a:srgbClr val="000000"/>
                </a:solidFill>
                <a:latin typeface="Gill Sans MT" panose="020B0502020104020203" pitchFamily="34" charset="0"/>
              </a:rPr>
              <a:t>Multitenant</a:t>
            </a:r>
            <a:r>
              <a:rPr lang="tr-TR" dirty="0">
                <a:solidFill>
                  <a:srgbClr val="000000"/>
                </a:solidFill>
                <a:latin typeface="Gill Sans MT" panose="020B0502020104020203" pitchFamily="34" charset="0"/>
              </a:rPr>
              <a:t> bir uygulama için, basit olarak üç aşama gerekir:</a:t>
            </a:r>
          </a:p>
          <a:p>
            <a:pPr lvl="1"/>
            <a:r>
              <a:rPr lang="tr-TR" sz="1800" b="0" i="0" u="none" strike="noStrike" dirty="0">
                <a:solidFill>
                  <a:srgbClr val="000000"/>
                </a:solidFill>
                <a:effectLst/>
                <a:latin typeface="Gill Sans MT" panose="020B0502020104020203" pitchFamily="34" charset="0"/>
              </a:rPr>
              <a:t>Gelen istekten </a:t>
            </a:r>
            <a:r>
              <a:rPr lang="tr-TR" sz="1800" b="0" i="0" u="none" strike="noStrike" dirty="0" err="1">
                <a:solidFill>
                  <a:srgbClr val="000000"/>
                </a:solidFill>
                <a:effectLst/>
                <a:latin typeface="Gill Sans MT" panose="020B0502020104020203" pitchFamily="34" charset="0"/>
              </a:rPr>
              <a:t>tenant</a:t>
            </a:r>
            <a:r>
              <a:rPr lang="tr-TR" sz="1800" b="0" i="0" u="none" strike="noStrike" dirty="0">
                <a:solidFill>
                  <a:srgbClr val="000000"/>
                </a:solidFill>
                <a:effectLst/>
                <a:latin typeface="Gill Sans MT" panose="020B0502020104020203" pitchFamily="34" charset="0"/>
              </a:rPr>
              <a:t> kimliği belirleme.</a:t>
            </a:r>
          </a:p>
          <a:p>
            <a:pPr lvl="1"/>
            <a:r>
              <a:rPr lang="tr-TR" sz="1800" dirty="0" err="1">
                <a:solidFill>
                  <a:srgbClr val="000000"/>
                </a:solidFill>
                <a:latin typeface="Gill Sans MT" panose="020B0502020104020203" pitchFamily="34" charset="0"/>
              </a:rPr>
              <a:t>Tenant</a:t>
            </a:r>
            <a:r>
              <a:rPr lang="tr-TR" sz="1800" dirty="0">
                <a:solidFill>
                  <a:srgbClr val="000000"/>
                </a:solidFill>
                <a:latin typeface="Gill Sans MT" panose="020B0502020104020203" pitchFamily="34" charset="0"/>
              </a:rPr>
              <a:t> kimliğini işlem bitene kadar ulaşılabilir kılma.</a:t>
            </a:r>
          </a:p>
          <a:p>
            <a:pPr lvl="1"/>
            <a:r>
              <a:rPr lang="tr-TR" sz="1800" b="0" i="0" u="none" strike="noStrike" dirty="0" err="1">
                <a:solidFill>
                  <a:srgbClr val="000000"/>
                </a:solidFill>
                <a:effectLst/>
                <a:latin typeface="Gill Sans MT" panose="020B0502020104020203" pitchFamily="34" charset="0"/>
              </a:rPr>
              <a:t>Veritabanı</a:t>
            </a:r>
            <a:r>
              <a:rPr lang="tr-TR" sz="1800" b="0" i="0" u="none" strike="noStrike" dirty="0">
                <a:solidFill>
                  <a:srgbClr val="000000"/>
                </a:solidFill>
                <a:effectLst/>
                <a:latin typeface="Gill Sans MT" panose="020B0502020104020203" pitchFamily="34" charset="0"/>
              </a:rPr>
              <a:t> yapılandırması.</a:t>
            </a:r>
          </a:p>
        </p:txBody>
      </p:sp>
    </p:spTree>
    <p:extLst>
      <p:ext uri="{BB962C8B-B14F-4D97-AF65-F5344CB8AC3E}">
        <p14:creationId xmlns:p14="http://schemas.microsoft.com/office/powerpoint/2010/main" val="1916305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ACAFD-15B4-6112-19EB-CE06902DFFC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EE66E79-F9D7-C1F2-447B-0F4A59EA58BC}"/>
              </a:ext>
            </a:extLst>
          </p:cNvPr>
          <p:cNvSpPr>
            <a:spLocks noGrp="1"/>
          </p:cNvSpPr>
          <p:nvPr>
            <p:ph type="title"/>
          </p:nvPr>
        </p:nvSpPr>
        <p:spPr>
          <a:xfrm>
            <a:off x="2231136" y="272876"/>
            <a:ext cx="7729728" cy="1188720"/>
          </a:xfrm>
        </p:spPr>
        <p:txBody>
          <a:bodyPr/>
          <a:lstStyle/>
          <a:p>
            <a:r>
              <a:rPr lang="tr-TR" dirty="0"/>
              <a:t>1. </a:t>
            </a:r>
            <a:r>
              <a:rPr lang="tr-TR" dirty="0" err="1"/>
              <a:t>Tenant</a:t>
            </a:r>
            <a:r>
              <a:rPr lang="tr-TR" dirty="0"/>
              <a:t> kimliğinin belirlenmesi</a:t>
            </a:r>
          </a:p>
        </p:txBody>
      </p:sp>
      <p:sp>
        <p:nvSpPr>
          <p:cNvPr id="3" name="İçerik Yer Tutucusu 2">
            <a:extLst>
              <a:ext uri="{FF2B5EF4-FFF2-40B4-BE49-F238E27FC236}">
                <a16:creationId xmlns:a16="http://schemas.microsoft.com/office/drawing/2014/main" id="{9077A3EA-3EF4-F626-D034-CB5300E49DE0}"/>
              </a:ext>
            </a:extLst>
          </p:cNvPr>
          <p:cNvSpPr>
            <a:spLocks noGrp="1"/>
          </p:cNvSpPr>
          <p:nvPr>
            <p:ph idx="1"/>
          </p:nvPr>
        </p:nvSpPr>
        <p:spPr>
          <a:xfrm>
            <a:off x="1653981" y="1787772"/>
            <a:ext cx="8884038" cy="3512139"/>
          </a:xfrm>
        </p:spPr>
        <p:txBody>
          <a:bodyPr>
            <a:noAutofit/>
          </a:bodyPr>
          <a:lstStyle/>
          <a:p>
            <a:r>
              <a:rPr lang="tr-TR" b="0" i="0" u="none" strike="noStrike" dirty="0">
                <a:solidFill>
                  <a:srgbClr val="000000"/>
                </a:solidFill>
                <a:effectLst/>
              </a:rPr>
              <a:t>İlk adım, gelen bir isteğin hangi </a:t>
            </a:r>
            <a:r>
              <a:rPr lang="tr-TR" b="0" i="0" u="none" strike="noStrike" dirty="0" err="1">
                <a:solidFill>
                  <a:srgbClr val="000000"/>
                </a:solidFill>
                <a:effectLst/>
              </a:rPr>
              <a:t>tenant’a</a:t>
            </a:r>
            <a:r>
              <a:rPr lang="tr-TR" b="0" i="0" u="none" strike="noStrike" dirty="0">
                <a:solidFill>
                  <a:srgbClr val="000000"/>
                </a:solidFill>
                <a:effectLst/>
              </a:rPr>
              <a:t> ait olduğunu saptamaktır. Uygulamanız birden fazla müşteriye hizmet verdiği için, her istekte </a:t>
            </a:r>
            <a:r>
              <a:rPr lang="tr-TR" b="0" i="1" u="none" strike="noStrike" dirty="0">
                <a:solidFill>
                  <a:srgbClr val="000000"/>
                </a:solidFill>
                <a:effectLst/>
              </a:rPr>
              <a:t>“bu istek X müşterisine ait”</a:t>
            </a:r>
            <a:r>
              <a:rPr lang="tr-TR" b="0" i="0" u="none" strike="noStrike" dirty="0">
                <a:solidFill>
                  <a:srgbClr val="000000"/>
                </a:solidFill>
                <a:effectLst/>
              </a:rPr>
              <a:t> diyebilmelisiniz. Bunu başarmak için birkaç yaygın yöntem vardır</a:t>
            </a:r>
          </a:p>
          <a:p>
            <a:pPr algn="l">
              <a:buFont typeface="Arial" panose="020B0604020202020204" pitchFamily="34" charset="0"/>
              <a:buChar char="•"/>
            </a:pPr>
            <a:r>
              <a:rPr lang="tr-TR" b="1" i="0" u="none" strike="noStrike" dirty="0">
                <a:solidFill>
                  <a:srgbClr val="000000"/>
                </a:solidFill>
                <a:effectLst/>
              </a:rPr>
              <a:t>URL/</a:t>
            </a:r>
            <a:r>
              <a:rPr lang="tr-TR" b="1" i="0" u="none" strike="noStrike" dirty="0" err="1">
                <a:solidFill>
                  <a:srgbClr val="000000"/>
                </a:solidFill>
                <a:effectLst/>
              </a:rPr>
              <a:t>Subdomain</a:t>
            </a:r>
            <a:r>
              <a:rPr lang="tr-TR" b="1" i="0" u="none" strike="noStrike" dirty="0">
                <a:solidFill>
                  <a:srgbClr val="000000"/>
                </a:solidFill>
                <a:effectLst/>
              </a:rPr>
              <a:t> Bazlı:</a:t>
            </a:r>
            <a:r>
              <a:rPr lang="tr-TR" b="0" i="0" u="none" strike="noStrike" dirty="0">
                <a:solidFill>
                  <a:srgbClr val="000000"/>
                </a:solidFill>
                <a:effectLst/>
              </a:rPr>
              <a:t> Her müşteriye özel bir alt alan adı veya URL yolu kullanmak. Örneğin, musteri1.example.com ve musteri2.example.com gibi farklı </a:t>
            </a:r>
            <a:r>
              <a:rPr lang="tr-TR" b="0" i="0" u="none" strike="noStrike" dirty="0" err="1">
                <a:solidFill>
                  <a:srgbClr val="000000"/>
                </a:solidFill>
                <a:effectLst/>
              </a:rPr>
              <a:t>subdomain’ler</a:t>
            </a:r>
            <a:r>
              <a:rPr lang="tr-TR" b="0" i="0" u="none" strike="noStrike" dirty="0">
                <a:solidFill>
                  <a:srgbClr val="000000"/>
                </a:solidFill>
                <a:effectLst/>
              </a:rPr>
              <a:t> üzerinden gelen isteklerde, domain bilgisinden </a:t>
            </a:r>
            <a:r>
              <a:rPr lang="tr-TR" b="0" i="0" u="none" strike="noStrike" dirty="0" err="1">
                <a:solidFill>
                  <a:srgbClr val="000000"/>
                </a:solidFill>
                <a:effectLst/>
              </a:rPr>
              <a:t>tenant</a:t>
            </a:r>
            <a:r>
              <a:rPr lang="tr-TR" b="0" i="0" u="none" strike="noStrike" dirty="0">
                <a:solidFill>
                  <a:srgbClr val="000000"/>
                </a:solidFill>
                <a:effectLst/>
              </a:rPr>
              <a:t> ayrımı yapılabilir. Veya URL </a:t>
            </a:r>
            <a:r>
              <a:rPr lang="tr-TR" b="0" i="0" u="none" strike="noStrike" dirty="0" err="1">
                <a:solidFill>
                  <a:srgbClr val="000000"/>
                </a:solidFill>
                <a:effectLst/>
              </a:rPr>
              <a:t>path’ine</a:t>
            </a:r>
            <a:r>
              <a:rPr lang="tr-TR" b="0" i="0" u="none" strike="noStrike" dirty="0">
                <a:solidFill>
                  <a:srgbClr val="000000"/>
                </a:solidFill>
                <a:effectLst/>
              </a:rPr>
              <a:t> /</a:t>
            </a:r>
            <a:r>
              <a:rPr lang="tr-TR" b="0" i="0" u="none" strike="noStrike" dirty="0" err="1">
                <a:solidFill>
                  <a:srgbClr val="000000"/>
                </a:solidFill>
                <a:effectLst/>
              </a:rPr>
              <a:t>tenant</a:t>
            </a:r>
            <a:r>
              <a:rPr lang="tr-TR" b="0" i="0" u="none" strike="noStrike" dirty="0">
                <a:solidFill>
                  <a:srgbClr val="000000"/>
                </a:solidFill>
                <a:effectLst/>
              </a:rPr>
              <a:t>/{</a:t>
            </a:r>
            <a:r>
              <a:rPr lang="tr-TR" b="0" i="0" u="none" strike="noStrike" dirty="0" err="1">
                <a:solidFill>
                  <a:srgbClr val="000000"/>
                </a:solidFill>
                <a:effectLst/>
              </a:rPr>
              <a:t>id</a:t>
            </a:r>
            <a:r>
              <a:rPr lang="tr-TR" b="0" i="0" u="none" strike="noStrike" dirty="0">
                <a:solidFill>
                  <a:srgbClr val="000000"/>
                </a:solidFill>
                <a:effectLst/>
              </a:rPr>
              <a:t>}/... şeklinde bir </a:t>
            </a:r>
            <a:r>
              <a:rPr lang="tr-TR" b="0" i="0" u="none" strike="noStrike" dirty="0" err="1">
                <a:solidFill>
                  <a:srgbClr val="000000"/>
                </a:solidFill>
                <a:effectLst/>
              </a:rPr>
              <a:t>prefix</a:t>
            </a:r>
            <a:r>
              <a:rPr lang="tr-TR" b="0" i="0" u="none" strike="noStrike" dirty="0">
                <a:solidFill>
                  <a:srgbClr val="000000"/>
                </a:solidFill>
                <a:effectLst/>
              </a:rPr>
              <a:t> koyarak da ayrım sağlanabilir.</a:t>
            </a:r>
          </a:p>
          <a:p>
            <a:pPr algn="l">
              <a:buFont typeface="Arial" panose="020B0604020202020204" pitchFamily="34" charset="0"/>
              <a:buChar char="•"/>
            </a:pPr>
            <a:r>
              <a:rPr lang="tr-TR" b="1" i="0" u="none" strike="noStrike" dirty="0">
                <a:solidFill>
                  <a:srgbClr val="000000"/>
                </a:solidFill>
                <a:effectLst/>
              </a:rPr>
              <a:t>Query Parametresi:</a:t>
            </a:r>
            <a:r>
              <a:rPr lang="tr-TR" b="0" i="0" u="none" strike="noStrike" dirty="0">
                <a:solidFill>
                  <a:srgbClr val="000000"/>
                </a:solidFill>
                <a:effectLst/>
              </a:rPr>
              <a:t> İstek URL’ine bir </a:t>
            </a:r>
            <a:r>
              <a:rPr lang="tr-TR" b="0" i="0" u="none" strike="noStrike" dirty="0" err="1">
                <a:solidFill>
                  <a:srgbClr val="000000"/>
                </a:solidFill>
                <a:effectLst/>
              </a:rPr>
              <a:t>query</a:t>
            </a:r>
            <a:r>
              <a:rPr lang="tr-TR" b="0" i="0" u="none" strike="noStrike" dirty="0">
                <a:solidFill>
                  <a:srgbClr val="000000"/>
                </a:solidFill>
                <a:effectLst/>
              </a:rPr>
              <a:t> </a:t>
            </a:r>
            <a:r>
              <a:rPr lang="tr-TR" b="0" i="0" u="none" strike="noStrike" dirty="0" err="1">
                <a:solidFill>
                  <a:srgbClr val="000000"/>
                </a:solidFill>
                <a:effectLst/>
              </a:rPr>
              <a:t>string</a:t>
            </a:r>
            <a:r>
              <a:rPr lang="tr-TR" b="0" i="0" u="none" strike="noStrike" dirty="0">
                <a:solidFill>
                  <a:srgbClr val="000000"/>
                </a:solidFill>
                <a:effectLst/>
              </a:rPr>
              <a:t> parametresi eklemek. Örneğin GET /</a:t>
            </a:r>
            <a:r>
              <a:rPr lang="tr-TR" b="0" i="0" u="none" strike="noStrike" dirty="0" err="1">
                <a:solidFill>
                  <a:srgbClr val="000000"/>
                </a:solidFill>
                <a:effectLst/>
              </a:rPr>
              <a:t>api</a:t>
            </a:r>
            <a:r>
              <a:rPr lang="tr-TR" b="0" i="0" u="none" strike="noStrike" dirty="0">
                <a:solidFill>
                  <a:srgbClr val="000000"/>
                </a:solidFill>
                <a:effectLst/>
              </a:rPr>
              <a:t>/</a:t>
            </a:r>
            <a:r>
              <a:rPr lang="tr-TR" b="0" i="0" u="none" strike="noStrike" dirty="0" err="1">
                <a:solidFill>
                  <a:srgbClr val="000000"/>
                </a:solidFill>
                <a:effectLst/>
              </a:rPr>
              <a:t>orders?tenantId</a:t>
            </a:r>
            <a:r>
              <a:rPr lang="tr-TR" b="0" i="0" u="none" strike="noStrike" dirty="0">
                <a:solidFill>
                  <a:srgbClr val="000000"/>
                </a:solidFill>
                <a:effectLst/>
              </a:rPr>
              <a:t>=5gibi bir istekten </a:t>
            </a:r>
            <a:r>
              <a:rPr lang="tr-TR" b="0" i="0" u="none" strike="noStrike" dirty="0" err="1">
                <a:solidFill>
                  <a:srgbClr val="000000"/>
                </a:solidFill>
                <a:effectLst/>
              </a:rPr>
              <a:t>tenant</a:t>
            </a:r>
            <a:r>
              <a:rPr lang="tr-TR" b="0" i="0" u="none" strike="noStrike" dirty="0">
                <a:solidFill>
                  <a:srgbClr val="000000"/>
                </a:solidFill>
                <a:effectLst/>
              </a:rPr>
              <a:t> = 5 olduğu anlaşılabilir​. Bu yöntem basit olmakla birlikte, her istekte parametre geçme zorunluluğu olduğu için ve URL'lerin kiracı bilgisini taşıması pek güvenli olmadığı için sık tercih edilmez.</a:t>
            </a:r>
          </a:p>
          <a:p>
            <a:pPr algn="l">
              <a:buFont typeface="Arial" panose="020B0604020202020204" pitchFamily="34" charset="0"/>
              <a:buChar char="•"/>
            </a:pPr>
            <a:endParaRPr lang="tr-TR" b="0" i="0" u="none" strike="noStrike" dirty="0">
              <a:solidFill>
                <a:srgbClr val="000000"/>
              </a:solidFill>
              <a:effectLst/>
            </a:endParaRPr>
          </a:p>
        </p:txBody>
      </p:sp>
    </p:spTree>
    <p:extLst>
      <p:ext uri="{BB962C8B-B14F-4D97-AF65-F5344CB8AC3E}">
        <p14:creationId xmlns:p14="http://schemas.microsoft.com/office/powerpoint/2010/main" val="912070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1568-DC87-F196-043A-7B80E0CEC16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90230C9-3AC3-14D7-77AC-94403FA78BE4}"/>
              </a:ext>
            </a:extLst>
          </p:cNvPr>
          <p:cNvSpPr>
            <a:spLocks noGrp="1"/>
          </p:cNvSpPr>
          <p:nvPr>
            <p:ph type="title"/>
          </p:nvPr>
        </p:nvSpPr>
        <p:spPr>
          <a:xfrm>
            <a:off x="2231136" y="272876"/>
            <a:ext cx="7729728" cy="1188720"/>
          </a:xfrm>
        </p:spPr>
        <p:txBody>
          <a:bodyPr/>
          <a:lstStyle/>
          <a:p>
            <a:r>
              <a:rPr lang="tr-TR" dirty="0"/>
              <a:t>1. </a:t>
            </a:r>
            <a:r>
              <a:rPr lang="tr-TR" dirty="0" err="1"/>
              <a:t>Tenant</a:t>
            </a:r>
            <a:r>
              <a:rPr lang="tr-TR" dirty="0"/>
              <a:t> kimliğinin belirlenmesi</a:t>
            </a:r>
          </a:p>
        </p:txBody>
      </p:sp>
      <p:sp>
        <p:nvSpPr>
          <p:cNvPr id="3" name="İçerik Yer Tutucusu 2">
            <a:extLst>
              <a:ext uri="{FF2B5EF4-FFF2-40B4-BE49-F238E27FC236}">
                <a16:creationId xmlns:a16="http://schemas.microsoft.com/office/drawing/2014/main" id="{4E676BF1-637F-21B3-A0C3-654BA9717D14}"/>
              </a:ext>
            </a:extLst>
          </p:cNvPr>
          <p:cNvSpPr>
            <a:spLocks noGrp="1"/>
          </p:cNvSpPr>
          <p:nvPr>
            <p:ph idx="1"/>
          </p:nvPr>
        </p:nvSpPr>
        <p:spPr>
          <a:xfrm>
            <a:off x="1653981" y="1787772"/>
            <a:ext cx="8884038" cy="4179891"/>
          </a:xfrm>
        </p:spPr>
        <p:txBody>
          <a:bodyPr>
            <a:noAutofit/>
          </a:bodyPr>
          <a:lstStyle/>
          <a:p>
            <a:r>
              <a:rPr lang="tr-TR" b="1" dirty="0"/>
              <a:t>HTTP </a:t>
            </a:r>
            <a:r>
              <a:rPr lang="tr-TR" b="1" dirty="0" err="1"/>
              <a:t>Header</a:t>
            </a:r>
            <a:r>
              <a:rPr lang="tr-TR" b="1" dirty="0"/>
              <a:t>:</a:t>
            </a:r>
            <a:r>
              <a:rPr lang="tr-TR" dirty="0"/>
              <a:t> İsteklerde özel bir </a:t>
            </a:r>
            <a:r>
              <a:rPr lang="tr-TR" dirty="0" err="1"/>
              <a:t>header</a:t>
            </a:r>
            <a:r>
              <a:rPr lang="tr-TR" dirty="0"/>
              <a:t> kullanmak. Örneğin X-</a:t>
            </a:r>
            <a:r>
              <a:rPr lang="tr-TR" dirty="0" err="1"/>
              <a:t>Tenant</a:t>
            </a:r>
            <a:r>
              <a:rPr lang="tr-TR" dirty="0"/>
              <a:t>-ID: 5 şeklinde bir </a:t>
            </a:r>
            <a:r>
              <a:rPr lang="tr-TR" dirty="0" err="1"/>
              <a:t>header</a:t>
            </a:r>
            <a:r>
              <a:rPr lang="tr-TR" dirty="0"/>
              <a:t> ile hangi </a:t>
            </a:r>
            <a:r>
              <a:rPr lang="tr-TR" dirty="0" err="1"/>
              <a:t>tenant</a:t>
            </a:r>
            <a:r>
              <a:rPr lang="tr-TR" dirty="0"/>
              <a:t> olduğu belirtilir​. Bu yöntem genellikle dahili servis haberleşmelerinde kullanılabilir; dış istemciler için </a:t>
            </a:r>
            <a:r>
              <a:rPr lang="tr-TR" dirty="0" err="1"/>
              <a:t>header</a:t>
            </a:r>
            <a:r>
              <a:rPr lang="tr-TR" dirty="0"/>
              <a:t> manipülasyonu zor olabileceğinden alt alan adı yöntemi daha çok tercih edilir.</a:t>
            </a:r>
          </a:p>
          <a:p>
            <a:r>
              <a:rPr lang="tr-TR" b="1" dirty="0"/>
              <a:t>JWT </a:t>
            </a:r>
            <a:r>
              <a:rPr lang="tr-TR" b="1" dirty="0" err="1"/>
              <a:t>Claims</a:t>
            </a:r>
            <a:r>
              <a:rPr lang="tr-TR" b="1" dirty="0"/>
              <a:t> (Oturum Bilgisi):</a:t>
            </a:r>
            <a:r>
              <a:rPr lang="tr-TR" dirty="0"/>
              <a:t> Kullanıcı oturum açtıktan sonra verilen JWT içinde </a:t>
            </a:r>
            <a:r>
              <a:rPr lang="tr-TR" dirty="0" err="1"/>
              <a:t>tenant</a:t>
            </a:r>
            <a:r>
              <a:rPr lang="tr-TR" dirty="0"/>
              <a:t> bilgisini bir </a:t>
            </a:r>
            <a:r>
              <a:rPr lang="tr-TR" dirty="0" err="1"/>
              <a:t>claim</a:t>
            </a:r>
            <a:r>
              <a:rPr lang="tr-TR" dirty="0"/>
              <a:t> olarak tutmak ve sonraki isteklerde </a:t>
            </a:r>
            <a:r>
              <a:rPr lang="tr-TR" dirty="0" err="1"/>
              <a:t>JWT’den</a:t>
            </a:r>
            <a:r>
              <a:rPr lang="tr-TR" dirty="0"/>
              <a:t> bu bilgiyi okumak. Bu, günümüzde en yaygın kullanılan yöntemdir​. </a:t>
            </a:r>
            <a:r>
              <a:rPr lang="tr-TR" dirty="0" err="1"/>
              <a:t>Token</a:t>
            </a:r>
            <a:r>
              <a:rPr lang="tr-TR" dirty="0"/>
              <a:t> üzerinde taşındığı için ekstra bir parametre ya da </a:t>
            </a:r>
            <a:r>
              <a:rPr lang="tr-TR" dirty="0" err="1"/>
              <a:t>subdomain</a:t>
            </a:r>
            <a:r>
              <a:rPr lang="tr-TR" dirty="0"/>
              <a:t> yönetimine gerek kalmaz, her istekte zaten gönderilen </a:t>
            </a:r>
            <a:r>
              <a:rPr lang="tr-TR" dirty="0" err="1"/>
              <a:t>token’dan</a:t>
            </a:r>
            <a:r>
              <a:rPr lang="tr-TR" dirty="0"/>
              <a:t> kimlik bilgileri çıkarılırken </a:t>
            </a:r>
            <a:r>
              <a:rPr lang="tr-TR" dirty="0" err="1"/>
              <a:t>tenant</a:t>
            </a:r>
            <a:r>
              <a:rPr lang="tr-TR" dirty="0"/>
              <a:t> da çıkarılır.</a:t>
            </a:r>
          </a:p>
          <a:p>
            <a:r>
              <a:rPr lang="tr-TR" b="1" dirty="0"/>
              <a:t>IP Adresi Bazlı:</a:t>
            </a:r>
            <a:r>
              <a:rPr lang="tr-TR" dirty="0"/>
              <a:t> Daha nadiren, her müşteriye sabit bir IP bloğu atamak ve istek o IP’den geliyorsa ilgili </a:t>
            </a:r>
            <a:r>
              <a:rPr lang="tr-TR" dirty="0" err="1"/>
              <a:t>tenant</a:t>
            </a:r>
            <a:r>
              <a:rPr lang="tr-TR" dirty="0"/>
              <a:t> olduğunu varsaymak gibi yöntemler de vardır​. Bu yöntem, sadece kapalı ağ veya B2B entegrasyonlarında anlamlı olabilir, internet geneli için güvenilir bir ayrım yöntemi değildir.</a:t>
            </a:r>
          </a:p>
          <a:p>
            <a:pPr algn="l">
              <a:buFont typeface="Arial" panose="020B0604020202020204" pitchFamily="34" charset="0"/>
              <a:buChar char="•"/>
            </a:pPr>
            <a:endParaRPr lang="tr-TR" b="0" i="0" u="none" strike="noStrike" dirty="0">
              <a:solidFill>
                <a:srgbClr val="000000"/>
              </a:solidFill>
              <a:effectLst/>
            </a:endParaRPr>
          </a:p>
        </p:txBody>
      </p:sp>
    </p:spTree>
    <p:extLst>
      <p:ext uri="{BB962C8B-B14F-4D97-AF65-F5344CB8AC3E}">
        <p14:creationId xmlns:p14="http://schemas.microsoft.com/office/powerpoint/2010/main" val="835574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3E28-57FE-B3C3-723F-71C9E49D9BF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F3FCF0A-D7AF-C0C1-39BC-D34BB25B7647}"/>
              </a:ext>
            </a:extLst>
          </p:cNvPr>
          <p:cNvSpPr>
            <a:spLocks noGrp="1"/>
          </p:cNvSpPr>
          <p:nvPr>
            <p:ph type="title"/>
          </p:nvPr>
        </p:nvSpPr>
        <p:spPr>
          <a:xfrm>
            <a:off x="2231136" y="272876"/>
            <a:ext cx="7729728" cy="1188720"/>
          </a:xfrm>
        </p:spPr>
        <p:txBody>
          <a:bodyPr/>
          <a:lstStyle/>
          <a:p>
            <a:r>
              <a:rPr lang="tr-TR" dirty="0" err="1"/>
              <a:t>Tenant</a:t>
            </a:r>
            <a:r>
              <a:rPr lang="tr-TR" dirty="0"/>
              <a:t> kimliğinin ulaşılabilir hale getirilmesi</a:t>
            </a:r>
          </a:p>
        </p:txBody>
      </p:sp>
      <p:sp>
        <p:nvSpPr>
          <p:cNvPr id="3" name="İçerik Yer Tutucusu 2">
            <a:extLst>
              <a:ext uri="{FF2B5EF4-FFF2-40B4-BE49-F238E27FC236}">
                <a16:creationId xmlns:a16="http://schemas.microsoft.com/office/drawing/2014/main" id="{521136A5-32BB-4918-723E-7BF61A4D8161}"/>
              </a:ext>
            </a:extLst>
          </p:cNvPr>
          <p:cNvSpPr>
            <a:spLocks noGrp="1"/>
          </p:cNvSpPr>
          <p:nvPr>
            <p:ph idx="1"/>
          </p:nvPr>
        </p:nvSpPr>
        <p:spPr>
          <a:xfrm>
            <a:off x="1653981" y="1787772"/>
            <a:ext cx="8884038" cy="4179891"/>
          </a:xfrm>
        </p:spPr>
        <p:txBody>
          <a:bodyPr>
            <a:noAutofit/>
          </a:bodyPr>
          <a:lstStyle/>
          <a:p>
            <a:r>
              <a:rPr lang="tr-TR" b="0" i="0" u="none" strike="noStrike" dirty="0">
                <a:solidFill>
                  <a:srgbClr val="000000"/>
                </a:solidFill>
                <a:effectLst/>
              </a:rPr>
              <a:t>İstek hangi </a:t>
            </a:r>
            <a:r>
              <a:rPr lang="tr-TR" b="0" i="0" u="none" strike="noStrike" dirty="0" err="1">
                <a:solidFill>
                  <a:srgbClr val="000000"/>
                </a:solidFill>
                <a:effectLst/>
              </a:rPr>
              <a:t>tenant’a</a:t>
            </a:r>
            <a:r>
              <a:rPr lang="tr-TR" b="0" i="0" u="none" strike="noStrike" dirty="0">
                <a:solidFill>
                  <a:srgbClr val="000000"/>
                </a:solidFill>
                <a:effectLst/>
              </a:rPr>
              <a:t> ait belirlendikten sonra, uygulamanın o istek boyunca kendisini ilgili </a:t>
            </a:r>
            <a:r>
              <a:rPr lang="tr-TR" b="0" i="0" u="none" strike="noStrike" dirty="0" err="1">
                <a:solidFill>
                  <a:srgbClr val="000000"/>
                </a:solidFill>
                <a:effectLst/>
              </a:rPr>
              <a:t>tenant</a:t>
            </a:r>
            <a:r>
              <a:rPr lang="tr-TR" b="0" i="0" u="none" strike="noStrike" dirty="0">
                <a:solidFill>
                  <a:srgbClr val="000000"/>
                </a:solidFill>
                <a:effectLst/>
              </a:rPr>
              <a:t> bağlamında çalışacak şekilde ayarlaması gerekir. Bu genellikle şu anlama gelir: </a:t>
            </a:r>
            <a:r>
              <a:rPr lang="tr-TR" b="0" i="0" u="none" strike="noStrike" dirty="0" err="1">
                <a:solidFill>
                  <a:srgbClr val="000000"/>
                </a:solidFill>
                <a:effectLst/>
              </a:rPr>
              <a:t>Veritabanı</a:t>
            </a:r>
            <a:r>
              <a:rPr lang="tr-TR" b="0" i="0" u="none" strike="noStrike" dirty="0">
                <a:solidFill>
                  <a:srgbClr val="000000"/>
                </a:solidFill>
                <a:effectLst/>
              </a:rPr>
              <a:t> sorguları ve diğer kaynak erişimleri doğru </a:t>
            </a:r>
            <a:r>
              <a:rPr lang="tr-TR" b="0" i="0" u="none" strike="noStrike" dirty="0" err="1">
                <a:solidFill>
                  <a:srgbClr val="000000"/>
                </a:solidFill>
                <a:effectLst/>
              </a:rPr>
              <a:t>tenant’ın</a:t>
            </a:r>
            <a:r>
              <a:rPr lang="tr-TR" b="0" i="0" u="none" strike="noStrike" dirty="0">
                <a:solidFill>
                  <a:srgbClr val="000000"/>
                </a:solidFill>
                <a:effectLst/>
              </a:rPr>
              <a:t> verisini hedeflemelidir. Bunu sağlamak için yaygın bir yaklaşım, uygulama içinde bir </a:t>
            </a:r>
            <a:r>
              <a:rPr lang="tr-TR" i="0" u="none" strike="noStrike" dirty="0" err="1">
                <a:solidFill>
                  <a:srgbClr val="000000"/>
                </a:solidFill>
                <a:effectLst/>
              </a:rPr>
              <a:t>TenantContext</a:t>
            </a:r>
            <a:r>
              <a:rPr lang="tr-TR" i="0" u="none" strike="noStrike" dirty="0">
                <a:solidFill>
                  <a:srgbClr val="000000"/>
                </a:solidFill>
                <a:effectLst/>
              </a:rPr>
              <a:t> </a:t>
            </a:r>
            <a:r>
              <a:rPr lang="tr-TR" b="0" i="0" u="none" strike="noStrike" dirty="0">
                <a:solidFill>
                  <a:srgbClr val="000000"/>
                </a:solidFill>
                <a:effectLst/>
              </a:rPr>
              <a:t>oluşturmaktır. Bu, bir </a:t>
            </a:r>
            <a:r>
              <a:rPr lang="tr-TR" b="0" i="0" u="none" strike="noStrike" dirty="0" err="1">
                <a:solidFill>
                  <a:srgbClr val="000000"/>
                </a:solidFill>
                <a:effectLst/>
              </a:rPr>
              <a:t>ThreadLocal</a:t>
            </a:r>
            <a:r>
              <a:rPr lang="tr-TR" b="0" i="0" u="none" strike="noStrike" dirty="0">
                <a:solidFill>
                  <a:srgbClr val="000000"/>
                </a:solidFill>
                <a:effectLst/>
              </a:rPr>
              <a:t> veya benzeri bir mekanizma ile her iş parçacığı (</a:t>
            </a:r>
            <a:r>
              <a:rPr lang="tr-TR" b="0" i="0" u="none" strike="noStrike" dirty="0" err="1">
                <a:solidFill>
                  <a:srgbClr val="000000"/>
                </a:solidFill>
                <a:effectLst/>
              </a:rPr>
              <a:t>request</a:t>
            </a:r>
            <a:r>
              <a:rPr lang="tr-TR" b="0" i="0" u="none" strike="noStrike" dirty="0">
                <a:solidFill>
                  <a:srgbClr val="000000"/>
                </a:solidFill>
                <a:effectLst/>
              </a:rPr>
              <a:t>) için geçerli olan bir değişkende o anki </a:t>
            </a:r>
            <a:r>
              <a:rPr lang="tr-TR" b="0" i="0" u="none" strike="noStrike" dirty="0" err="1">
                <a:solidFill>
                  <a:srgbClr val="000000"/>
                </a:solidFill>
                <a:effectLst/>
              </a:rPr>
              <a:t>tenant</a:t>
            </a:r>
            <a:r>
              <a:rPr lang="tr-TR" b="0" i="0" u="none" strike="noStrike" dirty="0">
                <a:solidFill>
                  <a:srgbClr val="000000"/>
                </a:solidFill>
                <a:effectLst/>
              </a:rPr>
              <a:t> kimliğini tutmak anlamına gelir. İstek alındığında (</a:t>
            </a:r>
            <a:r>
              <a:rPr lang="tr-TR" b="0" i="0" u="none" strike="noStrike" dirty="0" err="1">
                <a:solidFill>
                  <a:srgbClr val="000000"/>
                </a:solidFill>
                <a:effectLst/>
              </a:rPr>
              <a:t>örn</a:t>
            </a:r>
            <a:r>
              <a:rPr lang="tr-TR" b="0" i="0" u="none" strike="noStrike" dirty="0">
                <a:solidFill>
                  <a:srgbClr val="000000"/>
                </a:solidFill>
                <a:effectLst/>
              </a:rPr>
              <a:t>. bir </a:t>
            </a:r>
            <a:r>
              <a:rPr lang="tr-TR" b="0" i="0" u="none" strike="noStrike" dirty="0" err="1">
                <a:solidFill>
                  <a:srgbClr val="000000"/>
                </a:solidFill>
                <a:effectLst/>
              </a:rPr>
              <a:t>OncePerRequestFilter</a:t>
            </a:r>
            <a:r>
              <a:rPr lang="tr-TR" b="0" i="0" u="none" strike="noStrike" dirty="0">
                <a:solidFill>
                  <a:srgbClr val="000000"/>
                </a:solidFill>
                <a:effectLst/>
              </a:rPr>
              <a:t> içinde), belirlenen </a:t>
            </a:r>
            <a:r>
              <a:rPr lang="tr-TR" b="0" i="0" u="none" strike="noStrike" dirty="0" err="1">
                <a:solidFill>
                  <a:srgbClr val="000000"/>
                </a:solidFill>
                <a:effectLst/>
              </a:rPr>
              <a:t>tenantId</a:t>
            </a:r>
            <a:r>
              <a:rPr lang="tr-TR" b="0" i="0" u="none" strike="noStrike" dirty="0">
                <a:solidFill>
                  <a:srgbClr val="000000"/>
                </a:solidFill>
                <a:effectLst/>
              </a:rPr>
              <a:t> bu </a:t>
            </a:r>
            <a:r>
              <a:rPr lang="tr-TR" b="0" i="0" u="none" strike="noStrike" dirty="0" err="1">
                <a:solidFill>
                  <a:srgbClr val="000000"/>
                </a:solidFill>
                <a:effectLst/>
              </a:rPr>
              <a:t>TenantContext</a:t>
            </a:r>
            <a:r>
              <a:rPr lang="tr-TR" b="0" i="0" u="none" strike="noStrike" dirty="0">
                <a:solidFill>
                  <a:srgbClr val="000000"/>
                </a:solidFill>
                <a:effectLst/>
              </a:rPr>
              <a:t> değişkenine yazılır, ve isteğin geri kalanında tüm kod buradan </a:t>
            </a:r>
            <a:r>
              <a:rPr lang="tr-TR" b="0" i="0" u="none" strike="noStrike" dirty="0" err="1">
                <a:solidFill>
                  <a:srgbClr val="000000"/>
                </a:solidFill>
                <a:effectLst/>
              </a:rPr>
              <a:t>tenantId’yi</a:t>
            </a:r>
            <a:r>
              <a:rPr lang="tr-TR" b="0" i="0" u="none" strike="noStrike" dirty="0">
                <a:solidFill>
                  <a:srgbClr val="000000"/>
                </a:solidFill>
                <a:effectLst/>
              </a:rPr>
              <a:t> alarak işlem yapabilir.</a:t>
            </a:r>
          </a:p>
          <a:p>
            <a:pPr algn="l">
              <a:buFont typeface="Arial" panose="020B0604020202020204" pitchFamily="34" charset="0"/>
              <a:buChar char="•"/>
            </a:pPr>
            <a:endParaRPr lang="tr-TR" b="0" i="0" u="none" strike="noStrike" dirty="0">
              <a:solidFill>
                <a:srgbClr val="000000"/>
              </a:solidFill>
              <a:effectLst/>
            </a:endParaRPr>
          </a:p>
        </p:txBody>
      </p:sp>
    </p:spTree>
    <p:extLst>
      <p:ext uri="{BB962C8B-B14F-4D97-AF65-F5344CB8AC3E}">
        <p14:creationId xmlns:p14="http://schemas.microsoft.com/office/powerpoint/2010/main" val="272451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03D7B-4BBD-EE67-FE09-E0B394F8D5C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5213449-7E9A-0E38-5893-CC22D3B09C4B}"/>
              </a:ext>
            </a:extLst>
          </p:cNvPr>
          <p:cNvSpPr>
            <a:spLocks noGrp="1"/>
          </p:cNvSpPr>
          <p:nvPr>
            <p:ph type="title"/>
          </p:nvPr>
        </p:nvSpPr>
        <p:spPr>
          <a:xfrm>
            <a:off x="2231136" y="272876"/>
            <a:ext cx="7729728" cy="1188720"/>
          </a:xfrm>
        </p:spPr>
        <p:txBody>
          <a:bodyPr/>
          <a:lstStyle/>
          <a:p>
            <a:r>
              <a:rPr lang="tr-TR" dirty="0" err="1"/>
              <a:t>Tenant</a:t>
            </a:r>
            <a:r>
              <a:rPr lang="tr-TR" dirty="0"/>
              <a:t> kimliğinin ulaşılabilir hale getirilmesi</a:t>
            </a:r>
          </a:p>
        </p:txBody>
      </p:sp>
      <p:sp>
        <p:nvSpPr>
          <p:cNvPr id="3" name="İçerik Yer Tutucusu 2">
            <a:extLst>
              <a:ext uri="{FF2B5EF4-FFF2-40B4-BE49-F238E27FC236}">
                <a16:creationId xmlns:a16="http://schemas.microsoft.com/office/drawing/2014/main" id="{EF38BD50-A58A-D6B2-27B0-C49B9042D411}"/>
              </a:ext>
            </a:extLst>
          </p:cNvPr>
          <p:cNvSpPr>
            <a:spLocks noGrp="1"/>
          </p:cNvSpPr>
          <p:nvPr>
            <p:ph idx="1"/>
          </p:nvPr>
        </p:nvSpPr>
        <p:spPr>
          <a:xfrm>
            <a:off x="1653981" y="1787772"/>
            <a:ext cx="8884038" cy="4179891"/>
          </a:xfrm>
        </p:spPr>
        <p:txBody>
          <a:bodyPr>
            <a:noAutofit/>
          </a:bodyPr>
          <a:lstStyle/>
          <a:p>
            <a:r>
              <a:rPr lang="tr-TR" b="0" i="0" u="none" strike="noStrike" dirty="0">
                <a:solidFill>
                  <a:srgbClr val="000000"/>
                </a:solidFill>
                <a:effectLst/>
              </a:rPr>
              <a:t>İstek hangi </a:t>
            </a:r>
            <a:r>
              <a:rPr lang="tr-TR" b="0" i="0" u="none" strike="noStrike" dirty="0" err="1">
                <a:solidFill>
                  <a:srgbClr val="000000"/>
                </a:solidFill>
                <a:effectLst/>
              </a:rPr>
              <a:t>tenant’a</a:t>
            </a:r>
            <a:r>
              <a:rPr lang="tr-TR" b="0" i="0" u="none" strike="noStrike" dirty="0">
                <a:solidFill>
                  <a:srgbClr val="000000"/>
                </a:solidFill>
                <a:effectLst/>
              </a:rPr>
              <a:t> ait belirlendikten sonra, uygulamanın o istek boyunca kendisini ilgili </a:t>
            </a:r>
            <a:r>
              <a:rPr lang="tr-TR" b="0" i="0" u="none" strike="noStrike" dirty="0" err="1">
                <a:solidFill>
                  <a:srgbClr val="000000"/>
                </a:solidFill>
                <a:effectLst/>
              </a:rPr>
              <a:t>tenant</a:t>
            </a:r>
            <a:r>
              <a:rPr lang="tr-TR" b="0" i="0" u="none" strike="noStrike" dirty="0">
                <a:solidFill>
                  <a:srgbClr val="000000"/>
                </a:solidFill>
                <a:effectLst/>
              </a:rPr>
              <a:t> bağlamında çalışacak şekilde ayarlaması gerekir. Bu genellikle şu anlama gelir: </a:t>
            </a:r>
            <a:r>
              <a:rPr lang="tr-TR" b="0" i="0" u="none" strike="noStrike" dirty="0" err="1">
                <a:solidFill>
                  <a:srgbClr val="000000"/>
                </a:solidFill>
                <a:effectLst/>
              </a:rPr>
              <a:t>Veritabanı</a:t>
            </a:r>
            <a:r>
              <a:rPr lang="tr-TR" b="0" i="0" u="none" strike="noStrike" dirty="0">
                <a:solidFill>
                  <a:srgbClr val="000000"/>
                </a:solidFill>
                <a:effectLst/>
              </a:rPr>
              <a:t> sorguları ve diğer kaynak erişimleri doğru </a:t>
            </a:r>
            <a:r>
              <a:rPr lang="tr-TR" b="0" i="0" u="none" strike="noStrike" dirty="0" err="1">
                <a:solidFill>
                  <a:srgbClr val="000000"/>
                </a:solidFill>
                <a:effectLst/>
              </a:rPr>
              <a:t>tenant’ın</a:t>
            </a:r>
            <a:r>
              <a:rPr lang="tr-TR" b="0" i="0" u="none" strike="noStrike" dirty="0">
                <a:solidFill>
                  <a:srgbClr val="000000"/>
                </a:solidFill>
                <a:effectLst/>
              </a:rPr>
              <a:t> verisini hedeflemelidir. Bunu sağlamak için yaygın bir yaklaşım, uygulama içinde bir </a:t>
            </a:r>
            <a:r>
              <a:rPr lang="tr-TR" i="0" u="none" strike="noStrike" dirty="0" err="1">
                <a:solidFill>
                  <a:srgbClr val="000000"/>
                </a:solidFill>
                <a:effectLst/>
              </a:rPr>
              <a:t>TenantContext</a:t>
            </a:r>
            <a:r>
              <a:rPr lang="tr-TR" i="0" u="none" strike="noStrike" dirty="0">
                <a:solidFill>
                  <a:srgbClr val="000000"/>
                </a:solidFill>
                <a:effectLst/>
              </a:rPr>
              <a:t> </a:t>
            </a:r>
            <a:r>
              <a:rPr lang="tr-TR" b="0" i="0" u="none" strike="noStrike" dirty="0">
                <a:solidFill>
                  <a:srgbClr val="000000"/>
                </a:solidFill>
                <a:effectLst/>
              </a:rPr>
              <a:t>oluşturmaktır. Bu, bir </a:t>
            </a:r>
            <a:r>
              <a:rPr lang="tr-TR" b="0" i="0" u="none" strike="noStrike" dirty="0" err="1">
                <a:solidFill>
                  <a:srgbClr val="000000"/>
                </a:solidFill>
                <a:effectLst/>
              </a:rPr>
              <a:t>ThreadLocal</a:t>
            </a:r>
            <a:r>
              <a:rPr lang="tr-TR" b="0" i="0" u="none" strike="noStrike" dirty="0">
                <a:solidFill>
                  <a:srgbClr val="000000"/>
                </a:solidFill>
                <a:effectLst/>
              </a:rPr>
              <a:t> veya benzeri bir mekanizma ile her iş parçacığı (</a:t>
            </a:r>
            <a:r>
              <a:rPr lang="tr-TR" b="0" i="0" u="none" strike="noStrike" dirty="0" err="1">
                <a:solidFill>
                  <a:srgbClr val="000000"/>
                </a:solidFill>
                <a:effectLst/>
              </a:rPr>
              <a:t>request</a:t>
            </a:r>
            <a:r>
              <a:rPr lang="tr-TR" b="0" i="0" u="none" strike="noStrike" dirty="0">
                <a:solidFill>
                  <a:srgbClr val="000000"/>
                </a:solidFill>
                <a:effectLst/>
              </a:rPr>
              <a:t>) için geçerli olan bir değişkende o anki </a:t>
            </a:r>
            <a:r>
              <a:rPr lang="tr-TR" b="0" i="0" u="none" strike="noStrike" dirty="0" err="1">
                <a:solidFill>
                  <a:srgbClr val="000000"/>
                </a:solidFill>
                <a:effectLst/>
              </a:rPr>
              <a:t>tenant</a:t>
            </a:r>
            <a:r>
              <a:rPr lang="tr-TR" b="0" i="0" u="none" strike="noStrike" dirty="0">
                <a:solidFill>
                  <a:srgbClr val="000000"/>
                </a:solidFill>
                <a:effectLst/>
              </a:rPr>
              <a:t> kimliğini tutmak anlamına gelir. İstek alındığında (</a:t>
            </a:r>
            <a:r>
              <a:rPr lang="tr-TR" b="0" i="0" u="none" strike="noStrike" dirty="0" err="1">
                <a:solidFill>
                  <a:srgbClr val="000000"/>
                </a:solidFill>
                <a:effectLst/>
              </a:rPr>
              <a:t>örn</a:t>
            </a:r>
            <a:r>
              <a:rPr lang="tr-TR" b="0" i="0" u="none" strike="noStrike" dirty="0">
                <a:solidFill>
                  <a:srgbClr val="000000"/>
                </a:solidFill>
                <a:effectLst/>
              </a:rPr>
              <a:t>. bir </a:t>
            </a:r>
            <a:r>
              <a:rPr lang="tr-TR" b="0" i="0" u="none" strike="noStrike" dirty="0" err="1">
                <a:solidFill>
                  <a:srgbClr val="000000"/>
                </a:solidFill>
                <a:effectLst/>
              </a:rPr>
              <a:t>OncePerRequestFilter</a:t>
            </a:r>
            <a:r>
              <a:rPr lang="tr-TR" b="0" i="0" u="none" strike="noStrike" dirty="0">
                <a:solidFill>
                  <a:srgbClr val="000000"/>
                </a:solidFill>
                <a:effectLst/>
              </a:rPr>
              <a:t> içinde), belirlenen </a:t>
            </a:r>
            <a:r>
              <a:rPr lang="tr-TR" b="0" i="0" u="none" strike="noStrike" dirty="0" err="1">
                <a:solidFill>
                  <a:srgbClr val="000000"/>
                </a:solidFill>
                <a:effectLst/>
              </a:rPr>
              <a:t>tenantId</a:t>
            </a:r>
            <a:r>
              <a:rPr lang="tr-TR" b="0" i="0" u="none" strike="noStrike" dirty="0">
                <a:solidFill>
                  <a:srgbClr val="000000"/>
                </a:solidFill>
                <a:effectLst/>
              </a:rPr>
              <a:t> bu </a:t>
            </a:r>
            <a:r>
              <a:rPr lang="tr-TR" b="0" i="0" u="none" strike="noStrike" dirty="0" err="1">
                <a:solidFill>
                  <a:srgbClr val="000000"/>
                </a:solidFill>
                <a:effectLst/>
              </a:rPr>
              <a:t>TenantContext</a:t>
            </a:r>
            <a:r>
              <a:rPr lang="tr-TR" b="0" i="0" u="none" strike="noStrike" dirty="0">
                <a:solidFill>
                  <a:srgbClr val="000000"/>
                </a:solidFill>
                <a:effectLst/>
              </a:rPr>
              <a:t> değişkenine yazılır, ve isteğin geri kalanında tüm kod buradan </a:t>
            </a:r>
            <a:r>
              <a:rPr lang="tr-TR" b="0" i="0" u="none" strike="noStrike" dirty="0" err="1">
                <a:solidFill>
                  <a:srgbClr val="000000"/>
                </a:solidFill>
                <a:effectLst/>
              </a:rPr>
              <a:t>tenantId’yi</a:t>
            </a:r>
            <a:r>
              <a:rPr lang="tr-TR" b="0" i="0" u="none" strike="noStrike" dirty="0">
                <a:solidFill>
                  <a:srgbClr val="000000"/>
                </a:solidFill>
                <a:effectLst/>
              </a:rPr>
              <a:t> alarak işlem yapabilir.</a:t>
            </a:r>
          </a:p>
          <a:p>
            <a:pPr algn="l">
              <a:buFont typeface="Arial" panose="020B0604020202020204" pitchFamily="34" charset="0"/>
              <a:buChar char="•"/>
            </a:pPr>
            <a:endParaRPr lang="tr-TR" b="0" i="0" u="none" strike="noStrike" dirty="0">
              <a:solidFill>
                <a:srgbClr val="000000"/>
              </a:solidFill>
              <a:effectLst/>
            </a:endParaRPr>
          </a:p>
        </p:txBody>
      </p:sp>
    </p:spTree>
    <p:extLst>
      <p:ext uri="{BB962C8B-B14F-4D97-AF65-F5344CB8AC3E}">
        <p14:creationId xmlns:p14="http://schemas.microsoft.com/office/powerpoint/2010/main" val="4060850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1CB3D-67C0-460A-A325-D3DD3FE7F29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D043BAE-F0F9-27B5-6979-55480AD1CE80}"/>
              </a:ext>
            </a:extLst>
          </p:cNvPr>
          <p:cNvSpPr>
            <a:spLocks noGrp="1"/>
          </p:cNvSpPr>
          <p:nvPr>
            <p:ph type="title"/>
          </p:nvPr>
        </p:nvSpPr>
        <p:spPr>
          <a:xfrm>
            <a:off x="2231136" y="272876"/>
            <a:ext cx="7729728" cy="1188720"/>
          </a:xfrm>
        </p:spPr>
        <p:txBody>
          <a:bodyPr/>
          <a:lstStyle/>
          <a:p>
            <a:r>
              <a:rPr lang="tr-TR" dirty="0" err="1"/>
              <a:t>Veritabanı</a:t>
            </a:r>
            <a:r>
              <a:rPr lang="tr-TR" dirty="0"/>
              <a:t> gerçeklemesi</a:t>
            </a:r>
          </a:p>
        </p:txBody>
      </p:sp>
      <p:sp>
        <p:nvSpPr>
          <p:cNvPr id="3" name="İçerik Yer Tutucusu 2">
            <a:extLst>
              <a:ext uri="{FF2B5EF4-FFF2-40B4-BE49-F238E27FC236}">
                <a16:creationId xmlns:a16="http://schemas.microsoft.com/office/drawing/2014/main" id="{0B70218A-5DCB-C2BD-6A44-2FED315E0540}"/>
              </a:ext>
            </a:extLst>
          </p:cNvPr>
          <p:cNvSpPr>
            <a:spLocks noGrp="1"/>
          </p:cNvSpPr>
          <p:nvPr>
            <p:ph idx="1"/>
          </p:nvPr>
        </p:nvSpPr>
        <p:spPr>
          <a:xfrm>
            <a:off x="1653981" y="1787772"/>
            <a:ext cx="8884038" cy="4179891"/>
          </a:xfrm>
        </p:spPr>
        <p:txBody>
          <a:bodyPr>
            <a:noAutofit/>
          </a:bodyPr>
          <a:lstStyle/>
          <a:p>
            <a:pPr algn="l">
              <a:buFont typeface="Arial" panose="020B0604020202020204" pitchFamily="34" charset="0"/>
              <a:buChar char="•"/>
            </a:pPr>
            <a:r>
              <a:rPr lang="tr-TR" b="0" i="0" u="none" strike="noStrike" dirty="0" err="1">
                <a:solidFill>
                  <a:srgbClr val="000000"/>
                </a:solidFill>
                <a:effectLst/>
              </a:rPr>
              <a:t>Hibernate</a:t>
            </a:r>
            <a:r>
              <a:rPr lang="tr-TR" b="0" i="0" u="none" strike="noStrike" dirty="0">
                <a:solidFill>
                  <a:srgbClr val="000000"/>
                </a:solidFill>
                <a:effectLst/>
              </a:rPr>
              <a:t>, 5.+ sürümlerden itibaren </a:t>
            </a:r>
            <a:r>
              <a:rPr lang="tr-TR" b="0" i="0" u="none" strike="noStrike" dirty="0" err="1">
                <a:solidFill>
                  <a:srgbClr val="000000"/>
                </a:solidFill>
                <a:effectLst/>
              </a:rPr>
              <a:t>multi-tenant</a:t>
            </a:r>
            <a:r>
              <a:rPr lang="tr-TR" b="0" i="0" u="none" strike="noStrike" dirty="0">
                <a:solidFill>
                  <a:srgbClr val="000000"/>
                </a:solidFill>
                <a:effectLst/>
              </a:rPr>
              <a:t> mimariyi destekler hale gelmiştir.</a:t>
            </a:r>
          </a:p>
          <a:p>
            <a:pPr algn="l">
              <a:buFont typeface="Arial" panose="020B0604020202020204" pitchFamily="34" charset="0"/>
              <a:buChar char="•"/>
            </a:pPr>
            <a:r>
              <a:rPr lang="tr-TR" dirty="0">
                <a:solidFill>
                  <a:srgbClr val="000000"/>
                </a:solidFill>
              </a:rPr>
              <a:t>Multi-</a:t>
            </a:r>
            <a:r>
              <a:rPr lang="tr-TR" dirty="0" err="1">
                <a:solidFill>
                  <a:srgbClr val="000000"/>
                </a:solidFill>
              </a:rPr>
              <a:t>tenant</a:t>
            </a:r>
            <a:r>
              <a:rPr lang="tr-TR" dirty="0">
                <a:solidFill>
                  <a:srgbClr val="000000"/>
                </a:solidFill>
              </a:rPr>
              <a:t> bir </a:t>
            </a:r>
            <a:r>
              <a:rPr lang="tr-TR" dirty="0" err="1">
                <a:solidFill>
                  <a:srgbClr val="000000"/>
                </a:solidFill>
              </a:rPr>
              <a:t>veritabanı</a:t>
            </a:r>
            <a:r>
              <a:rPr lang="tr-TR" dirty="0">
                <a:solidFill>
                  <a:srgbClr val="000000"/>
                </a:solidFill>
              </a:rPr>
              <a:t> katmanını </a:t>
            </a:r>
            <a:r>
              <a:rPr lang="tr-TR" dirty="0" err="1">
                <a:solidFill>
                  <a:srgbClr val="000000"/>
                </a:solidFill>
              </a:rPr>
              <a:t>hibernate’i</a:t>
            </a:r>
            <a:r>
              <a:rPr lang="tr-TR" dirty="0">
                <a:solidFill>
                  <a:srgbClr val="000000"/>
                </a:solidFill>
              </a:rPr>
              <a:t> </a:t>
            </a:r>
            <a:r>
              <a:rPr lang="tr-TR" dirty="0" err="1">
                <a:solidFill>
                  <a:srgbClr val="000000"/>
                </a:solidFill>
              </a:rPr>
              <a:t>tenant-aware</a:t>
            </a:r>
            <a:r>
              <a:rPr lang="tr-TR" dirty="0">
                <a:solidFill>
                  <a:srgbClr val="000000"/>
                </a:solidFill>
              </a:rPr>
              <a:t> hale getirerek sağlayabiliriz.</a:t>
            </a:r>
          </a:p>
          <a:p>
            <a:pPr algn="l">
              <a:buFont typeface="Arial" panose="020B0604020202020204" pitchFamily="34" charset="0"/>
              <a:buChar char="•"/>
            </a:pPr>
            <a:r>
              <a:rPr lang="tr-TR" dirty="0">
                <a:solidFill>
                  <a:srgbClr val="000000"/>
                </a:solidFill>
              </a:rPr>
              <a:t>Ya da </a:t>
            </a:r>
            <a:r>
              <a:rPr lang="tr-TR" dirty="0" err="1">
                <a:solidFill>
                  <a:srgbClr val="000000"/>
                </a:solidFill>
              </a:rPr>
              <a:t>hibernate’in</a:t>
            </a:r>
            <a:r>
              <a:rPr lang="tr-TR" dirty="0">
                <a:solidFill>
                  <a:srgbClr val="000000"/>
                </a:solidFill>
              </a:rPr>
              <a:t> </a:t>
            </a:r>
            <a:r>
              <a:rPr lang="tr-TR" dirty="0" err="1">
                <a:solidFill>
                  <a:srgbClr val="000000"/>
                </a:solidFill>
              </a:rPr>
              <a:t>tenant’lardan</a:t>
            </a:r>
            <a:r>
              <a:rPr lang="tr-TR" dirty="0">
                <a:solidFill>
                  <a:srgbClr val="000000"/>
                </a:solidFill>
              </a:rPr>
              <a:t> hiç haberi olmadan, sadece kullanacağı </a:t>
            </a:r>
            <a:r>
              <a:rPr lang="tr-TR" dirty="0" err="1">
                <a:solidFill>
                  <a:srgbClr val="000000"/>
                </a:solidFill>
              </a:rPr>
              <a:t>DataSource’u</a:t>
            </a:r>
            <a:r>
              <a:rPr lang="tr-TR" dirty="0">
                <a:solidFill>
                  <a:srgbClr val="000000"/>
                </a:solidFill>
              </a:rPr>
              <a:t> </a:t>
            </a:r>
            <a:r>
              <a:rPr lang="tr-TR" dirty="0" err="1">
                <a:solidFill>
                  <a:srgbClr val="000000"/>
                </a:solidFill>
              </a:rPr>
              <a:t>tenant’a</a:t>
            </a:r>
            <a:r>
              <a:rPr lang="tr-TR" dirty="0">
                <a:solidFill>
                  <a:srgbClr val="000000"/>
                </a:solidFill>
              </a:rPr>
              <a:t> göre set ederek de sağlayabiliriz. Bunu gerçeklemek için Spring bize </a:t>
            </a:r>
            <a:r>
              <a:rPr lang="tr-TR" dirty="0" err="1">
                <a:solidFill>
                  <a:srgbClr val="000000"/>
                </a:solidFill>
              </a:rPr>
              <a:t>AbstractRoutingDataSource</a:t>
            </a:r>
            <a:r>
              <a:rPr lang="tr-TR" dirty="0">
                <a:solidFill>
                  <a:srgbClr val="000000"/>
                </a:solidFill>
              </a:rPr>
              <a:t> </a:t>
            </a:r>
            <a:r>
              <a:rPr lang="tr-TR" dirty="0" err="1">
                <a:solidFill>
                  <a:srgbClr val="000000"/>
                </a:solidFill>
              </a:rPr>
              <a:t>arayüzünü</a:t>
            </a:r>
            <a:r>
              <a:rPr lang="tr-TR" dirty="0">
                <a:solidFill>
                  <a:srgbClr val="000000"/>
                </a:solidFill>
              </a:rPr>
              <a:t> sağlamıştır.</a:t>
            </a:r>
            <a:endParaRPr lang="tr-TR" b="0" i="0" u="none" strike="noStrike" dirty="0">
              <a:solidFill>
                <a:srgbClr val="000000"/>
              </a:solidFill>
              <a:effectLst/>
            </a:endParaRPr>
          </a:p>
        </p:txBody>
      </p:sp>
    </p:spTree>
    <p:extLst>
      <p:ext uri="{BB962C8B-B14F-4D97-AF65-F5344CB8AC3E}">
        <p14:creationId xmlns:p14="http://schemas.microsoft.com/office/powerpoint/2010/main" val="3469417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CDCC-38D0-254F-1B9E-A288BAFB40D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73D4FE3-8A56-0CED-EF84-A6058B4B0983}"/>
              </a:ext>
            </a:extLst>
          </p:cNvPr>
          <p:cNvSpPr>
            <a:spLocks noGrp="1"/>
          </p:cNvSpPr>
          <p:nvPr>
            <p:ph type="title"/>
          </p:nvPr>
        </p:nvSpPr>
        <p:spPr>
          <a:xfrm>
            <a:off x="2231136" y="272876"/>
            <a:ext cx="7729728" cy="1188720"/>
          </a:xfrm>
        </p:spPr>
        <p:txBody>
          <a:bodyPr/>
          <a:lstStyle/>
          <a:p>
            <a:r>
              <a:rPr lang="tr-TR" dirty="0" err="1"/>
              <a:t>Veritabanı</a:t>
            </a:r>
            <a:r>
              <a:rPr lang="tr-TR" dirty="0"/>
              <a:t> gerçeklemesi - </a:t>
            </a:r>
            <a:r>
              <a:rPr lang="tr-TR" dirty="0" err="1"/>
              <a:t>hıbernate</a:t>
            </a:r>
            <a:endParaRPr lang="tr-TR" dirty="0"/>
          </a:p>
        </p:txBody>
      </p:sp>
      <p:sp>
        <p:nvSpPr>
          <p:cNvPr id="3" name="İçerik Yer Tutucusu 2">
            <a:extLst>
              <a:ext uri="{FF2B5EF4-FFF2-40B4-BE49-F238E27FC236}">
                <a16:creationId xmlns:a16="http://schemas.microsoft.com/office/drawing/2014/main" id="{9BD70E25-6616-00F9-BFEB-189023291D9C}"/>
              </a:ext>
            </a:extLst>
          </p:cNvPr>
          <p:cNvSpPr>
            <a:spLocks noGrp="1"/>
          </p:cNvSpPr>
          <p:nvPr>
            <p:ph idx="1"/>
          </p:nvPr>
        </p:nvSpPr>
        <p:spPr>
          <a:xfrm>
            <a:off x="474886" y="1894974"/>
            <a:ext cx="3435377" cy="4179891"/>
          </a:xfrm>
        </p:spPr>
        <p:txBody>
          <a:bodyPr>
            <a:noAutofit/>
          </a:bodyPr>
          <a:lstStyle/>
          <a:p>
            <a:pPr algn="l">
              <a:buFont typeface="Arial" panose="020B0604020202020204" pitchFamily="34" charset="0"/>
              <a:buChar char="•"/>
            </a:pPr>
            <a:r>
              <a:rPr lang="tr-TR" b="0" i="0" u="none" strike="noStrike" dirty="0" err="1">
                <a:solidFill>
                  <a:srgbClr val="000000"/>
                </a:solidFill>
                <a:effectLst/>
              </a:rPr>
              <a:t>Hibernate’i</a:t>
            </a:r>
            <a:r>
              <a:rPr lang="tr-TR" b="0" i="0" u="none" strike="noStrike" dirty="0">
                <a:solidFill>
                  <a:srgbClr val="000000"/>
                </a:solidFill>
                <a:effectLst/>
              </a:rPr>
              <a:t> </a:t>
            </a:r>
            <a:r>
              <a:rPr lang="tr-TR" b="0" i="0" u="none" strike="noStrike" dirty="0" err="1">
                <a:solidFill>
                  <a:srgbClr val="000000"/>
                </a:solidFill>
                <a:effectLst/>
              </a:rPr>
              <a:t>tenant</a:t>
            </a:r>
            <a:r>
              <a:rPr lang="tr-TR" dirty="0" err="1">
                <a:solidFill>
                  <a:srgbClr val="000000"/>
                </a:solidFill>
              </a:rPr>
              <a:t>-aware</a:t>
            </a:r>
            <a:r>
              <a:rPr lang="tr-TR" dirty="0">
                <a:solidFill>
                  <a:srgbClr val="000000"/>
                </a:solidFill>
              </a:rPr>
              <a:t> getirmek için iki </a:t>
            </a:r>
            <a:r>
              <a:rPr lang="tr-TR" dirty="0" err="1">
                <a:solidFill>
                  <a:srgbClr val="000000"/>
                </a:solidFill>
              </a:rPr>
              <a:t>arayüzü</a:t>
            </a:r>
            <a:r>
              <a:rPr lang="tr-TR" dirty="0">
                <a:solidFill>
                  <a:srgbClr val="000000"/>
                </a:solidFill>
              </a:rPr>
              <a:t> gerçeklememiz ve bazı </a:t>
            </a:r>
            <a:r>
              <a:rPr lang="tr-TR" dirty="0" err="1">
                <a:solidFill>
                  <a:srgbClr val="000000"/>
                </a:solidFill>
              </a:rPr>
              <a:t>konfigurasyonları</a:t>
            </a:r>
            <a:r>
              <a:rPr lang="tr-TR" dirty="0">
                <a:solidFill>
                  <a:srgbClr val="000000"/>
                </a:solidFill>
              </a:rPr>
              <a:t> vermemiz gerekir.</a:t>
            </a:r>
          </a:p>
          <a:p>
            <a:pPr algn="l">
              <a:buFont typeface="Arial" panose="020B0604020202020204" pitchFamily="34" charset="0"/>
              <a:buChar char="•"/>
            </a:pPr>
            <a:endParaRPr lang="tr-TR" dirty="0">
              <a:solidFill>
                <a:srgbClr val="000000"/>
              </a:solidFill>
            </a:endParaRPr>
          </a:p>
        </p:txBody>
      </p:sp>
      <p:sp>
        <p:nvSpPr>
          <p:cNvPr id="4" name="Metin kutusu 3">
            <a:extLst>
              <a:ext uri="{FF2B5EF4-FFF2-40B4-BE49-F238E27FC236}">
                <a16:creationId xmlns:a16="http://schemas.microsoft.com/office/drawing/2014/main" id="{A588ED6F-E1BC-9A51-E185-C32D0615D4BA}"/>
              </a:ext>
            </a:extLst>
          </p:cNvPr>
          <p:cNvSpPr txBox="1"/>
          <p:nvPr/>
        </p:nvSpPr>
        <p:spPr>
          <a:xfrm>
            <a:off x="3807995" y="1894974"/>
            <a:ext cx="7909119" cy="2554545"/>
          </a:xfrm>
          <a:prstGeom prst="rect">
            <a:avLst/>
          </a:prstGeom>
          <a:noFill/>
        </p:spPr>
        <p:txBody>
          <a:bodyPr wrap="square" rtlCol="0">
            <a:spAutoFit/>
          </a:bodyPr>
          <a:lstStyle/>
          <a:p>
            <a:r>
              <a:rPr lang="tr-TR" sz="1600" b="0" i="1" u="none" strike="noStrike" dirty="0">
                <a:solidFill>
                  <a:srgbClr val="999988"/>
                </a:solidFill>
                <a:effectLst/>
                <a:latin typeface="Consolas" panose="020B0609020204030204" pitchFamily="49" charset="0"/>
              </a:rPr>
              <a:t># </a:t>
            </a:r>
            <a:r>
              <a:rPr lang="tr-TR" sz="1600" b="0" i="1" u="none" strike="noStrike" dirty="0" err="1">
                <a:solidFill>
                  <a:srgbClr val="999988"/>
                </a:solidFill>
                <a:effectLst/>
                <a:latin typeface="Consolas" panose="020B0609020204030204" pitchFamily="49" charset="0"/>
              </a:rPr>
              <a:t>Multitenancy</a:t>
            </a:r>
            <a:r>
              <a:rPr lang="tr-TR" sz="1600" b="0" i="1" u="none" strike="noStrike" dirty="0">
                <a:solidFill>
                  <a:srgbClr val="999988"/>
                </a:solidFill>
                <a:effectLst/>
                <a:latin typeface="Consolas" panose="020B0609020204030204" pitchFamily="49" charset="0"/>
              </a:rPr>
              <a:t> stratejisini belirtir</a:t>
            </a:r>
            <a:br>
              <a:rPr lang="tr-TR" sz="1600" b="0" i="0" u="none" strike="noStrike" dirty="0">
                <a:solidFill>
                  <a:srgbClr val="333333"/>
                </a:solidFill>
                <a:effectLst/>
                <a:latin typeface="Consolas" panose="020B0609020204030204" pitchFamily="49" charset="0"/>
              </a:rPr>
            </a:br>
            <a:r>
              <a:rPr lang="tr-TR" sz="1600" b="0" i="0" u="none" strike="noStrike" dirty="0" err="1">
                <a:solidFill>
                  <a:srgbClr val="333333"/>
                </a:solidFill>
                <a:effectLst/>
                <a:latin typeface="Consolas" panose="020B0609020204030204" pitchFamily="49" charset="0"/>
              </a:rPr>
              <a:t>spring.jpa.properties.hibernate.</a:t>
            </a:r>
            <a:r>
              <a:rPr lang="tr-TR" sz="1600" b="0" i="0" u="none" strike="noStrike" dirty="0" err="1">
                <a:solidFill>
                  <a:srgbClr val="000080"/>
                </a:solidFill>
                <a:effectLst/>
                <a:latin typeface="Consolas" panose="020B0609020204030204" pitchFamily="49" charset="0"/>
              </a:rPr>
              <a:t>multiTenancy</a:t>
            </a:r>
            <a:r>
              <a:rPr lang="tr-TR" sz="1600" b="0" i="0" u="none" strike="noStrike" dirty="0">
                <a:solidFill>
                  <a:srgbClr val="333333"/>
                </a:solidFill>
                <a:effectLst/>
                <a:latin typeface="Consolas" panose="020B0609020204030204" pitchFamily="49" charset="0"/>
              </a:rPr>
              <a:t>=DATABASE</a:t>
            </a:r>
            <a:br>
              <a:rPr lang="tr-TR" sz="1600" b="0" i="0" u="none" strike="noStrike" dirty="0">
                <a:solidFill>
                  <a:srgbClr val="333333"/>
                </a:solidFill>
                <a:effectLst/>
                <a:latin typeface="Consolas" panose="020B0609020204030204" pitchFamily="49" charset="0"/>
              </a:rPr>
            </a:br>
            <a:br>
              <a:rPr lang="tr-TR" sz="1600" b="0" i="0" u="none" strike="noStrike" dirty="0">
                <a:solidFill>
                  <a:srgbClr val="333333"/>
                </a:solidFill>
                <a:effectLst/>
                <a:latin typeface="Consolas" panose="020B0609020204030204" pitchFamily="49" charset="0"/>
              </a:rPr>
            </a:br>
            <a:r>
              <a:rPr lang="tr-TR" sz="1600" b="0" i="1" u="none" strike="noStrike" dirty="0">
                <a:solidFill>
                  <a:srgbClr val="999988"/>
                </a:solidFill>
                <a:effectLst/>
                <a:latin typeface="Consolas" panose="020B0609020204030204" pitchFamily="49" charset="0"/>
              </a:rPr>
              <a:t># Hangi </a:t>
            </a:r>
            <a:r>
              <a:rPr lang="tr-TR" sz="1600" b="0" i="1" u="none" strike="noStrike" dirty="0" err="1">
                <a:solidFill>
                  <a:srgbClr val="999988"/>
                </a:solidFill>
                <a:effectLst/>
                <a:latin typeface="Consolas" panose="020B0609020204030204" pitchFamily="49" charset="0"/>
              </a:rPr>
              <a:t>connection</a:t>
            </a:r>
            <a:r>
              <a:rPr lang="tr-TR" sz="1600" b="0" i="1" u="none" strike="noStrike" dirty="0">
                <a:solidFill>
                  <a:srgbClr val="999988"/>
                </a:solidFill>
                <a:effectLst/>
                <a:latin typeface="Consolas" panose="020B0609020204030204" pitchFamily="49" charset="0"/>
              </a:rPr>
              <a:t> </a:t>
            </a:r>
            <a:r>
              <a:rPr lang="tr-TR" sz="1600" b="0" i="1" u="none" strike="noStrike" dirty="0" err="1">
                <a:solidFill>
                  <a:srgbClr val="999988"/>
                </a:solidFill>
                <a:effectLst/>
                <a:latin typeface="Consolas" panose="020B0609020204030204" pitchFamily="49" charset="0"/>
              </a:rPr>
              <a:t>provider</a:t>
            </a:r>
            <a:r>
              <a:rPr lang="tr-TR" sz="1600" b="0" i="1" u="none" strike="noStrike" dirty="0">
                <a:solidFill>
                  <a:srgbClr val="999988"/>
                </a:solidFill>
                <a:effectLst/>
                <a:latin typeface="Consolas" panose="020B0609020204030204" pitchFamily="49" charset="0"/>
              </a:rPr>
              <a:t> </a:t>
            </a:r>
            <a:r>
              <a:rPr lang="tr-TR" sz="1600" b="0" i="1" u="none" strike="noStrike" dirty="0" err="1">
                <a:solidFill>
                  <a:srgbClr val="999988"/>
                </a:solidFill>
                <a:effectLst/>
                <a:latin typeface="Consolas" panose="020B0609020204030204" pitchFamily="49" charset="0"/>
              </a:rPr>
              <a:t>implementasyonunu</a:t>
            </a:r>
            <a:r>
              <a:rPr lang="tr-TR" sz="1600" b="0" i="1" u="none" strike="noStrike" dirty="0">
                <a:solidFill>
                  <a:srgbClr val="999988"/>
                </a:solidFill>
                <a:effectLst/>
                <a:latin typeface="Consolas" panose="020B0609020204030204" pitchFamily="49" charset="0"/>
              </a:rPr>
              <a:t> kullanalım?</a:t>
            </a:r>
            <a:br>
              <a:rPr lang="tr-TR" sz="1600" b="0" i="0" u="none" strike="noStrike" dirty="0">
                <a:solidFill>
                  <a:srgbClr val="333333"/>
                </a:solidFill>
                <a:effectLst/>
                <a:latin typeface="Consolas" panose="020B0609020204030204" pitchFamily="49" charset="0"/>
              </a:rPr>
            </a:br>
            <a:r>
              <a:rPr lang="tr-TR" sz="1600" b="0" i="0" u="none" strike="noStrike" dirty="0">
                <a:solidFill>
                  <a:srgbClr val="333333"/>
                </a:solidFill>
                <a:effectLst/>
                <a:latin typeface="Consolas" panose="020B0609020204030204" pitchFamily="49" charset="0"/>
              </a:rPr>
              <a:t>spring.jpa.properties.hibernate.</a:t>
            </a:r>
            <a:r>
              <a:rPr lang="tr-TR" sz="1600" b="0" i="0" u="none" strike="noStrike" dirty="0">
                <a:solidFill>
                  <a:srgbClr val="000080"/>
                </a:solidFill>
                <a:effectLst/>
                <a:latin typeface="Consolas" panose="020B0609020204030204" pitchFamily="49" charset="0"/>
              </a:rPr>
              <a:t>multi_tenant_connection_provider</a:t>
            </a:r>
            <a:r>
              <a:rPr lang="tr-TR" sz="1600" b="0" i="0" u="none" strike="noStrike" dirty="0">
                <a:solidFill>
                  <a:srgbClr val="333333"/>
                </a:solidFill>
                <a:effectLst/>
                <a:latin typeface="Consolas" panose="020B0609020204030204" pitchFamily="49" charset="0"/>
              </a:rPr>
              <a:t>=</a:t>
            </a:r>
            <a:r>
              <a:rPr lang="tr-TR" sz="1600" b="0" i="0" u="none" strike="noStrike" dirty="0" err="1">
                <a:solidFill>
                  <a:srgbClr val="333333"/>
                </a:solidFill>
                <a:effectLst/>
                <a:latin typeface="Consolas" panose="020B0609020204030204" pitchFamily="49" charset="0"/>
              </a:rPr>
              <a:t>com.e.MultiTenantConnectionProviderImpl</a:t>
            </a:r>
            <a:br>
              <a:rPr lang="tr-TR" sz="1600" b="0" i="0" u="none" strike="noStrike" dirty="0">
                <a:solidFill>
                  <a:srgbClr val="333333"/>
                </a:solidFill>
                <a:effectLst/>
                <a:latin typeface="Consolas" panose="020B0609020204030204" pitchFamily="49" charset="0"/>
              </a:rPr>
            </a:br>
            <a:br>
              <a:rPr lang="tr-TR" sz="1600" b="0" i="0" u="none" strike="noStrike" dirty="0">
                <a:solidFill>
                  <a:srgbClr val="333333"/>
                </a:solidFill>
                <a:effectLst/>
                <a:latin typeface="Consolas" panose="020B0609020204030204" pitchFamily="49" charset="0"/>
              </a:rPr>
            </a:br>
            <a:r>
              <a:rPr lang="tr-TR" sz="1600" b="0" i="1" u="none" strike="noStrike" dirty="0">
                <a:solidFill>
                  <a:srgbClr val="999988"/>
                </a:solidFill>
                <a:effectLst/>
                <a:latin typeface="Consolas" panose="020B0609020204030204" pitchFamily="49" charset="0"/>
              </a:rPr>
              <a:t># Aktif </a:t>
            </a:r>
            <a:r>
              <a:rPr lang="tr-TR" sz="1600" b="0" i="1" u="none" strike="noStrike" dirty="0" err="1">
                <a:solidFill>
                  <a:srgbClr val="999988"/>
                </a:solidFill>
                <a:effectLst/>
                <a:latin typeface="Consolas" panose="020B0609020204030204" pitchFamily="49" charset="0"/>
              </a:rPr>
              <a:t>tenant'ı</a:t>
            </a:r>
            <a:r>
              <a:rPr lang="tr-TR" sz="1600" b="0" i="1" u="none" strike="noStrike" dirty="0">
                <a:solidFill>
                  <a:srgbClr val="999988"/>
                </a:solidFill>
                <a:effectLst/>
                <a:latin typeface="Consolas" panose="020B0609020204030204" pitchFamily="49" charset="0"/>
              </a:rPr>
              <a:t> nasıl belirleyeceğimiz</a:t>
            </a:r>
            <a:br>
              <a:rPr lang="tr-TR" sz="1600" b="0" i="0" u="none" strike="noStrike" dirty="0">
                <a:solidFill>
                  <a:srgbClr val="333333"/>
                </a:solidFill>
                <a:effectLst/>
                <a:latin typeface="Consolas" panose="020B0609020204030204" pitchFamily="49" charset="0"/>
              </a:rPr>
            </a:br>
            <a:r>
              <a:rPr lang="tr-TR" sz="1600" b="0" i="0" u="none" strike="noStrike" dirty="0" err="1">
                <a:solidFill>
                  <a:srgbClr val="333333"/>
                </a:solidFill>
                <a:effectLst/>
                <a:latin typeface="Consolas" panose="020B0609020204030204" pitchFamily="49" charset="0"/>
              </a:rPr>
              <a:t>spring.jpa.properties.hibernate.</a:t>
            </a:r>
            <a:r>
              <a:rPr lang="tr-TR" sz="1600" b="0" i="0" u="none" strike="noStrike" dirty="0" err="1">
                <a:solidFill>
                  <a:srgbClr val="000080"/>
                </a:solidFill>
                <a:effectLst/>
                <a:latin typeface="Consolas" panose="020B0609020204030204" pitchFamily="49" charset="0"/>
              </a:rPr>
              <a:t>tenant_identifier_resolver</a:t>
            </a:r>
            <a:r>
              <a:rPr lang="tr-TR" sz="1600" b="0" i="0" u="none" strike="noStrike" dirty="0">
                <a:solidFill>
                  <a:srgbClr val="333333"/>
                </a:solidFill>
                <a:effectLst/>
                <a:latin typeface="Consolas" panose="020B0609020204030204" pitchFamily="49" charset="0"/>
              </a:rPr>
              <a:t>=</a:t>
            </a:r>
            <a:r>
              <a:rPr lang="tr-TR" sz="1600" b="0" i="0" u="none" strike="noStrike" dirty="0" err="1">
                <a:solidFill>
                  <a:srgbClr val="333333"/>
                </a:solidFill>
                <a:effectLst/>
                <a:latin typeface="Consolas" panose="020B0609020204030204" pitchFamily="49" charset="0"/>
              </a:rPr>
              <a:t>com.e.TenantIdentifierResolver</a:t>
            </a:r>
            <a:endParaRPr lang="tr-TR" sz="900" dirty="0"/>
          </a:p>
        </p:txBody>
      </p:sp>
    </p:spTree>
    <p:extLst>
      <p:ext uri="{BB962C8B-B14F-4D97-AF65-F5344CB8AC3E}">
        <p14:creationId xmlns:p14="http://schemas.microsoft.com/office/powerpoint/2010/main" val="906577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CC63-C90F-B78A-7370-20235F83041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8F5AFC0-49EE-E459-8F21-4699CC99C7B2}"/>
              </a:ext>
            </a:extLst>
          </p:cNvPr>
          <p:cNvSpPr>
            <a:spLocks noGrp="1"/>
          </p:cNvSpPr>
          <p:nvPr>
            <p:ph type="title"/>
          </p:nvPr>
        </p:nvSpPr>
        <p:spPr>
          <a:xfrm>
            <a:off x="2231136" y="272876"/>
            <a:ext cx="7729728" cy="1188720"/>
          </a:xfrm>
        </p:spPr>
        <p:txBody>
          <a:bodyPr/>
          <a:lstStyle/>
          <a:p>
            <a:r>
              <a:rPr lang="tr-TR" dirty="0" err="1"/>
              <a:t>Veritabanı</a:t>
            </a:r>
            <a:r>
              <a:rPr lang="tr-TR" dirty="0"/>
              <a:t> gerçeklemesi - </a:t>
            </a:r>
            <a:r>
              <a:rPr lang="tr-TR" dirty="0" err="1"/>
              <a:t>hıbernate</a:t>
            </a:r>
            <a:endParaRPr lang="tr-TR" dirty="0"/>
          </a:p>
        </p:txBody>
      </p:sp>
      <p:sp>
        <p:nvSpPr>
          <p:cNvPr id="3" name="İçerik Yer Tutucusu 2">
            <a:extLst>
              <a:ext uri="{FF2B5EF4-FFF2-40B4-BE49-F238E27FC236}">
                <a16:creationId xmlns:a16="http://schemas.microsoft.com/office/drawing/2014/main" id="{0CBF846B-D5C6-3752-DE73-5742963A6E28}"/>
              </a:ext>
            </a:extLst>
          </p:cNvPr>
          <p:cNvSpPr>
            <a:spLocks noGrp="1"/>
          </p:cNvSpPr>
          <p:nvPr>
            <p:ph idx="1"/>
          </p:nvPr>
        </p:nvSpPr>
        <p:spPr>
          <a:xfrm>
            <a:off x="474886" y="1894974"/>
            <a:ext cx="3435377" cy="4179891"/>
          </a:xfrm>
        </p:spPr>
        <p:txBody>
          <a:bodyPr>
            <a:noAutofit/>
          </a:bodyPr>
          <a:lstStyle/>
          <a:p>
            <a:pPr algn="l">
              <a:buFont typeface="Arial" panose="020B0604020202020204" pitchFamily="34" charset="0"/>
              <a:buChar char="•"/>
            </a:pPr>
            <a:r>
              <a:rPr lang="tr-TR" b="0" i="0" u="none" strike="noStrike" dirty="0" err="1">
                <a:solidFill>
                  <a:srgbClr val="000000"/>
                </a:solidFill>
                <a:effectLst/>
              </a:rPr>
              <a:t>Hibernate’i</a:t>
            </a:r>
            <a:r>
              <a:rPr lang="tr-TR" b="0" i="0" u="none" strike="noStrike" dirty="0">
                <a:solidFill>
                  <a:srgbClr val="000000"/>
                </a:solidFill>
                <a:effectLst/>
              </a:rPr>
              <a:t> </a:t>
            </a:r>
            <a:r>
              <a:rPr lang="tr-TR" b="0" i="0" u="none" strike="noStrike" dirty="0" err="1">
                <a:solidFill>
                  <a:srgbClr val="000000"/>
                </a:solidFill>
                <a:effectLst/>
              </a:rPr>
              <a:t>tenant</a:t>
            </a:r>
            <a:r>
              <a:rPr lang="tr-TR" dirty="0" err="1">
                <a:solidFill>
                  <a:srgbClr val="000000"/>
                </a:solidFill>
              </a:rPr>
              <a:t>-aware</a:t>
            </a:r>
            <a:r>
              <a:rPr lang="tr-TR" dirty="0">
                <a:solidFill>
                  <a:srgbClr val="000000"/>
                </a:solidFill>
              </a:rPr>
              <a:t> getirmek için iki </a:t>
            </a:r>
            <a:r>
              <a:rPr lang="tr-TR" dirty="0" err="1">
                <a:solidFill>
                  <a:srgbClr val="000000"/>
                </a:solidFill>
              </a:rPr>
              <a:t>arayüzü</a:t>
            </a:r>
            <a:r>
              <a:rPr lang="tr-TR" dirty="0">
                <a:solidFill>
                  <a:srgbClr val="000000"/>
                </a:solidFill>
              </a:rPr>
              <a:t> gerçeklememiz ve bazı </a:t>
            </a:r>
            <a:r>
              <a:rPr lang="tr-TR" dirty="0" err="1">
                <a:solidFill>
                  <a:srgbClr val="000000"/>
                </a:solidFill>
              </a:rPr>
              <a:t>konfigurasyonları</a:t>
            </a:r>
            <a:r>
              <a:rPr lang="tr-TR" dirty="0">
                <a:solidFill>
                  <a:srgbClr val="000000"/>
                </a:solidFill>
              </a:rPr>
              <a:t> vermemiz gerekir.</a:t>
            </a:r>
          </a:p>
          <a:p>
            <a:pPr algn="l">
              <a:buFont typeface="Arial" panose="020B0604020202020204" pitchFamily="34" charset="0"/>
              <a:buChar char="•"/>
            </a:pPr>
            <a:endParaRPr lang="tr-TR" dirty="0">
              <a:solidFill>
                <a:srgbClr val="000000"/>
              </a:solidFill>
            </a:endParaRPr>
          </a:p>
        </p:txBody>
      </p:sp>
      <p:sp>
        <p:nvSpPr>
          <p:cNvPr id="4" name="Metin kutusu 3">
            <a:extLst>
              <a:ext uri="{FF2B5EF4-FFF2-40B4-BE49-F238E27FC236}">
                <a16:creationId xmlns:a16="http://schemas.microsoft.com/office/drawing/2014/main" id="{11F87C56-DB13-236D-2EF4-E97C3CC173B2}"/>
              </a:ext>
            </a:extLst>
          </p:cNvPr>
          <p:cNvSpPr txBox="1"/>
          <p:nvPr/>
        </p:nvSpPr>
        <p:spPr>
          <a:xfrm>
            <a:off x="3807995" y="1894974"/>
            <a:ext cx="7909119" cy="2554545"/>
          </a:xfrm>
          <a:prstGeom prst="rect">
            <a:avLst/>
          </a:prstGeom>
          <a:noFill/>
        </p:spPr>
        <p:txBody>
          <a:bodyPr wrap="square" rtlCol="0">
            <a:spAutoFit/>
          </a:bodyPr>
          <a:lstStyle/>
          <a:p>
            <a:r>
              <a:rPr lang="tr-TR" sz="1600" b="0" i="1" u="none" strike="noStrike" dirty="0">
                <a:solidFill>
                  <a:srgbClr val="999988"/>
                </a:solidFill>
                <a:effectLst/>
                <a:latin typeface="Consolas" panose="020B0609020204030204" pitchFamily="49" charset="0"/>
              </a:rPr>
              <a:t># </a:t>
            </a:r>
            <a:r>
              <a:rPr lang="tr-TR" sz="1600" b="0" i="1" u="none" strike="noStrike" dirty="0" err="1">
                <a:solidFill>
                  <a:srgbClr val="999988"/>
                </a:solidFill>
                <a:effectLst/>
                <a:latin typeface="Consolas" panose="020B0609020204030204" pitchFamily="49" charset="0"/>
              </a:rPr>
              <a:t>Multitenancy</a:t>
            </a:r>
            <a:r>
              <a:rPr lang="tr-TR" sz="1600" b="0" i="1" u="none" strike="noStrike" dirty="0">
                <a:solidFill>
                  <a:srgbClr val="999988"/>
                </a:solidFill>
                <a:effectLst/>
                <a:latin typeface="Consolas" panose="020B0609020204030204" pitchFamily="49" charset="0"/>
              </a:rPr>
              <a:t> stratejisini belirtir</a:t>
            </a:r>
            <a:br>
              <a:rPr lang="tr-TR" sz="1600" b="0" i="0" u="none" strike="noStrike" dirty="0">
                <a:solidFill>
                  <a:srgbClr val="333333"/>
                </a:solidFill>
                <a:effectLst/>
                <a:latin typeface="Consolas" panose="020B0609020204030204" pitchFamily="49" charset="0"/>
              </a:rPr>
            </a:br>
            <a:r>
              <a:rPr lang="tr-TR" sz="1600" b="0" i="0" u="none" strike="noStrike" dirty="0" err="1">
                <a:solidFill>
                  <a:srgbClr val="333333"/>
                </a:solidFill>
                <a:effectLst/>
                <a:latin typeface="Consolas" panose="020B0609020204030204" pitchFamily="49" charset="0"/>
              </a:rPr>
              <a:t>spring.jpa.properties.hibernate.</a:t>
            </a:r>
            <a:r>
              <a:rPr lang="tr-TR" sz="1600" b="0" i="0" u="none" strike="noStrike" dirty="0" err="1">
                <a:solidFill>
                  <a:srgbClr val="000080"/>
                </a:solidFill>
                <a:effectLst/>
                <a:latin typeface="Consolas" panose="020B0609020204030204" pitchFamily="49" charset="0"/>
              </a:rPr>
              <a:t>multiTenancy</a:t>
            </a:r>
            <a:r>
              <a:rPr lang="tr-TR" sz="1600" b="0" i="0" u="none" strike="noStrike" dirty="0">
                <a:solidFill>
                  <a:srgbClr val="333333"/>
                </a:solidFill>
                <a:effectLst/>
                <a:latin typeface="Consolas" panose="020B0609020204030204" pitchFamily="49" charset="0"/>
              </a:rPr>
              <a:t>=DATABASE</a:t>
            </a:r>
            <a:br>
              <a:rPr lang="tr-TR" sz="1600" b="0" i="0" u="none" strike="noStrike" dirty="0">
                <a:solidFill>
                  <a:srgbClr val="333333"/>
                </a:solidFill>
                <a:effectLst/>
                <a:latin typeface="Consolas" panose="020B0609020204030204" pitchFamily="49" charset="0"/>
              </a:rPr>
            </a:br>
            <a:br>
              <a:rPr lang="tr-TR" sz="1600" b="0" i="0" u="none" strike="noStrike" dirty="0">
                <a:solidFill>
                  <a:srgbClr val="333333"/>
                </a:solidFill>
                <a:effectLst/>
                <a:latin typeface="Consolas" panose="020B0609020204030204" pitchFamily="49" charset="0"/>
              </a:rPr>
            </a:br>
            <a:r>
              <a:rPr lang="tr-TR" sz="1600" b="0" i="1" u="none" strike="noStrike" dirty="0">
                <a:solidFill>
                  <a:srgbClr val="999988"/>
                </a:solidFill>
                <a:effectLst/>
                <a:latin typeface="Consolas" panose="020B0609020204030204" pitchFamily="49" charset="0"/>
              </a:rPr>
              <a:t># Hangi </a:t>
            </a:r>
            <a:r>
              <a:rPr lang="tr-TR" sz="1600" b="0" i="1" u="none" strike="noStrike" dirty="0" err="1">
                <a:solidFill>
                  <a:srgbClr val="999988"/>
                </a:solidFill>
                <a:effectLst/>
                <a:latin typeface="Consolas" panose="020B0609020204030204" pitchFamily="49" charset="0"/>
              </a:rPr>
              <a:t>connection</a:t>
            </a:r>
            <a:r>
              <a:rPr lang="tr-TR" sz="1600" b="0" i="1" u="none" strike="noStrike" dirty="0">
                <a:solidFill>
                  <a:srgbClr val="999988"/>
                </a:solidFill>
                <a:effectLst/>
                <a:latin typeface="Consolas" panose="020B0609020204030204" pitchFamily="49" charset="0"/>
              </a:rPr>
              <a:t> </a:t>
            </a:r>
            <a:r>
              <a:rPr lang="tr-TR" sz="1600" b="0" i="1" u="none" strike="noStrike" dirty="0" err="1">
                <a:solidFill>
                  <a:srgbClr val="999988"/>
                </a:solidFill>
                <a:effectLst/>
                <a:latin typeface="Consolas" panose="020B0609020204030204" pitchFamily="49" charset="0"/>
              </a:rPr>
              <a:t>provider</a:t>
            </a:r>
            <a:r>
              <a:rPr lang="tr-TR" sz="1600" b="0" i="1" u="none" strike="noStrike" dirty="0">
                <a:solidFill>
                  <a:srgbClr val="999988"/>
                </a:solidFill>
                <a:effectLst/>
                <a:latin typeface="Consolas" panose="020B0609020204030204" pitchFamily="49" charset="0"/>
              </a:rPr>
              <a:t> </a:t>
            </a:r>
            <a:r>
              <a:rPr lang="tr-TR" sz="1600" b="0" i="1" u="none" strike="noStrike" dirty="0" err="1">
                <a:solidFill>
                  <a:srgbClr val="999988"/>
                </a:solidFill>
                <a:effectLst/>
                <a:latin typeface="Consolas" panose="020B0609020204030204" pitchFamily="49" charset="0"/>
              </a:rPr>
              <a:t>implementasyonunu</a:t>
            </a:r>
            <a:r>
              <a:rPr lang="tr-TR" sz="1600" b="0" i="1" u="none" strike="noStrike" dirty="0">
                <a:solidFill>
                  <a:srgbClr val="999988"/>
                </a:solidFill>
                <a:effectLst/>
                <a:latin typeface="Consolas" panose="020B0609020204030204" pitchFamily="49" charset="0"/>
              </a:rPr>
              <a:t> kullanalım?</a:t>
            </a:r>
            <a:br>
              <a:rPr lang="tr-TR" sz="1600" b="0" i="0" u="none" strike="noStrike" dirty="0">
                <a:solidFill>
                  <a:srgbClr val="333333"/>
                </a:solidFill>
                <a:effectLst/>
                <a:latin typeface="Consolas" panose="020B0609020204030204" pitchFamily="49" charset="0"/>
              </a:rPr>
            </a:br>
            <a:r>
              <a:rPr lang="tr-TR" sz="1600" b="0" i="0" u="none" strike="noStrike" dirty="0">
                <a:solidFill>
                  <a:srgbClr val="333333"/>
                </a:solidFill>
                <a:effectLst/>
                <a:latin typeface="Consolas" panose="020B0609020204030204" pitchFamily="49" charset="0"/>
              </a:rPr>
              <a:t>spring.jpa.properties.hibernate.</a:t>
            </a:r>
            <a:r>
              <a:rPr lang="tr-TR" sz="1600" b="0" i="0" u="none" strike="noStrike" dirty="0">
                <a:solidFill>
                  <a:srgbClr val="000080"/>
                </a:solidFill>
                <a:effectLst/>
                <a:latin typeface="Consolas" panose="020B0609020204030204" pitchFamily="49" charset="0"/>
              </a:rPr>
              <a:t>multi_tenant_connection_provider</a:t>
            </a:r>
            <a:r>
              <a:rPr lang="tr-TR" sz="1600" b="0" i="0" u="none" strike="noStrike" dirty="0">
                <a:solidFill>
                  <a:srgbClr val="333333"/>
                </a:solidFill>
                <a:effectLst/>
                <a:latin typeface="Consolas" panose="020B0609020204030204" pitchFamily="49" charset="0"/>
              </a:rPr>
              <a:t>=</a:t>
            </a:r>
            <a:r>
              <a:rPr lang="tr-TR" sz="1600" b="0" i="0" u="none" strike="noStrike" dirty="0" err="1">
                <a:solidFill>
                  <a:srgbClr val="333333"/>
                </a:solidFill>
                <a:effectLst/>
                <a:latin typeface="Consolas" panose="020B0609020204030204" pitchFamily="49" charset="0"/>
              </a:rPr>
              <a:t>com.e.MultiTenantConnectionProviderImpl</a:t>
            </a:r>
            <a:br>
              <a:rPr lang="tr-TR" sz="1600" b="0" i="0" u="none" strike="noStrike" dirty="0">
                <a:solidFill>
                  <a:srgbClr val="333333"/>
                </a:solidFill>
                <a:effectLst/>
                <a:latin typeface="Consolas" panose="020B0609020204030204" pitchFamily="49" charset="0"/>
              </a:rPr>
            </a:br>
            <a:br>
              <a:rPr lang="tr-TR" sz="1600" b="0" i="0" u="none" strike="noStrike" dirty="0">
                <a:solidFill>
                  <a:srgbClr val="333333"/>
                </a:solidFill>
                <a:effectLst/>
                <a:latin typeface="Consolas" panose="020B0609020204030204" pitchFamily="49" charset="0"/>
              </a:rPr>
            </a:br>
            <a:r>
              <a:rPr lang="tr-TR" sz="1600" b="0" i="1" u="none" strike="noStrike" dirty="0">
                <a:solidFill>
                  <a:srgbClr val="999988"/>
                </a:solidFill>
                <a:effectLst/>
                <a:latin typeface="Consolas" panose="020B0609020204030204" pitchFamily="49" charset="0"/>
              </a:rPr>
              <a:t># Aktif </a:t>
            </a:r>
            <a:r>
              <a:rPr lang="tr-TR" sz="1600" b="0" i="1" u="none" strike="noStrike" dirty="0" err="1">
                <a:solidFill>
                  <a:srgbClr val="999988"/>
                </a:solidFill>
                <a:effectLst/>
                <a:latin typeface="Consolas" panose="020B0609020204030204" pitchFamily="49" charset="0"/>
              </a:rPr>
              <a:t>tenant'ı</a:t>
            </a:r>
            <a:r>
              <a:rPr lang="tr-TR" sz="1600" b="0" i="1" u="none" strike="noStrike" dirty="0">
                <a:solidFill>
                  <a:srgbClr val="999988"/>
                </a:solidFill>
                <a:effectLst/>
                <a:latin typeface="Consolas" panose="020B0609020204030204" pitchFamily="49" charset="0"/>
              </a:rPr>
              <a:t> nasıl belirleyeceğimiz</a:t>
            </a:r>
            <a:br>
              <a:rPr lang="tr-TR" sz="1600" b="0" i="0" u="none" strike="noStrike" dirty="0">
                <a:solidFill>
                  <a:srgbClr val="333333"/>
                </a:solidFill>
                <a:effectLst/>
                <a:latin typeface="Consolas" panose="020B0609020204030204" pitchFamily="49" charset="0"/>
              </a:rPr>
            </a:br>
            <a:r>
              <a:rPr lang="tr-TR" sz="1600" b="0" i="0" u="none" strike="noStrike" dirty="0" err="1">
                <a:solidFill>
                  <a:srgbClr val="333333"/>
                </a:solidFill>
                <a:effectLst/>
                <a:latin typeface="Consolas" panose="020B0609020204030204" pitchFamily="49" charset="0"/>
              </a:rPr>
              <a:t>spring.jpa.properties.hibernate.</a:t>
            </a:r>
            <a:r>
              <a:rPr lang="tr-TR" sz="1600" b="0" i="0" u="none" strike="noStrike" dirty="0" err="1">
                <a:solidFill>
                  <a:srgbClr val="000080"/>
                </a:solidFill>
                <a:effectLst/>
                <a:latin typeface="Consolas" panose="020B0609020204030204" pitchFamily="49" charset="0"/>
              </a:rPr>
              <a:t>tenant_identifier_resolver</a:t>
            </a:r>
            <a:r>
              <a:rPr lang="tr-TR" sz="1600" b="0" i="0" u="none" strike="noStrike" dirty="0">
                <a:solidFill>
                  <a:srgbClr val="333333"/>
                </a:solidFill>
                <a:effectLst/>
                <a:latin typeface="Consolas" panose="020B0609020204030204" pitchFamily="49" charset="0"/>
              </a:rPr>
              <a:t>=</a:t>
            </a:r>
            <a:r>
              <a:rPr lang="tr-TR" sz="1600" b="0" i="0" u="none" strike="noStrike" dirty="0" err="1">
                <a:solidFill>
                  <a:srgbClr val="333333"/>
                </a:solidFill>
                <a:effectLst/>
                <a:latin typeface="Consolas" panose="020B0609020204030204" pitchFamily="49" charset="0"/>
              </a:rPr>
              <a:t>com.e.TenantIdentifierResolver</a:t>
            </a:r>
            <a:endParaRPr lang="tr-TR" sz="900" dirty="0"/>
          </a:p>
        </p:txBody>
      </p:sp>
    </p:spTree>
    <p:extLst>
      <p:ext uri="{BB962C8B-B14F-4D97-AF65-F5344CB8AC3E}">
        <p14:creationId xmlns:p14="http://schemas.microsoft.com/office/powerpoint/2010/main" val="2114137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3E57E-4A70-CDD8-A103-3316A3012DF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F2652F2-C312-6789-7288-90F1594B5B17}"/>
              </a:ext>
            </a:extLst>
          </p:cNvPr>
          <p:cNvSpPr>
            <a:spLocks noGrp="1"/>
          </p:cNvSpPr>
          <p:nvPr>
            <p:ph type="title"/>
          </p:nvPr>
        </p:nvSpPr>
        <p:spPr>
          <a:xfrm>
            <a:off x="2231136" y="272876"/>
            <a:ext cx="7729728" cy="1188720"/>
          </a:xfrm>
        </p:spPr>
        <p:txBody>
          <a:bodyPr/>
          <a:lstStyle/>
          <a:p>
            <a:r>
              <a:rPr lang="tr-TR" dirty="0" err="1"/>
              <a:t>Veritabanı</a:t>
            </a:r>
            <a:r>
              <a:rPr lang="tr-TR" dirty="0"/>
              <a:t> gerçeklemesi - </a:t>
            </a:r>
            <a:r>
              <a:rPr lang="tr-TR" dirty="0" err="1"/>
              <a:t>hıbernate</a:t>
            </a:r>
            <a:endParaRPr lang="tr-TR" dirty="0"/>
          </a:p>
        </p:txBody>
      </p:sp>
      <p:sp>
        <p:nvSpPr>
          <p:cNvPr id="3" name="İçerik Yer Tutucusu 2">
            <a:extLst>
              <a:ext uri="{FF2B5EF4-FFF2-40B4-BE49-F238E27FC236}">
                <a16:creationId xmlns:a16="http://schemas.microsoft.com/office/drawing/2014/main" id="{C7117DC9-345E-9C42-E2C1-B483EEFC99AD}"/>
              </a:ext>
            </a:extLst>
          </p:cNvPr>
          <p:cNvSpPr>
            <a:spLocks noGrp="1"/>
          </p:cNvSpPr>
          <p:nvPr>
            <p:ph idx="1"/>
          </p:nvPr>
        </p:nvSpPr>
        <p:spPr>
          <a:xfrm>
            <a:off x="126332" y="1894974"/>
            <a:ext cx="3681663" cy="4179891"/>
          </a:xfrm>
        </p:spPr>
        <p:txBody>
          <a:bodyPr>
            <a:noAutofit/>
          </a:bodyPr>
          <a:lstStyle/>
          <a:p>
            <a:pPr marL="0" indent="0" algn="ctr">
              <a:buNone/>
            </a:pPr>
            <a:r>
              <a:rPr lang="tr-TR" b="1" dirty="0" err="1">
                <a:solidFill>
                  <a:srgbClr val="000000"/>
                </a:solidFill>
              </a:rPr>
              <a:t>CurrentTenantIdentifierResolver</a:t>
            </a:r>
            <a:endParaRPr lang="tr-TR" b="1" i="0" u="none" strike="noStrike" dirty="0">
              <a:solidFill>
                <a:srgbClr val="000000"/>
              </a:solidFill>
              <a:effectLst/>
            </a:endParaRPr>
          </a:p>
          <a:p>
            <a:r>
              <a:rPr lang="tr-TR" b="0" i="0" u="none" strike="noStrike" dirty="0" err="1">
                <a:solidFill>
                  <a:srgbClr val="000000"/>
                </a:solidFill>
                <a:effectLst/>
              </a:rPr>
              <a:t>Hibernate</a:t>
            </a:r>
            <a:r>
              <a:rPr lang="tr-TR" b="0" i="0" u="none" strike="noStrike" dirty="0">
                <a:solidFill>
                  <a:srgbClr val="000000"/>
                </a:solidFill>
                <a:effectLst/>
              </a:rPr>
              <a:t> her SQL işlemi yapmadan önce, hangi </a:t>
            </a:r>
            <a:r>
              <a:rPr lang="tr-TR" b="0" i="0" u="none" strike="noStrike" dirty="0" err="1">
                <a:solidFill>
                  <a:srgbClr val="000000"/>
                </a:solidFill>
                <a:effectLst/>
              </a:rPr>
              <a:t>tenant’a</a:t>
            </a:r>
            <a:r>
              <a:rPr lang="tr-TR" b="0" i="0" u="none" strike="noStrike" dirty="0">
                <a:solidFill>
                  <a:srgbClr val="000000"/>
                </a:solidFill>
                <a:effectLst/>
              </a:rPr>
              <a:t> ait olduğunu anlamak için bu </a:t>
            </a:r>
            <a:r>
              <a:rPr lang="tr-TR" b="0" i="0" u="none" strike="noStrike" dirty="0" err="1">
                <a:solidFill>
                  <a:srgbClr val="000000"/>
                </a:solidFill>
                <a:effectLst/>
              </a:rPr>
              <a:t>interface’i</a:t>
            </a:r>
            <a:r>
              <a:rPr lang="tr-TR" b="0" i="0" u="none" strike="noStrike" dirty="0">
                <a:solidFill>
                  <a:srgbClr val="000000"/>
                </a:solidFill>
                <a:effectLst/>
              </a:rPr>
              <a:t> çağırır.</a:t>
            </a:r>
          </a:p>
          <a:p>
            <a:pPr marL="0" indent="0" algn="l">
              <a:buNone/>
            </a:pPr>
            <a:endParaRPr lang="tr-TR" dirty="0">
              <a:solidFill>
                <a:srgbClr val="000000"/>
              </a:solidFill>
            </a:endParaRPr>
          </a:p>
          <a:p>
            <a:pPr algn="l">
              <a:buFont typeface="Arial" panose="020B0604020202020204" pitchFamily="34" charset="0"/>
              <a:buChar char="•"/>
            </a:pPr>
            <a:endParaRPr lang="tr-TR" dirty="0">
              <a:solidFill>
                <a:srgbClr val="000000"/>
              </a:solidFill>
            </a:endParaRPr>
          </a:p>
        </p:txBody>
      </p:sp>
      <p:sp>
        <p:nvSpPr>
          <p:cNvPr id="4" name="Metin kutusu 3">
            <a:extLst>
              <a:ext uri="{FF2B5EF4-FFF2-40B4-BE49-F238E27FC236}">
                <a16:creationId xmlns:a16="http://schemas.microsoft.com/office/drawing/2014/main" id="{DA5F4649-7AB2-CE07-8F5B-19FA73B209C0}"/>
              </a:ext>
            </a:extLst>
          </p:cNvPr>
          <p:cNvSpPr txBox="1"/>
          <p:nvPr/>
        </p:nvSpPr>
        <p:spPr>
          <a:xfrm>
            <a:off x="4307305" y="1894974"/>
            <a:ext cx="7409809" cy="3754874"/>
          </a:xfrm>
          <a:prstGeom prst="rect">
            <a:avLst/>
          </a:prstGeom>
          <a:noFill/>
        </p:spPr>
        <p:txBody>
          <a:bodyPr wrap="square" rtlCol="0">
            <a:spAutoFit/>
          </a:bodyPr>
          <a:lstStyle/>
          <a:p>
            <a:r>
              <a:rPr lang="tr-TR" sz="1400" b="1" i="0" u="none" strike="noStrike" dirty="0">
                <a:solidFill>
                  <a:srgbClr val="999999"/>
                </a:solidFill>
                <a:effectLst/>
                <a:latin typeface="Consolas" panose="020B0609020204030204" pitchFamily="49" charset="0"/>
              </a:rPr>
              <a:t>@Component</a:t>
            </a:r>
            <a:br>
              <a:rPr lang="tr-TR" sz="1400" b="0" i="0" u="none" strike="noStrike" dirty="0">
                <a:solidFill>
                  <a:srgbClr val="333333"/>
                </a:solidFill>
                <a:effectLst/>
                <a:latin typeface="Consolas" panose="020B0609020204030204" pitchFamily="49" charset="0"/>
              </a:rPr>
            </a:br>
            <a:r>
              <a:rPr lang="tr-TR" sz="1400" b="1" i="0" u="none" strike="noStrike" dirty="0" err="1">
                <a:solidFill>
                  <a:srgbClr val="333333"/>
                </a:solidFill>
                <a:effectLst/>
                <a:latin typeface="Consolas" panose="020B0609020204030204" pitchFamily="49" charset="0"/>
              </a:rPr>
              <a:t>public</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class</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445588"/>
                </a:solidFill>
                <a:effectLst/>
                <a:latin typeface="Consolas" panose="020B0609020204030204" pitchFamily="49" charset="0"/>
              </a:rPr>
              <a:t>TenantIdentifierResolver</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implements</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445588"/>
                </a:solidFill>
                <a:effectLst/>
                <a:latin typeface="Consolas" panose="020B0609020204030204" pitchFamily="49" charset="0"/>
              </a:rPr>
              <a:t>CurrentTenantIdentifierResolver</a:t>
            </a:r>
            <a:r>
              <a:rPr lang="tr-TR" sz="1400" b="0" i="0" u="none" strike="noStrike" dirty="0">
                <a:solidFill>
                  <a:srgbClr val="333333"/>
                </a:solidFill>
                <a:effectLst/>
                <a:latin typeface="Consolas" panose="020B0609020204030204" pitchFamily="49" charset="0"/>
              </a:rPr>
              <a:t> {</a:t>
            </a:r>
            <a:br>
              <a:rPr lang="tr-TR" sz="1400" b="0" i="0" u="none" strike="noStrike" dirty="0">
                <a:solidFill>
                  <a:srgbClr val="333333"/>
                </a:solidFill>
                <a:effectLst/>
                <a:latin typeface="Consolas" panose="020B0609020204030204" pitchFamily="49" charset="0"/>
              </a:rPr>
            </a:b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private</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static</a:t>
            </a:r>
            <a:r>
              <a:rPr lang="tr-TR" sz="1400" b="0" i="0" u="none" strike="noStrike" dirty="0">
                <a:solidFill>
                  <a:srgbClr val="333333"/>
                </a:solidFill>
                <a:effectLst/>
                <a:latin typeface="Consolas" panose="020B0609020204030204" pitchFamily="49" charset="0"/>
              </a:rPr>
              <a:t> </a:t>
            </a:r>
            <a:r>
              <a:rPr lang="tr-TR" sz="1400" b="1" i="0" u="none" strike="noStrike" dirty="0">
                <a:solidFill>
                  <a:srgbClr val="333333"/>
                </a:solidFill>
                <a:effectLst/>
                <a:latin typeface="Consolas" panose="020B0609020204030204" pitchFamily="49" charset="0"/>
              </a:rPr>
              <a:t>final</a:t>
            </a:r>
            <a:r>
              <a:rPr lang="tr-TR" sz="1400" b="0" i="0" u="none" strike="noStrike" dirty="0">
                <a:solidFill>
                  <a:srgbClr val="333333"/>
                </a:solidFill>
                <a:effectLst/>
                <a:latin typeface="Consolas" panose="020B0609020204030204" pitchFamily="49" charset="0"/>
              </a:rPr>
              <a:t> </a:t>
            </a:r>
            <a:r>
              <a:rPr lang="tr-TR" sz="1400" b="0" i="0" u="none" strike="noStrike" dirty="0" err="1">
                <a:solidFill>
                  <a:srgbClr val="333333"/>
                </a:solidFill>
                <a:effectLst/>
                <a:latin typeface="Consolas" panose="020B0609020204030204" pitchFamily="49" charset="0"/>
              </a:rPr>
              <a:t>String</a:t>
            </a:r>
            <a:r>
              <a:rPr lang="tr-TR" sz="1400" b="0" i="0" u="none" strike="noStrike" dirty="0">
                <a:solidFill>
                  <a:srgbClr val="333333"/>
                </a:solidFill>
                <a:effectLst/>
                <a:latin typeface="Consolas" panose="020B0609020204030204" pitchFamily="49" charset="0"/>
              </a:rPr>
              <a:t> DEFAULT_TENANT = </a:t>
            </a:r>
            <a:r>
              <a:rPr lang="tr-TR" sz="1400" b="0" i="0" u="none" strike="noStrike" dirty="0">
                <a:solidFill>
                  <a:srgbClr val="DD1144"/>
                </a:solidFill>
                <a:effectLst/>
                <a:latin typeface="Consolas" panose="020B0609020204030204" pitchFamily="49" charset="0"/>
              </a:rPr>
              <a:t>"</a:t>
            </a:r>
            <a:r>
              <a:rPr lang="tr-TR" sz="1400" b="0" i="0" u="none" strike="noStrike" dirty="0" err="1">
                <a:solidFill>
                  <a:srgbClr val="DD1144"/>
                </a:solidFill>
                <a:effectLst/>
                <a:latin typeface="Consolas" panose="020B0609020204030204" pitchFamily="49" charset="0"/>
              </a:rPr>
              <a:t>public</a:t>
            </a:r>
            <a:r>
              <a:rPr lang="tr-TR" sz="1400" b="0" i="0" u="none" strike="noStrike" dirty="0">
                <a:solidFill>
                  <a:srgbClr val="DD1144"/>
                </a:solidFill>
                <a:effectLst/>
                <a:latin typeface="Consolas" panose="020B0609020204030204" pitchFamily="49" charset="0"/>
              </a:rPr>
              <a:t>"</a:t>
            </a:r>
            <a:r>
              <a:rPr lang="tr-TR" sz="1400" b="0" i="0" u="none" strike="noStrike" dirty="0">
                <a:solidFill>
                  <a:srgbClr val="333333"/>
                </a:solidFill>
                <a:effectLst/>
                <a:latin typeface="Consolas" panose="020B0609020204030204" pitchFamily="49" charset="0"/>
              </a:rPr>
              <a:t>;</a:t>
            </a:r>
            <a:br>
              <a:rPr lang="tr-TR" sz="1400" b="0" i="0" u="none" strike="noStrike" dirty="0">
                <a:solidFill>
                  <a:srgbClr val="333333"/>
                </a:solidFill>
                <a:effectLst/>
                <a:latin typeface="Consolas" panose="020B0609020204030204" pitchFamily="49" charset="0"/>
              </a:rPr>
            </a:b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a:solidFill>
                  <a:srgbClr val="999999"/>
                </a:solidFill>
                <a:effectLst/>
                <a:latin typeface="Consolas" panose="020B0609020204030204" pitchFamily="49" charset="0"/>
              </a:rPr>
              <a:t>@</a:t>
            </a:r>
            <a:r>
              <a:rPr lang="tr-TR" sz="1400" b="1" i="0" u="none" strike="noStrike" dirty="0" err="1">
                <a:solidFill>
                  <a:srgbClr val="999999"/>
                </a:solidFill>
                <a:effectLst/>
                <a:latin typeface="Consolas" panose="020B0609020204030204" pitchFamily="49" charset="0"/>
              </a:rPr>
              <a:t>Override</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public</a:t>
            </a:r>
            <a:r>
              <a:rPr lang="tr-TR" sz="1400" b="0" i="0" u="none" strike="noStrike" dirty="0">
                <a:solidFill>
                  <a:srgbClr val="333333"/>
                </a:solidFill>
                <a:effectLst/>
                <a:latin typeface="Consolas" panose="020B0609020204030204" pitchFamily="49" charset="0"/>
              </a:rPr>
              <a:t> </a:t>
            </a:r>
            <a:r>
              <a:rPr lang="tr-TR" sz="1400" b="0" i="0" u="none" strike="noStrike" dirty="0" err="1">
                <a:solidFill>
                  <a:srgbClr val="333333"/>
                </a:solidFill>
                <a:effectLst/>
                <a:latin typeface="Consolas" panose="020B0609020204030204" pitchFamily="49" charset="0"/>
              </a:rPr>
              <a:t>String</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990000"/>
                </a:solidFill>
                <a:effectLst/>
                <a:latin typeface="Consolas" panose="020B0609020204030204" pitchFamily="49" charset="0"/>
              </a:rPr>
              <a:t>resolveCurrentTenantIdentifier</a:t>
            </a:r>
            <a:r>
              <a:rPr lang="tr-TR" sz="1400" b="0" i="0" u="none" strike="noStrike" dirty="0">
                <a:solidFill>
                  <a:srgbClr val="333333"/>
                </a:solidFill>
                <a:effectLst/>
                <a:latin typeface="Consolas" panose="020B0609020204030204" pitchFamily="49" charset="0"/>
              </a:rPr>
              <a:t>() {</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0" i="0" u="none" strike="noStrike" dirty="0" err="1">
                <a:solidFill>
                  <a:srgbClr val="333333"/>
                </a:solidFill>
                <a:effectLst/>
                <a:latin typeface="Consolas" panose="020B0609020204030204" pitchFamily="49" charset="0"/>
              </a:rPr>
              <a:t>String</a:t>
            </a:r>
            <a:r>
              <a:rPr lang="tr-TR" sz="1400" b="0" i="0" u="none" strike="noStrike" dirty="0">
                <a:solidFill>
                  <a:srgbClr val="333333"/>
                </a:solidFill>
                <a:effectLst/>
                <a:latin typeface="Consolas" panose="020B0609020204030204" pitchFamily="49" charset="0"/>
              </a:rPr>
              <a:t> </a:t>
            </a:r>
            <a:r>
              <a:rPr lang="tr-TR" sz="1400" b="0" i="0" u="none" strike="noStrike" dirty="0" err="1">
                <a:solidFill>
                  <a:srgbClr val="333333"/>
                </a:solidFill>
                <a:effectLst/>
                <a:latin typeface="Consolas" panose="020B0609020204030204" pitchFamily="49" charset="0"/>
              </a:rPr>
              <a:t>tenantId</a:t>
            </a:r>
            <a:r>
              <a:rPr lang="tr-TR" sz="1400" b="0" i="0" u="none" strike="noStrike" dirty="0">
                <a:solidFill>
                  <a:srgbClr val="333333"/>
                </a:solidFill>
                <a:effectLst/>
                <a:latin typeface="Consolas" panose="020B0609020204030204" pitchFamily="49" charset="0"/>
              </a:rPr>
              <a:t> = </a:t>
            </a:r>
            <a:r>
              <a:rPr lang="tr-TR" sz="1400" b="0" i="0" u="none" strike="noStrike" dirty="0" err="1">
                <a:solidFill>
                  <a:srgbClr val="333333"/>
                </a:solidFill>
                <a:effectLst/>
                <a:latin typeface="Consolas" panose="020B0609020204030204" pitchFamily="49" charset="0"/>
              </a:rPr>
              <a:t>TenantContextHolder.getTenantId</a:t>
            </a:r>
            <a:r>
              <a:rPr lang="tr-TR" sz="1400" b="0" i="0" u="none" strike="noStrike" dirty="0">
                <a:solidFill>
                  <a:srgbClr val="333333"/>
                </a:solidFill>
                <a:effectLst/>
                <a:latin typeface="Consolas" panose="020B0609020204030204" pitchFamily="49" charset="0"/>
              </a:rPr>
              <a:t>();</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return</a:t>
            </a:r>
            <a:r>
              <a:rPr lang="tr-TR" sz="1400" b="0" i="0" u="none" strike="noStrike" dirty="0">
                <a:solidFill>
                  <a:srgbClr val="333333"/>
                </a:solidFill>
                <a:effectLst/>
                <a:latin typeface="Consolas" panose="020B0609020204030204" pitchFamily="49" charset="0"/>
              </a:rPr>
              <a:t> (</a:t>
            </a:r>
            <a:r>
              <a:rPr lang="tr-TR" sz="1400" b="0" i="0" u="none" strike="noStrike" dirty="0" err="1">
                <a:solidFill>
                  <a:srgbClr val="333333"/>
                </a:solidFill>
                <a:effectLst/>
                <a:latin typeface="Consolas" panose="020B0609020204030204" pitchFamily="49" charset="0"/>
              </a:rPr>
              <a:t>tenantId</a:t>
            </a:r>
            <a:r>
              <a:rPr lang="tr-TR" sz="1400" b="0" i="0" u="none" strike="noStrike" dirty="0">
                <a:solidFill>
                  <a:srgbClr val="333333"/>
                </a:solidFill>
                <a:effectLst/>
                <a:latin typeface="Consolas" panose="020B0609020204030204" pitchFamily="49" charset="0"/>
              </a:rPr>
              <a:t> != </a:t>
            </a:r>
            <a:r>
              <a:rPr lang="tr-TR" sz="1400" b="1" i="0" u="none" strike="noStrike" dirty="0" err="1">
                <a:solidFill>
                  <a:srgbClr val="333333"/>
                </a:solidFill>
                <a:effectLst/>
                <a:latin typeface="Consolas" panose="020B0609020204030204" pitchFamily="49" charset="0"/>
              </a:rPr>
              <a:t>null</a:t>
            </a:r>
            <a:r>
              <a:rPr lang="tr-TR" sz="1400" b="0" i="0" u="none" strike="noStrike" dirty="0">
                <a:solidFill>
                  <a:srgbClr val="333333"/>
                </a:solidFill>
                <a:effectLst/>
                <a:latin typeface="Consolas" panose="020B0609020204030204" pitchFamily="49" charset="0"/>
              </a:rPr>
              <a:t>) ? </a:t>
            </a:r>
            <a:r>
              <a:rPr lang="tr-TR" sz="1400" b="0" i="0" u="none" strike="noStrike" dirty="0" err="1">
                <a:solidFill>
                  <a:srgbClr val="333333"/>
                </a:solidFill>
                <a:effectLst/>
                <a:latin typeface="Consolas" panose="020B0609020204030204" pitchFamily="49" charset="0"/>
              </a:rPr>
              <a:t>tenantId</a:t>
            </a:r>
            <a:r>
              <a:rPr lang="tr-TR" sz="1400" b="0" i="0" u="none" strike="noStrike" dirty="0">
                <a:solidFill>
                  <a:srgbClr val="333333"/>
                </a:solidFill>
                <a:effectLst/>
                <a:latin typeface="Consolas" panose="020B0609020204030204" pitchFamily="49" charset="0"/>
              </a:rPr>
              <a:t> : DEFAULT_TENANT;</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br>
              <a:rPr lang="tr-TR" sz="1400" b="0" i="0" u="none" strike="noStrike" dirty="0">
                <a:solidFill>
                  <a:srgbClr val="333333"/>
                </a:solidFill>
                <a:effectLst/>
                <a:latin typeface="Consolas" panose="020B0609020204030204" pitchFamily="49" charset="0"/>
              </a:rPr>
            </a:b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a:solidFill>
                  <a:srgbClr val="999999"/>
                </a:solidFill>
                <a:effectLst/>
                <a:latin typeface="Consolas" panose="020B0609020204030204" pitchFamily="49" charset="0"/>
              </a:rPr>
              <a:t>@</a:t>
            </a:r>
            <a:r>
              <a:rPr lang="tr-TR" sz="1400" b="1" i="0" u="none" strike="noStrike" dirty="0" err="1">
                <a:solidFill>
                  <a:srgbClr val="999999"/>
                </a:solidFill>
                <a:effectLst/>
                <a:latin typeface="Consolas" panose="020B0609020204030204" pitchFamily="49" charset="0"/>
              </a:rPr>
              <a:t>Override</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public</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boolean</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990000"/>
                </a:solidFill>
                <a:effectLst/>
                <a:latin typeface="Consolas" panose="020B0609020204030204" pitchFamily="49" charset="0"/>
              </a:rPr>
              <a:t>validateExistingCurrentSessions</a:t>
            </a:r>
            <a:r>
              <a:rPr lang="tr-TR" sz="1400" b="0" i="0" u="none" strike="noStrike" dirty="0">
                <a:solidFill>
                  <a:srgbClr val="333333"/>
                </a:solidFill>
                <a:effectLst/>
                <a:latin typeface="Consolas" panose="020B0609020204030204" pitchFamily="49" charset="0"/>
              </a:rPr>
              <a:t>() {</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return</a:t>
            </a:r>
            <a:r>
              <a:rPr lang="tr-TR" sz="1400" b="0"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false</a:t>
            </a:r>
            <a:r>
              <a:rPr lang="tr-TR" sz="1400" b="0" i="0" u="none" strike="noStrike" dirty="0">
                <a:solidFill>
                  <a:srgbClr val="333333"/>
                </a:solidFill>
                <a:effectLst/>
                <a:latin typeface="Consolas" panose="020B0609020204030204" pitchFamily="49" charset="0"/>
              </a:rPr>
              <a:t>;</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    }</a:t>
            </a:r>
            <a:br>
              <a:rPr lang="tr-TR" sz="1400" b="0" i="0" u="none" strike="noStrike" dirty="0">
                <a:solidFill>
                  <a:srgbClr val="333333"/>
                </a:solidFill>
                <a:effectLst/>
                <a:latin typeface="Consolas" panose="020B0609020204030204" pitchFamily="49" charset="0"/>
              </a:rPr>
            </a:br>
            <a:r>
              <a:rPr lang="tr-TR" sz="1400" b="0" i="0" u="none" strike="noStrike" dirty="0">
                <a:solidFill>
                  <a:srgbClr val="333333"/>
                </a:solidFill>
                <a:effectLst/>
                <a:latin typeface="Consolas" panose="020B0609020204030204" pitchFamily="49" charset="0"/>
              </a:rPr>
              <a:t>}</a:t>
            </a:r>
            <a:endParaRPr lang="tr-TR" sz="700" dirty="0"/>
          </a:p>
        </p:txBody>
      </p:sp>
    </p:spTree>
    <p:extLst>
      <p:ext uri="{BB962C8B-B14F-4D97-AF65-F5344CB8AC3E}">
        <p14:creationId xmlns:p14="http://schemas.microsoft.com/office/powerpoint/2010/main" val="1809468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5A518-5023-E82C-4D87-111741702DD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D9E3311-035C-64CB-1424-2C755301250D}"/>
              </a:ext>
            </a:extLst>
          </p:cNvPr>
          <p:cNvSpPr>
            <a:spLocks noGrp="1"/>
          </p:cNvSpPr>
          <p:nvPr>
            <p:ph type="title"/>
          </p:nvPr>
        </p:nvSpPr>
        <p:spPr>
          <a:xfrm>
            <a:off x="2231136" y="272876"/>
            <a:ext cx="7729728" cy="1188720"/>
          </a:xfrm>
        </p:spPr>
        <p:txBody>
          <a:bodyPr/>
          <a:lstStyle/>
          <a:p>
            <a:r>
              <a:rPr lang="tr-TR" dirty="0" err="1"/>
              <a:t>Veritabanı</a:t>
            </a:r>
            <a:r>
              <a:rPr lang="tr-TR" dirty="0"/>
              <a:t> gerçeklemesi - </a:t>
            </a:r>
            <a:r>
              <a:rPr lang="tr-TR" dirty="0" err="1"/>
              <a:t>hıbernate</a:t>
            </a:r>
            <a:endParaRPr lang="tr-TR" dirty="0"/>
          </a:p>
        </p:txBody>
      </p:sp>
      <p:sp>
        <p:nvSpPr>
          <p:cNvPr id="3" name="İçerik Yer Tutucusu 2">
            <a:extLst>
              <a:ext uri="{FF2B5EF4-FFF2-40B4-BE49-F238E27FC236}">
                <a16:creationId xmlns:a16="http://schemas.microsoft.com/office/drawing/2014/main" id="{D2D79808-C9AD-7D39-D8FE-1A8DE196D14B}"/>
              </a:ext>
            </a:extLst>
          </p:cNvPr>
          <p:cNvSpPr>
            <a:spLocks noGrp="1"/>
          </p:cNvSpPr>
          <p:nvPr>
            <p:ph idx="1"/>
          </p:nvPr>
        </p:nvSpPr>
        <p:spPr>
          <a:xfrm>
            <a:off x="126332" y="1894974"/>
            <a:ext cx="3681663" cy="4179891"/>
          </a:xfrm>
        </p:spPr>
        <p:txBody>
          <a:bodyPr>
            <a:noAutofit/>
          </a:bodyPr>
          <a:lstStyle/>
          <a:p>
            <a:pPr marL="0" indent="0" algn="ctr">
              <a:buNone/>
            </a:pPr>
            <a:r>
              <a:rPr lang="tr-TR" b="1" i="0" u="none" strike="noStrike" dirty="0" err="1">
                <a:solidFill>
                  <a:srgbClr val="000000"/>
                </a:solidFill>
                <a:effectLst/>
                <a:latin typeface="Gill Sans MT" panose="020B0502020104020203" pitchFamily="34" charset="0"/>
              </a:rPr>
              <a:t>MultiTenantConnectionProvider</a:t>
            </a:r>
            <a:endParaRPr lang="tr-TR" b="1" i="0" u="none" strike="noStrike" dirty="0">
              <a:solidFill>
                <a:srgbClr val="000000"/>
              </a:solidFill>
              <a:effectLst/>
              <a:latin typeface="Gill Sans MT" panose="020B0502020104020203" pitchFamily="34" charset="0"/>
            </a:endParaRPr>
          </a:p>
          <a:p>
            <a:r>
              <a:rPr lang="tr-TR" b="0" i="0" u="none" strike="noStrike" dirty="0" err="1">
                <a:solidFill>
                  <a:srgbClr val="000000"/>
                </a:solidFill>
                <a:effectLst/>
                <a:latin typeface="Gill Sans MT" panose="020B0502020104020203" pitchFamily="34" charset="0"/>
                <a:ea typeface="Tahoma" panose="020B0604030504040204" pitchFamily="34" charset="0"/>
                <a:cs typeface="Tahoma" panose="020B0604030504040204" pitchFamily="34" charset="0"/>
              </a:rPr>
              <a:t>Hibernate</a:t>
            </a:r>
            <a:r>
              <a:rPr lang="tr-TR" b="0" i="0" u="none" strike="noStrike" dirty="0">
                <a:solidFill>
                  <a:srgbClr val="000000"/>
                </a:solidFill>
                <a:effectLst/>
                <a:latin typeface="Gill Sans MT" panose="020B0502020104020203" pitchFamily="34" charset="0"/>
                <a:ea typeface="Tahoma" panose="020B0604030504040204" pitchFamily="34" charset="0"/>
                <a:cs typeface="Tahoma" panose="020B0604030504040204" pitchFamily="34" charset="0"/>
              </a:rPr>
              <a:t> bir </a:t>
            </a:r>
            <a:r>
              <a:rPr lang="tr-TR" b="0" i="0" u="none" strike="noStrike" dirty="0" err="1">
                <a:solidFill>
                  <a:srgbClr val="000000"/>
                </a:solidFill>
                <a:effectLst/>
                <a:latin typeface="Gill Sans MT" panose="020B0502020104020203" pitchFamily="34" charset="0"/>
                <a:ea typeface="Tahoma" panose="020B0604030504040204" pitchFamily="34" charset="0"/>
                <a:cs typeface="Tahoma" panose="020B0604030504040204" pitchFamily="34" charset="0"/>
              </a:rPr>
              <a:t>veritabanı</a:t>
            </a:r>
            <a:r>
              <a:rPr lang="tr-TR" b="0" i="0" u="none" strike="noStrike" dirty="0">
                <a:solidFill>
                  <a:srgbClr val="000000"/>
                </a:solidFill>
                <a:effectLst/>
                <a:latin typeface="Gill Sans MT" panose="020B0502020104020203" pitchFamily="34" charset="0"/>
                <a:ea typeface="Tahoma" panose="020B0604030504040204" pitchFamily="34" charset="0"/>
                <a:cs typeface="Tahoma" panose="020B0604030504040204" pitchFamily="34" charset="0"/>
              </a:rPr>
              <a:t> bağlantısı gerektiğinde bu sınıftan bağlantı ister. Verilen </a:t>
            </a:r>
            <a:r>
              <a:rPr lang="tr-TR" b="0" i="0" u="none" strike="noStrike" dirty="0" err="1">
                <a:solidFill>
                  <a:srgbClr val="000000"/>
                </a:solidFill>
                <a:effectLst/>
                <a:latin typeface="Gill Sans MT" panose="020B0502020104020203" pitchFamily="34" charset="0"/>
                <a:ea typeface="Tahoma" panose="020B0604030504040204" pitchFamily="34" charset="0"/>
                <a:cs typeface="Tahoma" panose="020B0604030504040204" pitchFamily="34" charset="0"/>
              </a:rPr>
              <a:t>tenantId’ye</a:t>
            </a:r>
            <a:r>
              <a:rPr lang="tr-TR" b="0" i="0" u="none" strike="noStrike" dirty="0">
                <a:solidFill>
                  <a:srgbClr val="000000"/>
                </a:solidFill>
                <a:effectLst/>
                <a:latin typeface="Gill Sans MT" panose="020B0502020104020203" pitchFamily="34" charset="0"/>
                <a:ea typeface="Tahoma" panose="020B0604030504040204" pitchFamily="34" charset="0"/>
                <a:cs typeface="Tahoma" panose="020B0604030504040204" pitchFamily="34" charset="0"/>
              </a:rPr>
              <a:t> göre doğru </a:t>
            </a:r>
            <a:r>
              <a:rPr lang="tr-TR" b="0" i="0" u="none" strike="noStrike" dirty="0" err="1">
                <a:solidFill>
                  <a:srgbClr val="000000"/>
                </a:solidFill>
                <a:effectLst/>
                <a:latin typeface="Gill Sans MT" panose="020B0502020104020203" pitchFamily="34" charset="0"/>
                <a:ea typeface="Tahoma" panose="020B0604030504040204" pitchFamily="34" charset="0"/>
                <a:cs typeface="Tahoma" panose="020B0604030504040204" pitchFamily="34" charset="0"/>
              </a:rPr>
              <a:t>DataSource</a:t>
            </a:r>
            <a:r>
              <a:rPr lang="tr-TR" b="0" i="0" u="none" strike="noStrike" dirty="0">
                <a:solidFill>
                  <a:srgbClr val="000000"/>
                </a:solidFill>
                <a:effectLst/>
                <a:latin typeface="Gill Sans MT" panose="020B0502020104020203" pitchFamily="34" charset="0"/>
                <a:ea typeface="Tahoma" panose="020B0604030504040204" pitchFamily="34" charset="0"/>
                <a:cs typeface="Tahoma" panose="020B0604030504040204" pitchFamily="34" charset="0"/>
              </a:rPr>
              <a:t> veya Connection dönülür</a:t>
            </a:r>
          </a:p>
          <a:p>
            <a:r>
              <a:rPr lang="tr-TR" b="0" i="0" u="none" strike="noStrike" dirty="0" err="1">
                <a:solidFill>
                  <a:srgbClr val="000000"/>
                </a:solidFill>
                <a:effectLst/>
                <a:latin typeface="-webkit-standard"/>
              </a:rPr>
              <a:t>schema</a:t>
            </a:r>
            <a:r>
              <a:rPr lang="tr-TR" b="0" i="0" u="none" strike="noStrike" dirty="0">
                <a:solidFill>
                  <a:srgbClr val="000000"/>
                </a:solidFill>
                <a:effectLst/>
                <a:latin typeface="-webkit-standard"/>
              </a:rPr>
              <a:t> </a:t>
            </a:r>
            <a:r>
              <a:rPr lang="tr-TR" b="0" i="0" u="none" strike="noStrike" dirty="0" err="1">
                <a:solidFill>
                  <a:srgbClr val="000000"/>
                </a:solidFill>
                <a:effectLst/>
                <a:latin typeface="-webkit-standard"/>
              </a:rPr>
              <a:t>per</a:t>
            </a:r>
            <a:r>
              <a:rPr lang="tr-TR" b="0" i="0" u="none" strike="noStrike" dirty="0">
                <a:solidFill>
                  <a:srgbClr val="000000"/>
                </a:solidFill>
                <a:effectLst/>
                <a:latin typeface="-webkit-standard"/>
              </a:rPr>
              <a:t> </a:t>
            </a:r>
            <a:r>
              <a:rPr lang="tr-TR" b="0" i="0" u="none" strike="noStrike" dirty="0" err="1">
                <a:solidFill>
                  <a:srgbClr val="000000"/>
                </a:solidFill>
                <a:effectLst/>
                <a:latin typeface="-webkit-standard"/>
              </a:rPr>
              <a:t>tenant</a:t>
            </a:r>
            <a:r>
              <a:rPr lang="tr-TR" b="0" i="0" u="none" strike="noStrike" dirty="0">
                <a:solidFill>
                  <a:srgbClr val="000000"/>
                </a:solidFill>
                <a:effectLst/>
                <a:latin typeface="-webkit-standard"/>
              </a:rPr>
              <a:t> modelde, tek bir </a:t>
            </a:r>
            <a:r>
              <a:rPr lang="tr-TR" dirty="0" err="1"/>
              <a:t>DataSource</a:t>
            </a:r>
            <a:r>
              <a:rPr lang="tr-TR" b="0" i="0" u="none" strike="noStrike" dirty="0">
                <a:solidFill>
                  <a:srgbClr val="000000"/>
                </a:solidFill>
                <a:effectLst/>
                <a:latin typeface="-webkit-standard"/>
              </a:rPr>
              <a:t> olur; </a:t>
            </a:r>
            <a:r>
              <a:rPr lang="tr-TR" dirty="0" err="1"/>
              <a:t>Connection</a:t>
            </a:r>
            <a:r>
              <a:rPr lang="tr-TR" b="0" i="0" u="none" strike="noStrike" dirty="0" err="1">
                <a:solidFill>
                  <a:srgbClr val="000000"/>
                </a:solidFill>
                <a:effectLst/>
                <a:latin typeface="-webkit-standard"/>
              </a:rPr>
              <a:t>'a</a:t>
            </a:r>
            <a:r>
              <a:rPr lang="tr-TR" b="0" i="0" u="none" strike="noStrike" dirty="0">
                <a:solidFill>
                  <a:srgbClr val="000000"/>
                </a:solidFill>
                <a:effectLst/>
                <a:latin typeface="-webkit-standard"/>
              </a:rPr>
              <a:t> bağlanıp </a:t>
            </a:r>
            <a:r>
              <a:rPr lang="tr-TR" dirty="0" err="1"/>
              <a:t>conn.setSchema</a:t>
            </a:r>
            <a:r>
              <a:rPr lang="tr-TR" dirty="0"/>
              <a:t>(</a:t>
            </a:r>
            <a:r>
              <a:rPr lang="tr-TR" dirty="0" err="1"/>
              <a:t>tenantId</a:t>
            </a:r>
            <a:r>
              <a:rPr lang="tr-TR" dirty="0"/>
              <a:t>)</a:t>
            </a:r>
            <a:r>
              <a:rPr lang="tr-TR" b="0" i="0" u="none" strike="noStrike" dirty="0">
                <a:solidFill>
                  <a:srgbClr val="000000"/>
                </a:solidFill>
                <a:effectLst/>
                <a:latin typeface="-webkit-standard"/>
              </a:rPr>
              <a:t>yapmak yeterlidir.</a:t>
            </a:r>
          </a:p>
          <a:p>
            <a:r>
              <a:rPr lang="tr-TR" dirty="0">
                <a:solidFill>
                  <a:srgbClr val="000000"/>
                </a:solidFill>
                <a:latin typeface="-webkit-standard"/>
                <a:ea typeface="Tahoma" panose="020B0604030504040204" pitchFamily="34" charset="0"/>
                <a:cs typeface="Tahoma" panose="020B0604030504040204" pitchFamily="34" charset="0"/>
              </a:rPr>
              <a:t>Programcı tarafından yazılan </a:t>
            </a:r>
            <a:r>
              <a:rPr lang="tr-TR" dirty="0" err="1">
                <a:solidFill>
                  <a:srgbClr val="000000"/>
                </a:solidFill>
                <a:latin typeface="-webkit-standard"/>
                <a:ea typeface="Tahoma" panose="020B0604030504040204" pitchFamily="34" charset="0"/>
                <a:cs typeface="Tahoma" panose="020B0604030504040204" pitchFamily="34" charset="0"/>
              </a:rPr>
              <a:t>native</a:t>
            </a:r>
            <a:r>
              <a:rPr lang="tr-TR" dirty="0">
                <a:solidFill>
                  <a:srgbClr val="000000"/>
                </a:solidFill>
                <a:latin typeface="-webkit-standard"/>
                <a:ea typeface="Tahoma" panose="020B0604030504040204" pitchFamily="34" charset="0"/>
                <a:cs typeface="Tahoma" panose="020B0604030504040204" pitchFamily="34" charset="0"/>
              </a:rPr>
              <a:t> </a:t>
            </a:r>
            <a:r>
              <a:rPr lang="tr-TR" dirty="0" err="1">
                <a:solidFill>
                  <a:srgbClr val="000000"/>
                </a:solidFill>
                <a:latin typeface="-webkit-standard"/>
                <a:ea typeface="Tahoma" panose="020B0604030504040204" pitchFamily="34" charset="0"/>
                <a:cs typeface="Tahoma" panose="020B0604030504040204" pitchFamily="34" charset="0"/>
              </a:rPr>
              <a:t>query’lerde</a:t>
            </a:r>
            <a:r>
              <a:rPr lang="tr-TR" dirty="0">
                <a:solidFill>
                  <a:srgbClr val="000000"/>
                </a:solidFill>
                <a:latin typeface="-webkit-standard"/>
                <a:ea typeface="Tahoma" panose="020B0604030504040204" pitchFamily="34" charset="0"/>
                <a:cs typeface="Tahoma" panose="020B0604030504040204" pitchFamily="34" charset="0"/>
              </a:rPr>
              <a:t> ise </a:t>
            </a:r>
            <a:r>
              <a:rPr lang="tr-TR" dirty="0" err="1">
                <a:solidFill>
                  <a:srgbClr val="000000"/>
                </a:solidFill>
                <a:latin typeface="-webkit-standard"/>
                <a:ea typeface="Tahoma" panose="020B0604030504040204" pitchFamily="34" charset="0"/>
                <a:cs typeface="Tahoma" panose="020B0604030504040204" pitchFamily="34" charset="0"/>
              </a:rPr>
              <a:t>tenantId</a:t>
            </a:r>
            <a:r>
              <a:rPr lang="tr-TR" dirty="0">
                <a:solidFill>
                  <a:srgbClr val="000000"/>
                </a:solidFill>
                <a:latin typeface="-webkit-standard"/>
                <a:ea typeface="Tahoma" panose="020B0604030504040204" pitchFamily="34" charset="0"/>
                <a:cs typeface="Tahoma" panose="020B0604030504040204" pitchFamily="34" charset="0"/>
              </a:rPr>
              <a:t> filtrelemesi unutulmamalıdır!</a:t>
            </a:r>
            <a:endParaRPr lang="tr-TR" dirty="0">
              <a:solidFill>
                <a:srgbClr val="000000"/>
              </a:solidFill>
              <a:latin typeface="Gill Sans MT" panose="020B0502020104020203" pitchFamily="34" charset="0"/>
              <a:ea typeface="Tahoma" panose="020B0604030504040204" pitchFamily="34" charset="0"/>
              <a:cs typeface="Tahoma" panose="020B0604030504040204" pitchFamily="34" charset="0"/>
            </a:endParaRPr>
          </a:p>
          <a:p>
            <a:pPr algn="l">
              <a:buFont typeface="Arial" panose="020B0604020202020204" pitchFamily="34" charset="0"/>
              <a:buChar char="•"/>
            </a:pPr>
            <a:endParaRPr lang="tr-TR" dirty="0">
              <a:solidFill>
                <a:srgbClr val="000000"/>
              </a:solidFill>
            </a:endParaRPr>
          </a:p>
        </p:txBody>
      </p:sp>
      <p:sp>
        <p:nvSpPr>
          <p:cNvPr id="4" name="Metin kutusu 3">
            <a:extLst>
              <a:ext uri="{FF2B5EF4-FFF2-40B4-BE49-F238E27FC236}">
                <a16:creationId xmlns:a16="http://schemas.microsoft.com/office/drawing/2014/main" id="{CAFA0F96-9C7C-F9E2-B932-C8D9BCEFDDAB}"/>
              </a:ext>
            </a:extLst>
          </p:cNvPr>
          <p:cNvSpPr txBox="1"/>
          <p:nvPr/>
        </p:nvSpPr>
        <p:spPr>
          <a:xfrm>
            <a:off x="4048626" y="1894974"/>
            <a:ext cx="7772400" cy="4939814"/>
          </a:xfrm>
          <a:prstGeom prst="rect">
            <a:avLst/>
          </a:prstGeom>
          <a:noFill/>
        </p:spPr>
        <p:txBody>
          <a:bodyPr wrap="square" rtlCol="0">
            <a:spAutoFit/>
          </a:bodyPr>
          <a:lstStyle/>
          <a:p>
            <a:r>
              <a:rPr lang="tr-TR" sz="1050" b="1" i="0" u="none" strike="noStrike" dirty="0">
                <a:solidFill>
                  <a:srgbClr val="999999"/>
                </a:solidFill>
                <a:effectLst/>
                <a:latin typeface="Consolas" panose="020B0609020204030204" pitchFamily="49" charset="0"/>
              </a:rPr>
              <a:t>@Component</a:t>
            </a:r>
            <a:br>
              <a:rPr lang="tr-TR" sz="1050" b="1" i="0" u="none" strike="noStrike" dirty="0">
                <a:solidFill>
                  <a:srgbClr val="333333"/>
                </a:solidFill>
                <a:effectLst/>
                <a:latin typeface="Consolas" panose="020B0609020204030204" pitchFamily="49" charset="0"/>
              </a:rPr>
            </a:br>
            <a:r>
              <a:rPr lang="tr-TR" sz="1050" b="1" i="0" u="none" strike="noStrike" dirty="0" err="1">
                <a:solidFill>
                  <a:srgbClr val="333333"/>
                </a:solidFill>
                <a:effectLst/>
                <a:latin typeface="Consolas" panose="020B0609020204030204" pitchFamily="49" charset="0"/>
              </a:rPr>
              <a:t>public</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class</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445588"/>
                </a:solidFill>
                <a:effectLst/>
                <a:latin typeface="Consolas" panose="020B0609020204030204" pitchFamily="49" charset="0"/>
              </a:rPr>
              <a:t>DataSourceMultiTenantConnectionProviderImpl</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implements</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445588"/>
                </a:solidFill>
                <a:effectLst/>
                <a:latin typeface="Consolas" panose="020B0609020204030204" pitchFamily="49" charset="0"/>
              </a:rPr>
              <a:t>MultiTenantConnectionProvider</a:t>
            </a: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private</a:t>
            </a:r>
            <a:r>
              <a:rPr lang="tr-TR" sz="1050" b="1" i="0" u="none" strike="noStrike" dirty="0">
                <a:solidFill>
                  <a:srgbClr val="333333"/>
                </a:solidFill>
                <a:effectLst/>
                <a:latin typeface="Consolas" panose="020B0609020204030204" pitchFamily="49" charset="0"/>
              </a:rPr>
              <a:t> final </a:t>
            </a:r>
            <a:r>
              <a:rPr lang="tr-TR" sz="1050" b="1" i="0" u="none" strike="noStrike" dirty="0" err="1">
                <a:solidFill>
                  <a:srgbClr val="333333"/>
                </a:solidFill>
                <a:effectLst/>
                <a:latin typeface="Consolas" panose="020B0609020204030204" pitchFamily="49" charset="0"/>
              </a:rPr>
              <a:t>Map</a:t>
            </a:r>
            <a:r>
              <a:rPr lang="tr-TR" sz="1050" b="1" i="0" u="none" strike="noStrike" dirty="0">
                <a:solidFill>
                  <a:srgbClr val="333333"/>
                </a:solidFill>
                <a:effectLst/>
                <a:latin typeface="Consolas" panose="020B0609020204030204" pitchFamily="49" charset="0"/>
              </a:rPr>
              <a:t>&lt;</a:t>
            </a:r>
            <a:r>
              <a:rPr lang="tr-TR" sz="1050" b="1" i="0" u="none" strike="noStrike" dirty="0" err="1">
                <a:solidFill>
                  <a:srgbClr val="333333"/>
                </a:solidFill>
                <a:effectLst/>
                <a:latin typeface="Consolas" panose="020B0609020204030204" pitchFamily="49" charset="0"/>
              </a:rPr>
              <a:t>String</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DataSource</a:t>
            </a:r>
            <a:r>
              <a:rPr lang="tr-TR" sz="1050" b="1" i="0" u="none" strike="noStrike" dirty="0">
                <a:solidFill>
                  <a:srgbClr val="333333"/>
                </a:solidFill>
                <a:effectLst/>
                <a:latin typeface="Consolas" panose="020B0609020204030204" pitchFamily="49" charset="0"/>
              </a:rPr>
              <a:t>&gt; </a:t>
            </a:r>
            <a:r>
              <a:rPr lang="tr-TR" sz="1050" b="1" i="0" u="none" strike="noStrike" dirty="0" err="1">
                <a:solidFill>
                  <a:srgbClr val="333333"/>
                </a:solidFill>
                <a:effectLst/>
                <a:latin typeface="Consolas" panose="020B0609020204030204" pitchFamily="49" charset="0"/>
              </a:rPr>
              <a:t>dataSources</a:t>
            </a:r>
            <a:r>
              <a:rPr lang="tr-TR" sz="1050" b="1" i="0" u="none" strike="noStrike" dirty="0">
                <a:solidFill>
                  <a:srgbClr val="333333"/>
                </a:solidFill>
                <a:effectLst/>
                <a:latin typeface="Consolas" panose="020B0609020204030204" pitchFamily="49" charset="0"/>
              </a:rPr>
              <a:t> = </a:t>
            </a:r>
            <a:r>
              <a:rPr lang="tr-TR" sz="1050" b="1" i="0" u="none" strike="noStrike" dirty="0" err="1">
                <a:solidFill>
                  <a:srgbClr val="333333"/>
                </a:solidFill>
                <a:effectLst/>
                <a:latin typeface="Consolas" panose="020B0609020204030204" pitchFamily="49" charset="0"/>
              </a:rPr>
              <a:t>new</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HashMap</a:t>
            </a:r>
            <a:r>
              <a:rPr lang="tr-TR" sz="1050" b="1" i="0" u="none" strike="noStrike" dirty="0">
                <a:solidFill>
                  <a:srgbClr val="333333"/>
                </a:solidFill>
                <a:effectLst/>
                <a:latin typeface="Consolas" panose="020B0609020204030204" pitchFamily="49" charset="0"/>
              </a:rPr>
              <a:t>&lt;&gt;();</a:t>
            </a:r>
            <a:br>
              <a:rPr lang="tr-TR" sz="1050" b="1" i="0" u="none" strike="noStrike" dirty="0">
                <a:solidFill>
                  <a:srgbClr val="333333"/>
                </a:solidFill>
                <a:effectLst/>
                <a:latin typeface="Consolas" panose="020B0609020204030204" pitchFamily="49" charset="0"/>
              </a:rPr>
            </a:b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public</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990000"/>
                </a:solidFill>
                <a:effectLst/>
                <a:latin typeface="Consolas" panose="020B0609020204030204" pitchFamily="49" charset="0"/>
              </a:rPr>
              <a:t>DataSourceMultiTenantConnectionProviderImpl</a:t>
            </a: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1" u="none" strike="noStrike" dirty="0">
                <a:solidFill>
                  <a:srgbClr val="999988"/>
                </a:solidFill>
                <a:effectLst/>
                <a:latin typeface="Consolas" panose="020B0609020204030204" pitchFamily="49" charset="0"/>
              </a:rPr>
              <a:t>// örnek: </a:t>
            </a:r>
            <a:r>
              <a:rPr lang="tr-TR" sz="1050" b="1" i="1" u="none" strike="noStrike" dirty="0" err="1">
                <a:solidFill>
                  <a:srgbClr val="999988"/>
                </a:solidFill>
                <a:effectLst/>
                <a:latin typeface="Consolas" panose="020B0609020204030204" pitchFamily="49" charset="0"/>
              </a:rPr>
              <a:t>runtime'da</a:t>
            </a:r>
            <a:r>
              <a:rPr lang="tr-TR" sz="1050" b="1" i="1" u="none" strike="noStrike" dirty="0">
                <a:solidFill>
                  <a:srgbClr val="999988"/>
                </a:solidFill>
                <a:effectLst/>
                <a:latin typeface="Consolas" panose="020B0609020204030204" pitchFamily="49" charset="0"/>
              </a:rPr>
              <a:t> her </a:t>
            </a:r>
            <a:r>
              <a:rPr lang="tr-TR" sz="1050" b="1" i="1" u="none" strike="noStrike" dirty="0" err="1">
                <a:solidFill>
                  <a:srgbClr val="999988"/>
                </a:solidFill>
                <a:effectLst/>
                <a:latin typeface="Consolas" panose="020B0609020204030204" pitchFamily="49" charset="0"/>
              </a:rPr>
              <a:t>tenant</a:t>
            </a:r>
            <a:r>
              <a:rPr lang="tr-TR" sz="1050" b="1" i="1" u="none" strike="noStrike" dirty="0">
                <a:solidFill>
                  <a:srgbClr val="999988"/>
                </a:solidFill>
                <a:effectLst/>
                <a:latin typeface="Consolas" panose="020B0609020204030204" pitchFamily="49" charset="0"/>
              </a:rPr>
              <a:t> için </a:t>
            </a:r>
            <a:r>
              <a:rPr lang="tr-TR" sz="1050" b="1" i="1" u="none" strike="noStrike" dirty="0" err="1">
                <a:solidFill>
                  <a:srgbClr val="999988"/>
                </a:solidFill>
                <a:effectLst/>
                <a:latin typeface="Consolas" panose="020B0609020204030204" pitchFamily="49" charset="0"/>
              </a:rPr>
              <a:t>DataSource</a:t>
            </a:r>
            <a:r>
              <a:rPr lang="tr-TR" sz="1050" b="1" i="1" u="none" strike="noStrike" dirty="0">
                <a:solidFill>
                  <a:srgbClr val="999988"/>
                </a:solidFill>
                <a:effectLst/>
                <a:latin typeface="Consolas" panose="020B0609020204030204" pitchFamily="49" charset="0"/>
              </a:rPr>
              <a:t> oluşturulabilir</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dataSources.put</a:t>
            </a:r>
            <a:r>
              <a:rPr lang="tr-TR" sz="1050" b="1" i="0" u="none" strike="noStrike" dirty="0">
                <a:solidFill>
                  <a:srgbClr val="333333"/>
                </a:solidFill>
                <a:effectLst/>
                <a:latin typeface="Consolas" panose="020B0609020204030204" pitchFamily="49" charset="0"/>
              </a:rPr>
              <a:t>(</a:t>
            </a:r>
            <a:r>
              <a:rPr lang="tr-TR" sz="1050" b="1" i="0" u="none" strike="noStrike" dirty="0">
                <a:solidFill>
                  <a:srgbClr val="DD1144"/>
                </a:solidFill>
                <a:effectLst/>
                <a:latin typeface="Consolas" panose="020B0609020204030204" pitchFamily="49" charset="0"/>
              </a:rPr>
              <a:t>"tenant1"</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createDataSource</a:t>
            </a:r>
            <a:r>
              <a:rPr lang="tr-TR" sz="1050" b="1" i="0" u="none" strike="noStrike" dirty="0">
                <a:solidFill>
                  <a:srgbClr val="333333"/>
                </a:solidFill>
                <a:effectLst/>
                <a:latin typeface="Consolas" panose="020B0609020204030204" pitchFamily="49" charset="0"/>
              </a:rPr>
              <a:t>(</a:t>
            </a:r>
            <a:r>
              <a:rPr lang="tr-TR" sz="1050" b="1" i="0" u="none" strike="noStrike" dirty="0">
                <a:solidFill>
                  <a:srgbClr val="DD1144"/>
                </a:solidFill>
                <a:effectLst/>
                <a:latin typeface="Consolas" panose="020B0609020204030204" pitchFamily="49" charset="0"/>
              </a:rPr>
              <a:t>"</a:t>
            </a:r>
            <a:r>
              <a:rPr lang="tr-TR" sz="1050" b="1" i="0" u="none" strike="noStrike" dirty="0" err="1">
                <a:solidFill>
                  <a:srgbClr val="DD1144"/>
                </a:solidFill>
                <a:effectLst/>
                <a:latin typeface="Consolas" panose="020B0609020204030204" pitchFamily="49" charset="0"/>
              </a:rPr>
              <a:t>jdbc:postgresql</a:t>
            </a:r>
            <a:r>
              <a:rPr lang="tr-TR" sz="1050" b="1" i="0" u="none" strike="noStrike" dirty="0">
                <a:solidFill>
                  <a:srgbClr val="DD1144"/>
                </a:solidFill>
                <a:effectLst/>
                <a:latin typeface="Consolas" panose="020B0609020204030204" pitchFamily="49" charset="0"/>
              </a:rPr>
              <a:t>://</a:t>
            </a:r>
            <a:r>
              <a:rPr lang="tr-TR" sz="1050" b="1" i="0" u="none" strike="noStrike" dirty="0" err="1">
                <a:solidFill>
                  <a:srgbClr val="DD1144"/>
                </a:solidFill>
                <a:effectLst/>
                <a:latin typeface="Consolas" panose="020B0609020204030204" pitchFamily="49" charset="0"/>
              </a:rPr>
              <a:t>host</a:t>
            </a:r>
            <a:r>
              <a:rPr lang="tr-TR" sz="1050" b="1" i="0" u="none" strike="noStrike" dirty="0">
                <a:solidFill>
                  <a:srgbClr val="DD1144"/>
                </a:solidFill>
                <a:effectLst/>
                <a:latin typeface="Consolas" panose="020B0609020204030204" pitchFamily="49" charset="0"/>
              </a:rPr>
              <a:t>/tenant1"</a:t>
            </a:r>
            <a:r>
              <a:rPr lang="tr-TR" sz="1050" b="1" i="0" u="none" strike="noStrike" dirty="0">
                <a:solidFill>
                  <a:srgbClr val="333333"/>
                </a:solidFill>
                <a:effectLst/>
                <a:latin typeface="Consolas" panose="020B0609020204030204" pitchFamily="49" charset="0"/>
              </a:rPr>
              <a:t>));</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dataSources.put</a:t>
            </a:r>
            <a:r>
              <a:rPr lang="tr-TR" sz="1050" b="1" i="0" u="none" strike="noStrike" dirty="0">
                <a:solidFill>
                  <a:srgbClr val="333333"/>
                </a:solidFill>
                <a:effectLst/>
                <a:latin typeface="Consolas" panose="020B0609020204030204" pitchFamily="49" charset="0"/>
              </a:rPr>
              <a:t>(</a:t>
            </a:r>
            <a:r>
              <a:rPr lang="tr-TR" sz="1050" b="1" i="0" u="none" strike="noStrike" dirty="0">
                <a:solidFill>
                  <a:srgbClr val="DD1144"/>
                </a:solidFill>
                <a:effectLst/>
                <a:latin typeface="Consolas" panose="020B0609020204030204" pitchFamily="49" charset="0"/>
              </a:rPr>
              <a:t>"tenant2"</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createDataSource</a:t>
            </a:r>
            <a:r>
              <a:rPr lang="tr-TR" sz="1050" b="1" i="0" u="none" strike="noStrike" dirty="0">
                <a:solidFill>
                  <a:srgbClr val="333333"/>
                </a:solidFill>
                <a:effectLst/>
                <a:latin typeface="Consolas" panose="020B0609020204030204" pitchFamily="49" charset="0"/>
              </a:rPr>
              <a:t>(</a:t>
            </a:r>
            <a:r>
              <a:rPr lang="tr-TR" sz="1050" b="1" i="0" u="none" strike="noStrike" dirty="0">
                <a:solidFill>
                  <a:srgbClr val="DD1144"/>
                </a:solidFill>
                <a:effectLst/>
                <a:latin typeface="Consolas" panose="020B0609020204030204" pitchFamily="49" charset="0"/>
              </a:rPr>
              <a:t>"</a:t>
            </a:r>
            <a:r>
              <a:rPr lang="tr-TR" sz="1050" b="1" i="0" u="none" strike="noStrike" dirty="0" err="1">
                <a:solidFill>
                  <a:srgbClr val="DD1144"/>
                </a:solidFill>
                <a:effectLst/>
                <a:latin typeface="Consolas" panose="020B0609020204030204" pitchFamily="49" charset="0"/>
              </a:rPr>
              <a:t>jdbc:postgresql</a:t>
            </a:r>
            <a:r>
              <a:rPr lang="tr-TR" sz="1050" b="1" i="0" u="none" strike="noStrike" dirty="0">
                <a:solidFill>
                  <a:srgbClr val="DD1144"/>
                </a:solidFill>
                <a:effectLst/>
                <a:latin typeface="Consolas" panose="020B0609020204030204" pitchFamily="49" charset="0"/>
              </a:rPr>
              <a:t>://</a:t>
            </a:r>
            <a:r>
              <a:rPr lang="tr-TR" sz="1050" b="1" i="0" u="none" strike="noStrike" dirty="0" err="1">
                <a:solidFill>
                  <a:srgbClr val="DD1144"/>
                </a:solidFill>
                <a:effectLst/>
                <a:latin typeface="Consolas" panose="020B0609020204030204" pitchFamily="49" charset="0"/>
              </a:rPr>
              <a:t>host</a:t>
            </a:r>
            <a:r>
              <a:rPr lang="tr-TR" sz="1050" b="1" i="0" u="none" strike="noStrike" dirty="0">
                <a:solidFill>
                  <a:srgbClr val="DD1144"/>
                </a:solidFill>
                <a:effectLst/>
                <a:latin typeface="Consolas" panose="020B0609020204030204" pitchFamily="49" charset="0"/>
              </a:rPr>
              <a:t>/tenant2"</a:t>
            </a:r>
            <a:r>
              <a:rPr lang="tr-TR" sz="1050" b="1" i="0" u="none" strike="noStrike" dirty="0">
                <a:solidFill>
                  <a:srgbClr val="333333"/>
                </a:solidFill>
                <a:effectLst/>
                <a:latin typeface="Consolas" panose="020B0609020204030204" pitchFamily="49" charset="0"/>
              </a:rPr>
              <a:t>));</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a:solidFill>
                  <a:srgbClr val="999999"/>
                </a:solidFill>
                <a:effectLst/>
                <a:latin typeface="Consolas" panose="020B0609020204030204" pitchFamily="49" charset="0"/>
              </a:rPr>
              <a:t>@</a:t>
            </a:r>
            <a:r>
              <a:rPr lang="tr-TR" sz="1050" b="1" i="0" u="none" strike="noStrike" dirty="0" err="1">
                <a:solidFill>
                  <a:srgbClr val="999999"/>
                </a:solidFill>
                <a:effectLst/>
                <a:latin typeface="Consolas" panose="020B0609020204030204" pitchFamily="49" charset="0"/>
              </a:rPr>
              <a:t>Override</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public</a:t>
            </a:r>
            <a:r>
              <a:rPr lang="tr-TR" sz="1050" b="1" i="0" u="none" strike="noStrike" dirty="0">
                <a:solidFill>
                  <a:srgbClr val="333333"/>
                </a:solidFill>
                <a:effectLst/>
                <a:latin typeface="Consolas" panose="020B0609020204030204" pitchFamily="49" charset="0"/>
              </a:rPr>
              <a:t> Connection </a:t>
            </a:r>
            <a:r>
              <a:rPr lang="tr-TR" sz="1050" b="1" i="0" u="none" strike="noStrike" dirty="0" err="1">
                <a:solidFill>
                  <a:srgbClr val="990000"/>
                </a:solidFill>
                <a:effectLst/>
                <a:latin typeface="Consolas" panose="020B0609020204030204" pitchFamily="49" charset="0"/>
              </a:rPr>
              <a:t>getConnection</a:t>
            </a:r>
            <a:r>
              <a:rPr lang="tr-TR" sz="1050" b="1" i="0" u="none" strike="noStrike" dirty="0">
                <a:solidFill>
                  <a:srgbClr val="333333"/>
                </a:solidFill>
                <a:effectLst/>
                <a:latin typeface="Consolas" panose="020B0609020204030204" pitchFamily="49" charset="0"/>
              </a:rPr>
              <a:t>(</a:t>
            </a:r>
            <a:r>
              <a:rPr lang="tr-TR" sz="1050" b="1" i="0" u="none" strike="noStrike" dirty="0" err="1">
                <a:solidFill>
                  <a:srgbClr val="333333"/>
                </a:solidFill>
                <a:effectLst/>
                <a:latin typeface="Consolas" panose="020B0609020204030204" pitchFamily="49" charset="0"/>
              </a:rPr>
              <a:t>String</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tenantIdentifier</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throws</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SQLException</a:t>
            </a: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return</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dataSources.get</a:t>
            </a:r>
            <a:r>
              <a:rPr lang="tr-TR" sz="1050" b="1" i="0" u="none" strike="noStrike" dirty="0">
                <a:solidFill>
                  <a:srgbClr val="333333"/>
                </a:solidFill>
                <a:effectLst/>
                <a:latin typeface="Consolas" panose="020B0609020204030204" pitchFamily="49" charset="0"/>
              </a:rPr>
              <a:t>(</a:t>
            </a:r>
            <a:r>
              <a:rPr lang="tr-TR" sz="1050" b="1" i="0" u="none" strike="noStrike" dirty="0" err="1">
                <a:solidFill>
                  <a:srgbClr val="333333"/>
                </a:solidFill>
                <a:effectLst/>
                <a:latin typeface="Consolas" panose="020B0609020204030204" pitchFamily="49" charset="0"/>
              </a:rPr>
              <a:t>tenantIdentifier</a:t>
            </a:r>
            <a:r>
              <a:rPr lang="tr-TR" sz="1050" b="1" i="0" u="none" strike="noStrike" dirty="0">
                <a:solidFill>
                  <a:srgbClr val="333333"/>
                </a:solidFill>
                <a:effectLst/>
                <a:latin typeface="Consolas" panose="020B0609020204030204" pitchFamily="49" charset="0"/>
              </a:rPr>
              <a:t>).</a:t>
            </a:r>
            <a:r>
              <a:rPr lang="tr-TR" sz="1050" b="1" i="0" u="none" strike="noStrike" dirty="0" err="1">
                <a:solidFill>
                  <a:srgbClr val="333333"/>
                </a:solidFill>
                <a:effectLst/>
                <a:latin typeface="Consolas" panose="020B0609020204030204" pitchFamily="49" charset="0"/>
              </a:rPr>
              <a:t>getConnection</a:t>
            </a:r>
            <a:r>
              <a:rPr lang="tr-TR" sz="1050" b="1" i="0" u="none" strike="noStrike" dirty="0">
                <a:solidFill>
                  <a:srgbClr val="333333"/>
                </a:solidFill>
                <a:effectLst/>
                <a:latin typeface="Consolas" panose="020B0609020204030204" pitchFamily="49" charset="0"/>
              </a:rPr>
              <a:t>();</a:t>
            </a:r>
          </a:p>
          <a:p>
            <a:r>
              <a:rPr lang="tr-TR" sz="1050" b="1" dirty="0">
                <a:solidFill>
                  <a:srgbClr val="333333"/>
                </a:solidFill>
                <a:latin typeface="Consolas" panose="020B0609020204030204" pitchFamily="49" charset="0"/>
              </a:rPr>
              <a:t>	  //</a:t>
            </a:r>
            <a:r>
              <a:rPr lang="tr-TR" sz="1050" b="1" dirty="0" err="1">
                <a:solidFill>
                  <a:srgbClr val="333333"/>
                </a:solidFill>
                <a:latin typeface="Consolas" panose="020B0609020204030204" pitchFamily="49" charset="0"/>
              </a:rPr>
              <a:t>return</a:t>
            </a:r>
            <a:r>
              <a:rPr lang="tr-TR" sz="1050" b="1" dirty="0">
                <a:solidFill>
                  <a:srgbClr val="333333"/>
                </a:solidFill>
                <a:latin typeface="Consolas" panose="020B0609020204030204" pitchFamily="49" charset="0"/>
              </a:rPr>
              <a:t> </a:t>
            </a:r>
            <a:r>
              <a:rPr lang="tr-TR" sz="1050" b="1" dirty="0" err="1">
                <a:solidFill>
                  <a:srgbClr val="333333"/>
                </a:solidFill>
                <a:latin typeface="Consolas" panose="020B0609020204030204" pitchFamily="49" charset="0"/>
              </a:rPr>
              <a:t>conn.setSchema</a:t>
            </a:r>
            <a:r>
              <a:rPr lang="tr-TR" sz="1050" b="1" dirty="0">
                <a:solidFill>
                  <a:srgbClr val="333333"/>
                </a:solidFill>
                <a:latin typeface="Consolas" panose="020B0609020204030204" pitchFamily="49" charset="0"/>
              </a:rPr>
              <a:t>(</a:t>
            </a:r>
            <a:r>
              <a:rPr lang="tr-TR" sz="1050" b="1" dirty="0" err="1">
                <a:solidFill>
                  <a:srgbClr val="333333"/>
                </a:solidFill>
                <a:latin typeface="Consolas" panose="020B0609020204030204" pitchFamily="49" charset="0"/>
              </a:rPr>
              <a:t>tenantId</a:t>
            </a:r>
            <a:r>
              <a:rPr lang="tr-TR" sz="1050" b="1" dirty="0">
                <a:solidFill>
                  <a:srgbClr val="333333"/>
                </a:solidFill>
                <a:latin typeface="Consolas" panose="020B0609020204030204" pitchFamily="49" charset="0"/>
              </a:rPr>
              <a:t>)</a:t>
            </a:r>
            <a:br>
              <a:rPr lang="tr-TR" sz="1050" b="1" dirty="0">
                <a:solidFill>
                  <a:srgbClr val="333333"/>
                </a:solidFill>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a:solidFill>
                  <a:srgbClr val="999999"/>
                </a:solidFill>
                <a:effectLst/>
                <a:latin typeface="Consolas" panose="020B0609020204030204" pitchFamily="49" charset="0"/>
              </a:rPr>
              <a:t>@</a:t>
            </a:r>
            <a:r>
              <a:rPr lang="tr-TR" sz="1050" b="1" i="0" u="none" strike="noStrike" dirty="0" err="1">
                <a:solidFill>
                  <a:srgbClr val="999999"/>
                </a:solidFill>
                <a:effectLst/>
                <a:latin typeface="Consolas" panose="020B0609020204030204" pitchFamily="49" charset="0"/>
              </a:rPr>
              <a:t>Override</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public</a:t>
            </a:r>
            <a:r>
              <a:rPr lang="tr-TR" sz="1050" b="1" i="0" u="none" strike="noStrike" dirty="0">
                <a:solidFill>
                  <a:srgbClr val="333333"/>
                </a:solidFill>
                <a:effectLst/>
                <a:latin typeface="Consolas" panose="020B0609020204030204" pitchFamily="49" charset="0"/>
              </a:rPr>
              <a:t> Connection </a:t>
            </a:r>
            <a:r>
              <a:rPr lang="tr-TR" sz="1050" b="1" i="0" u="none" strike="noStrike" dirty="0" err="1">
                <a:solidFill>
                  <a:srgbClr val="990000"/>
                </a:solidFill>
                <a:effectLst/>
                <a:latin typeface="Consolas" panose="020B0609020204030204" pitchFamily="49" charset="0"/>
              </a:rPr>
              <a:t>getAnyConnection</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throws</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SQLException</a:t>
            </a: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return</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dataSources.get</a:t>
            </a:r>
            <a:r>
              <a:rPr lang="tr-TR" sz="1050" b="1" i="0" u="none" strike="noStrike" dirty="0">
                <a:solidFill>
                  <a:srgbClr val="333333"/>
                </a:solidFill>
                <a:effectLst/>
                <a:latin typeface="Consolas" panose="020B0609020204030204" pitchFamily="49" charset="0"/>
              </a:rPr>
              <a:t>(</a:t>
            </a:r>
            <a:r>
              <a:rPr lang="tr-TR" sz="1050" b="1" i="0" u="none" strike="noStrike" dirty="0">
                <a:solidFill>
                  <a:srgbClr val="DD1144"/>
                </a:solidFill>
                <a:effectLst/>
                <a:latin typeface="Consolas" panose="020B0609020204030204" pitchFamily="49" charset="0"/>
              </a:rPr>
              <a:t>"</a:t>
            </a:r>
            <a:r>
              <a:rPr lang="tr-TR" sz="1050" b="1" i="0" u="none" strike="noStrike" dirty="0" err="1">
                <a:solidFill>
                  <a:srgbClr val="DD1144"/>
                </a:solidFill>
                <a:effectLst/>
                <a:latin typeface="Consolas" panose="020B0609020204030204" pitchFamily="49" charset="0"/>
              </a:rPr>
              <a:t>default</a:t>
            </a:r>
            <a:r>
              <a:rPr lang="tr-TR" sz="1050" b="1" i="0" u="none" strike="noStrike" dirty="0">
                <a:solidFill>
                  <a:srgbClr val="DD1144"/>
                </a:solidFill>
                <a:effectLst/>
                <a:latin typeface="Consolas" panose="020B0609020204030204" pitchFamily="49" charset="0"/>
              </a:rPr>
              <a:t>"</a:t>
            </a:r>
            <a:r>
              <a:rPr lang="tr-TR" sz="1050" b="1" i="0" u="none" strike="noStrike" dirty="0">
                <a:solidFill>
                  <a:srgbClr val="333333"/>
                </a:solidFill>
                <a:effectLst/>
                <a:latin typeface="Consolas" panose="020B0609020204030204" pitchFamily="49" charset="0"/>
              </a:rPr>
              <a:t>).</a:t>
            </a:r>
            <a:r>
              <a:rPr lang="tr-TR" sz="1050" b="1" i="0" u="none" strike="noStrike" dirty="0" err="1">
                <a:solidFill>
                  <a:srgbClr val="333333"/>
                </a:solidFill>
                <a:effectLst/>
                <a:latin typeface="Consolas" panose="020B0609020204030204" pitchFamily="49" charset="0"/>
              </a:rPr>
              <a:t>getConnection</a:t>
            </a:r>
            <a:r>
              <a:rPr lang="tr-TR" sz="1050" b="1" i="0" u="none" strike="noStrike" dirty="0">
                <a:solidFill>
                  <a:srgbClr val="333333"/>
                </a:solidFill>
                <a:effectLst/>
                <a:latin typeface="Consolas" panose="020B0609020204030204" pitchFamily="49" charset="0"/>
              </a:rPr>
              <a:t>();</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a:solidFill>
                  <a:srgbClr val="999999"/>
                </a:solidFill>
                <a:effectLst/>
                <a:latin typeface="Consolas" panose="020B0609020204030204" pitchFamily="49" charset="0"/>
              </a:rPr>
              <a:t>@</a:t>
            </a:r>
            <a:r>
              <a:rPr lang="tr-TR" sz="1050" b="1" i="0" u="none" strike="noStrike" dirty="0" err="1">
                <a:solidFill>
                  <a:srgbClr val="999999"/>
                </a:solidFill>
                <a:effectLst/>
                <a:latin typeface="Consolas" panose="020B0609020204030204" pitchFamily="49" charset="0"/>
              </a:rPr>
              <a:t>Override</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public</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void</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990000"/>
                </a:solidFill>
                <a:effectLst/>
                <a:latin typeface="Consolas" panose="020B0609020204030204" pitchFamily="49" charset="0"/>
              </a:rPr>
              <a:t>releaseConnection</a:t>
            </a:r>
            <a:r>
              <a:rPr lang="tr-TR" sz="1050" b="1" i="0" u="none" strike="noStrike" dirty="0">
                <a:solidFill>
                  <a:srgbClr val="333333"/>
                </a:solidFill>
                <a:effectLst/>
                <a:latin typeface="Consolas" panose="020B0609020204030204" pitchFamily="49" charset="0"/>
              </a:rPr>
              <a:t>(</a:t>
            </a:r>
            <a:r>
              <a:rPr lang="tr-TR" sz="1050" b="1" i="0" u="none" strike="noStrike" dirty="0" err="1">
                <a:solidFill>
                  <a:srgbClr val="333333"/>
                </a:solidFill>
                <a:effectLst/>
                <a:latin typeface="Consolas" panose="020B0609020204030204" pitchFamily="49" charset="0"/>
              </a:rPr>
              <a:t>String</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tenantIdentifier</a:t>
            </a:r>
            <a:r>
              <a:rPr lang="tr-TR" sz="1050" b="1" i="0" u="none" strike="noStrike" dirty="0">
                <a:solidFill>
                  <a:srgbClr val="333333"/>
                </a:solidFill>
                <a:effectLst/>
                <a:latin typeface="Consolas" panose="020B0609020204030204" pitchFamily="49" charset="0"/>
              </a:rPr>
              <a:t>, Connection </a:t>
            </a:r>
            <a:r>
              <a:rPr lang="tr-TR" sz="1050" b="1" i="0" u="none" strike="noStrike" dirty="0" err="1">
                <a:solidFill>
                  <a:srgbClr val="333333"/>
                </a:solidFill>
                <a:effectLst/>
                <a:latin typeface="Consolas" panose="020B0609020204030204" pitchFamily="49" charset="0"/>
              </a:rPr>
              <a:t>connection</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throws</a:t>
            </a: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SQLException</a:t>
            </a: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0" u="none" strike="noStrike" dirty="0" err="1">
                <a:solidFill>
                  <a:srgbClr val="333333"/>
                </a:solidFill>
                <a:effectLst/>
                <a:latin typeface="Consolas" panose="020B0609020204030204" pitchFamily="49" charset="0"/>
              </a:rPr>
              <a:t>connection.close</a:t>
            </a:r>
            <a:r>
              <a:rPr lang="tr-TR" sz="1050" b="1" i="0" u="none" strike="noStrike" dirty="0">
                <a:solidFill>
                  <a:srgbClr val="333333"/>
                </a:solidFill>
                <a:effectLst/>
                <a:latin typeface="Consolas" panose="020B0609020204030204" pitchFamily="49" charset="0"/>
              </a:rPr>
              <a:t>();</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br>
              <a:rPr lang="tr-TR" sz="1050" b="1" i="0" u="none" strike="noStrike" dirty="0">
                <a:solidFill>
                  <a:srgbClr val="333333"/>
                </a:solidFill>
                <a:effectLst/>
                <a:latin typeface="Consolas" panose="020B0609020204030204" pitchFamily="49" charset="0"/>
              </a:rPr>
            </a:b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    </a:t>
            </a:r>
            <a:r>
              <a:rPr lang="tr-TR" sz="1050" b="1" i="1" u="none" strike="noStrike" dirty="0">
                <a:solidFill>
                  <a:srgbClr val="999988"/>
                </a:solidFill>
                <a:effectLst/>
                <a:latin typeface="Consolas" panose="020B0609020204030204" pitchFamily="49" charset="0"/>
              </a:rPr>
              <a:t>// Diğer metotlar: </a:t>
            </a:r>
            <a:r>
              <a:rPr lang="tr-TR" sz="1050" b="1" i="1" u="none" strike="noStrike" dirty="0" err="1">
                <a:solidFill>
                  <a:srgbClr val="999988"/>
                </a:solidFill>
                <a:effectLst/>
                <a:latin typeface="Consolas" panose="020B0609020204030204" pitchFamily="49" charset="0"/>
              </a:rPr>
              <a:t>support</a:t>
            </a:r>
            <a:r>
              <a:rPr lang="tr-TR" sz="1050" b="1" i="1" u="none" strike="noStrike" dirty="0">
                <a:solidFill>
                  <a:srgbClr val="999988"/>
                </a:solidFill>
                <a:effectLst/>
                <a:latin typeface="Consolas" panose="020B0609020204030204" pitchFamily="49" charset="0"/>
              </a:rPr>
              <a:t>, </a:t>
            </a:r>
            <a:r>
              <a:rPr lang="tr-TR" sz="1050" b="1" i="1" u="none" strike="noStrike" dirty="0" err="1">
                <a:solidFill>
                  <a:srgbClr val="999988"/>
                </a:solidFill>
                <a:effectLst/>
                <a:latin typeface="Consolas" panose="020B0609020204030204" pitchFamily="49" charset="0"/>
              </a:rPr>
              <a:t>unwrap</a:t>
            </a:r>
            <a:r>
              <a:rPr lang="tr-TR" sz="1050" b="1" i="1" u="none" strike="noStrike" dirty="0">
                <a:solidFill>
                  <a:srgbClr val="999988"/>
                </a:solidFill>
                <a:effectLst/>
                <a:latin typeface="Consolas" panose="020B0609020204030204" pitchFamily="49" charset="0"/>
              </a:rPr>
              <a:t>, </a:t>
            </a:r>
            <a:r>
              <a:rPr lang="tr-TR" sz="1050" b="1" i="1" u="none" strike="noStrike" dirty="0" err="1">
                <a:solidFill>
                  <a:srgbClr val="999988"/>
                </a:solidFill>
                <a:effectLst/>
                <a:latin typeface="Consolas" panose="020B0609020204030204" pitchFamily="49" charset="0"/>
              </a:rPr>
              <a:t>isUnwrapableAs</a:t>
            </a:r>
            <a:r>
              <a:rPr lang="tr-TR" sz="1050" b="1" i="1" u="none" strike="noStrike" dirty="0">
                <a:solidFill>
                  <a:srgbClr val="999988"/>
                </a:solidFill>
                <a:effectLst/>
                <a:latin typeface="Consolas" panose="020B0609020204030204" pitchFamily="49" charset="0"/>
              </a:rPr>
              <a:t> vs...</a:t>
            </a:r>
            <a:br>
              <a:rPr lang="tr-TR" sz="1050" b="1" i="0" u="none" strike="noStrike" dirty="0">
                <a:solidFill>
                  <a:srgbClr val="333333"/>
                </a:solidFill>
                <a:effectLst/>
                <a:latin typeface="Consolas" panose="020B0609020204030204" pitchFamily="49" charset="0"/>
              </a:rPr>
            </a:br>
            <a:r>
              <a:rPr lang="tr-TR" sz="1050" b="1" i="0" u="none" strike="noStrike" dirty="0">
                <a:solidFill>
                  <a:srgbClr val="333333"/>
                </a:solidFill>
                <a:effectLst/>
                <a:latin typeface="Consolas" panose="020B0609020204030204" pitchFamily="49" charset="0"/>
              </a:rPr>
              <a:t>}</a:t>
            </a:r>
            <a:endParaRPr lang="tr-TR" sz="400" dirty="0"/>
          </a:p>
        </p:txBody>
      </p:sp>
    </p:spTree>
    <p:extLst>
      <p:ext uri="{BB962C8B-B14F-4D97-AF65-F5344CB8AC3E}">
        <p14:creationId xmlns:p14="http://schemas.microsoft.com/office/powerpoint/2010/main" val="127222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D456-91E9-2294-CBE7-7ED934282A1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8369975-E8AE-320F-DFD1-6C1B11191681}"/>
              </a:ext>
            </a:extLst>
          </p:cNvPr>
          <p:cNvSpPr>
            <a:spLocks noGrp="1"/>
          </p:cNvSpPr>
          <p:nvPr>
            <p:ph type="title"/>
          </p:nvPr>
        </p:nvSpPr>
        <p:spPr>
          <a:xfrm>
            <a:off x="2231136" y="272876"/>
            <a:ext cx="7729728" cy="1188720"/>
          </a:xfrm>
        </p:spPr>
        <p:txBody>
          <a:bodyPr/>
          <a:lstStyle/>
          <a:p>
            <a:r>
              <a:rPr lang="tr-TR" dirty="0" err="1"/>
              <a:t>Veritabanı</a:t>
            </a:r>
            <a:r>
              <a:rPr lang="tr-TR" dirty="0"/>
              <a:t> gerçeklemesi - </a:t>
            </a:r>
            <a:r>
              <a:rPr lang="tr-TR" dirty="0" err="1"/>
              <a:t>hıbernate</a:t>
            </a:r>
            <a:endParaRPr lang="tr-TR" dirty="0"/>
          </a:p>
        </p:txBody>
      </p:sp>
      <p:sp>
        <p:nvSpPr>
          <p:cNvPr id="3" name="İçerik Yer Tutucusu 2">
            <a:extLst>
              <a:ext uri="{FF2B5EF4-FFF2-40B4-BE49-F238E27FC236}">
                <a16:creationId xmlns:a16="http://schemas.microsoft.com/office/drawing/2014/main" id="{48BE56C1-815A-B8CE-316A-681381BA17FF}"/>
              </a:ext>
            </a:extLst>
          </p:cNvPr>
          <p:cNvSpPr>
            <a:spLocks noGrp="1"/>
          </p:cNvSpPr>
          <p:nvPr>
            <p:ph idx="1"/>
          </p:nvPr>
        </p:nvSpPr>
        <p:spPr>
          <a:xfrm>
            <a:off x="390304" y="1894974"/>
            <a:ext cx="3681663" cy="4179891"/>
          </a:xfrm>
        </p:spPr>
        <p:txBody>
          <a:bodyPr>
            <a:noAutofit/>
          </a:bodyPr>
          <a:lstStyle/>
          <a:p>
            <a:pPr algn="l">
              <a:buFont typeface="Arial" panose="020B0604020202020204" pitchFamily="34" charset="0"/>
              <a:buChar char="•"/>
            </a:pPr>
            <a:r>
              <a:rPr lang="tr-TR" dirty="0" err="1">
                <a:solidFill>
                  <a:srgbClr val="000000"/>
                </a:solidFill>
              </a:rPr>
              <a:t>Shared-table</a:t>
            </a:r>
            <a:r>
              <a:rPr lang="tr-TR" dirty="0">
                <a:solidFill>
                  <a:srgbClr val="000000"/>
                </a:solidFill>
              </a:rPr>
              <a:t> gerçekleme için ise, </a:t>
            </a:r>
            <a:r>
              <a:rPr lang="tr-TR" dirty="0" err="1">
                <a:solidFill>
                  <a:srgbClr val="000000"/>
                </a:solidFill>
              </a:rPr>
              <a:t>hibernate</a:t>
            </a:r>
            <a:r>
              <a:rPr lang="tr-TR" dirty="0">
                <a:solidFill>
                  <a:srgbClr val="000000"/>
                </a:solidFill>
              </a:rPr>
              <a:t> @</a:t>
            </a:r>
            <a:r>
              <a:rPr lang="tr-TR" dirty="0" err="1">
                <a:solidFill>
                  <a:srgbClr val="000000"/>
                </a:solidFill>
              </a:rPr>
              <a:t>TenantId</a:t>
            </a:r>
            <a:r>
              <a:rPr lang="tr-TR" dirty="0">
                <a:solidFill>
                  <a:srgbClr val="000000"/>
                </a:solidFill>
              </a:rPr>
              <a:t> adında bir </a:t>
            </a:r>
            <a:r>
              <a:rPr lang="tr-TR" dirty="0" err="1">
                <a:solidFill>
                  <a:srgbClr val="000000"/>
                </a:solidFill>
              </a:rPr>
              <a:t>anotasyon</a:t>
            </a:r>
            <a:r>
              <a:rPr lang="tr-TR" dirty="0">
                <a:solidFill>
                  <a:srgbClr val="000000"/>
                </a:solidFill>
              </a:rPr>
              <a:t> sunmuştur. Bu </a:t>
            </a:r>
            <a:r>
              <a:rPr lang="tr-TR" dirty="0" err="1">
                <a:solidFill>
                  <a:srgbClr val="000000"/>
                </a:solidFill>
              </a:rPr>
              <a:t>anotasyon</a:t>
            </a:r>
            <a:r>
              <a:rPr lang="tr-TR" dirty="0">
                <a:solidFill>
                  <a:srgbClr val="000000"/>
                </a:solidFill>
              </a:rPr>
              <a:t> ile </a:t>
            </a:r>
            <a:r>
              <a:rPr lang="tr-TR" dirty="0" err="1">
                <a:solidFill>
                  <a:srgbClr val="000000"/>
                </a:solidFill>
              </a:rPr>
              <a:t>entity</a:t>
            </a:r>
            <a:r>
              <a:rPr lang="tr-TR" dirty="0">
                <a:solidFill>
                  <a:srgbClr val="000000"/>
                </a:solidFill>
              </a:rPr>
              <a:t> sınıflarımızda </a:t>
            </a:r>
            <a:r>
              <a:rPr lang="tr-TR" dirty="0" err="1">
                <a:solidFill>
                  <a:srgbClr val="000000"/>
                </a:solidFill>
              </a:rPr>
              <a:t>tenantId’yi</a:t>
            </a:r>
            <a:r>
              <a:rPr lang="tr-TR" dirty="0">
                <a:solidFill>
                  <a:srgbClr val="000000"/>
                </a:solidFill>
              </a:rPr>
              <a:t> işaretlersek, </a:t>
            </a:r>
            <a:r>
              <a:rPr lang="tr-TR" dirty="0" err="1">
                <a:solidFill>
                  <a:srgbClr val="000000"/>
                </a:solidFill>
              </a:rPr>
              <a:t>hibernate</a:t>
            </a:r>
            <a:r>
              <a:rPr lang="tr-TR" dirty="0">
                <a:solidFill>
                  <a:srgbClr val="000000"/>
                </a:solidFill>
              </a:rPr>
              <a:t> </a:t>
            </a:r>
            <a:r>
              <a:rPr lang="tr-TR" dirty="0" err="1">
                <a:solidFill>
                  <a:srgbClr val="000000"/>
                </a:solidFill>
              </a:rPr>
              <a:t>veritabanında</a:t>
            </a:r>
            <a:r>
              <a:rPr lang="tr-TR" dirty="0">
                <a:solidFill>
                  <a:srgbClr val="000000"/>
                </a:solidFill>
              </a:rPr>
              <a:t> yapacağı her sorguya </a:t>
            </a:r>
            <a:r>
              <a:rPr lang="tr-TR" dirty="0" err="1">
                <a:solidFill>
                  <a:srgbClr val="000000"/>
                </a:solidFill>
              </a:rPr>
              <a:t>tenantId</a:t>
            </a:r>
            <a:r>
              <a:rPr lang="tr-TR" dirty="0">
                <a:solidFill>
                  <a:srgbClr val="000000"/>
                </a:solidFill>
              </a:rPr>
              <a:t> filtresi de ekler.</a:t>
            </a:r>
          </a:p>
        </p:txBody>
      </p:sp>
      <p:sp>
        <p:nvSpPr>
          <p:cNvPr id="4" name="Metin kutusu 3">
            <a:extLst>
              <a:ext uri="{FF2B5EF4-FFF2-40B4-BE49-F238E27FC236}">
                <a16:creationId xmlns:a16="http://schemas.microsoft.com/office/drawing/2014/main" id="{F3F8D62A-8BB5-B88E-E629-CD854E7F3C77}"/>
              </a:ext>
            </a:extLst>
          </p:cNvPr>
          <p:cNvSpPr txBox="1"/>
          <p:nvPr/>
        </p:nvSpPr>
        <p:spPr>
          <a:xfrm>
            <a:off x="5124169" y="1894974"/>
            <a:ext cx="4836695" cy="2031325"/>
          </a:xfrm>
          <a:prstGeom prst="rect">
            <a:avLst/>
          </a:prstGeom>
          <a:noFill/>
        </p:spPr>
        <p:txBody>
          <a:bodyPr wrap="square" rtlCol="0">
            <a:spAutoFit/>
          </a:bodyPr>
          <a:lstStyle/>
          <a:p>
            <a:r>
              <a:rPr lang="tr-TR" sz="1800" b="1" i="0" u="none" strike="noStrike" dirty="0">
                <a:solidFill>
                  <a:srgbClr val="999999"/>
                </a:solidFill>
                <a:effectLst/>
                <a:latin typeface="Consolas" panose="020B0609020204030204" pitchFamily="49" charset="0"/>
              </a:rPr>
              <a:t>@</a:t>
            </a:r>
            <a:r>
              <a:rPr lang="tr-TR" sz="1800" b="1" i="0" u="none" strike="noStrike" dirty="0" err="1">
                <a:solidFill>
                  <a:srgbClr val="999999"/>
                </a:solidFill>
                <a:effectLst/>
                <a:latin typeface="Consolas" panose="020B0609020204030204" pitchFamily="49" charset="0"/>
              </a:rPr>
              <a:t>Entity</a:t>
            </a:r>
            <a:r>
              <a:rPr lang="tr-TR" sz="1800" b="1" i="0" u="none" strike="noStrike" dirty="0">
                <a:solidFill>
                  <a:srgbClr val="333333"/>
                </a:solidFill>
                <a:effectLst/>
                <a:latin typeface="Consolas" panose="020B0609020204030204" pitchFamily="49" charset="0"/>
              </a:rPr>
              <a:t> </a:t>
            </a:r>
            <a:br>
              <a:rPr lang="tr-TR" sz="1800" b="1" i="0" u="none" strike="noStrike" dirty="0">
                <a:solidFill>
                  <a:srgbClr val="333333"/>
                </a:solidFill>
                <a:effectLst/>
                <a:latin typeface="Consolas" panose="020B0609020204030204" pitchFamily="49" charset="0"/>
              </a:rPr>
            </a:br>
            <a:r>
              <a:rPr lang="tr-TR" sz="1800" b="1" i="0" u="none" strike="noStrike" dirty="0" err="1">
                <a:solidFill>
                  <a:srgbClr val="333333"/>
                </a:solidFill>
                <a:effectLst/>
                <a:latin typeface="Consolas" panose="020B0609020204030204" pitchFamily="49" charset="0"/>
              </a:rPr>
              <a:t>class</a:t>
            </a:r>
            <a:r>
              <a:rPr lang="tr-TR" sz="1800" b="1" i="0" u="none" strike="noStrike" dirty="0">
                <a:solidFill>
                  <a:srgbClr val="333333"/>
                </a:solidFill>
                <a:effectLst/>
                <a:latin typeface="Consolas" panose="020B0609020204030204" pitchFamily="49" charset="0"/>
              </a:rPr>
              <a:t> </a:t>
            </a:r>
            <a:r>
              <a:rPr lang="tr-TR" sz="1800" b="1" i="0" u="none" strike="noStrike" dirty="0" err="1">
                <a:solidFill>
                  <a:srgbClr val="445588"/>
                </a:solidFill>
                <a:effectLst/>
                <a:latin typeface="Consolas" panose="020B0609020204030204" pitchFamily="49" charset="0"/>
              </a:rPr>
              <a:t>Order</a:t>
            </a:r>
            <a:r>
              <a:rPr lang="tr-TR" sz="1800" b="1" i="0" u="none" strike="noStrike" dirty="0">
                <a:solidFill>
                  <a:srgbClr val="333333"/>
                </a:solidFill>
                <a:effectLst/>
                <a:latin typeface="Consolas" panose="020B0609020204030204" pitchFamily="49" charset="0"/>
              </a:rPr>
              <a:t> {</a:t>
            </a:r>
            <a:br>
              <a:rPr lang="tr-TR" sz="1800" b="1" i="0" u="none" strike="noStrike" dirty="0">
                <a:solidFill>
                  <a:srgbClr val="333333"/>
                </a:solidFill>
                <a:effectLst/>
                <a:latin typeface="Consolas" panose="020B0609020204030204" pitchFamily="49" charset="0"/>
              </a:rPr>
            </a:br>
            <a:r>
              <a:rPr lang="tr-TR" sz="1800" b="1" i="0" u="none" strike="noStrike" dirty="0">
                <a:solidFill>
                  <a:srgbClr val="333333"/>
                </a:solidFill>
                <a:effectLst/>
                <a:latin typeface="Consolas" panose="020B0609020204030204" pitchFamily="49" charset="0"/>
              </a:rPr>
              <a:t>    </a:t>
            </a:r>
            <a:r>
              <a:rPr lang="tr-TR" sz="1800" b="1" i="0" u="none" strike="noStrike" dirty="0">
                <a:solidFill>
                  <a:srgbClr val="999999"/>
                </a:solidFill>
                <a:effectLst/>
                <a:latin typeface="Consolas" panose="020B0609020204030204" pitchFamily="49" charset="0"/>
              </a:rPr>
              <a:t>@</a:t>
            </a:r>
            <a:r>
              <a:rPr lang="tr-TR" sz="1800" b="1" i="0" u="none" strike="noStrike" dirty="0" err="1">
                <a:solidFill>
                  <a:srgbClr val="999999"/>
                </a:solidFill>
                <a:effectLst/>
                <a:latin typeface="Consolas" panose="020B0609020204030204" pitchFamily="49" charset="0"/>
              </a:rPr>
              <a:t>TenantId</a:t>
            </a:r>
            <a:r>
              <a:rPr lang="tr-TR" sz="1800" b="1" i="0" u="none" strike="noStrike" dirty="0">
                <a:solidFill>
                  <a:srgbClr val="333333"/>
                </a:solidFill>
                <a:effectLst/>
                <a:latin typeface="Consolas" panose="020B0609020204030204" pitchFamily="49" charset="0"/>
              </a:rPr>
              <a:t> </a:t>
            </a:r>
            <a:br>
              <a:rPr lang="tr-TR" sz="1800" b="1" i="0" u="none" strike="noStrike" dirty="0">
                <a:solidFill>
                  <a:srgbClr val="333333"/>
                </a:solidFill>
                <a:effectLst/>
                <a:latin typeface="Consolas" panose="020B0609020204030204" pitchFamily="49" charset="0"/>
              </a:rPr>
            </a:br>
            <a:r>
              <a:rPr lang="tr-TR" sz="1800" b="1" i="0" u="none" strike="noStrike" dirty="0">
                <a:solidFill>
                  <a:srgbClr val="333333"/>
                </a:solidFill>
                <a:effectLst/>
                <a:latin typeface="Consolas" panose="020B0609020204030204" pitchFamily="49" charset="0"/>
              </a:rPr>
              <a:t>    </a:t>
            </a:r>
            <a:r>
              <a:rPr lang="tr-TR" sz="1800" b="1" i="0" u="none" strike="noStrike" dirty="0" err="1">
                <a:solidFill>
                  <a:srgbClr val="333333"/>
                </a:solidFill>
                <a:effectLst/>
                <a:latin typeface="Consolas" panose="020B0609020204030204" pitchFamily="49" charset="0"/>
              </a:rPr>
              <a:t>private</a:t>
            </a:r>
            <a:r>
              <a:rPr lang="tr-TR" sz="1800" b="1" i="0" u="none" strike="noStrike" dirty="0">
                <a:solidFill>
                  <a:srgbClr val="333333"/>
                </a:solidFill>
                <a:effectLst/>
                <a:latin typeface="Consolas" panose="020B0609020204030204" pitchFamily="49" charset="0"/>
              </a:rPr>
              <a:t> </a:t>
            </a:r>
            <a:r>
              <a:rPr lang="tr-TR" sz="1800" b="1" i="0" u="none" strike="noStrike" dirty="0" err="1">
                <a:solidFill>
                  <a:srgbClr val="0086B3"/>
                </a:solidFill>
                <a:effectLst/>
                <a:latin typeface="Consolas" panose="020B0609020204030204" pitchFamily="49" charset="0"/>
              </a:rPr>
              <a:t>String</a:t>
            </a:r>
            <a:r>
              <a:rPr lang="tr-TR" sz="1800" b="1" i="0" u="none" strike="noStrike" dirty="0">
                <a:solidFill>
                  <a:srgbClr val="333333"/>
                </a:solidFill>
                <a:effectLst/>
                <a:latin typeface="Consolas" panose="020B0609020204030204" pitchFamily="49" charset="0"/>
              </a:rPr>
              <a:t> </a:t>
            </a:r>
            <a:r>
              <a:rPr lang="tr-TR" sz="1800" b="1" i="0" u="none" strike="noStrike" dirty="0" err="1">
                <a:solidFill>
                  <a:srgbClr val="333333"/>
                </a:solidFill>
                <a:effectLst/>
                <a:latin typeface="Consolas" panose="020B0609020204030204" pitchFamily="49" charset="0"/>
              </a:rPr>
              <a:t>tenant</a:t>
            </a:r>
            <a:r>
              <a:rPr lang="tr-TR" sz="1800" b="1" i="0" u="none" strike="noStrike" dirty="0">
                <a:solidFill>
                  <a:srgbClr val="333333"/>
                </a:solidFill>
                <a:effectLst/>
                <a:latin typeface="Consolas" panose="020B0609020204030204" pitchFamily="49" charset="0"/>
              </a:rPr>
              <a:t>;</a:t>
            </a:r>
          </a:p>
          <a:p>
            <a:br>
              <a:rPr lang="tr-TR" sz="1800" b="1" i="0" u="none" strike="noStrike" dirty="0">
                <a:solidFill>
                  <a:srgbClr val="333333"/>
                </a:solidFill>
                <a:effectLst/>
                <a:latin typeface="Consolas" panose="020B0609020204030204" pitchFamily="49" charset="0"/>
              </a:rPr>
            </a:br>
            <a:r>
              <a:rPr lang="tr-TR" sz="1800" b="1" i="0" u="none" strike="noStrike" dirty="0">
                <a:solidFill>
                  <a:srgbClr val="333333"/>
                </a:solidFill>
                <a:effectLst/>
                <a:latin typeface="Consolas" panose="020B0609020204030204" pitchFamily="49" charset="0"/>
              </a:rPr>
              <a:t>    </a:t>
            </a:r>
            <a:r>
              <a:rPr lang="tr-TR" sz="1800" b="1" i="1" u="none" strike="noStrike" dirty="0">
                <a:solidFill>
                  <a:srgbClr val="999988"/>
                </a:solidFill>
                <a:effectLst/>
                <a:latin typeface="Consolas" panose="020B0609020204030204" pitchFamily="49" charset="0"/>
              </a:rPr>
              <a:t>/* ... diğer alanlar ... */</a:t>
            </a:r>
            <a:br>
              <a:rPr lang="tr-TR" sz="1800" b="1" i="0" u="none" strike="noStrike" dirty="0">
                <a:solidFill>
                  <a:srgbClr val="333333"/>
                </a:solidFill>
                <a:effectLst/>
                <a:latin typeface="Consolas" panose="020B0609020204030204" pitchFamily="49" charset="0"/>
              </a:rPr>
            </a:br>
            <a:r>
              <a:rPr lang="tr-TR" sz="1800" b="1" i="0" u="none" strike="noStrike" dirty="0">
                <a:solidFill>
                  <a:srgbClr val="333333"/>
                </a:solidFill>
                <a:effectLst/>
                <a:latin typeface="Consolas" panose="020B0609020204030204" pitchFamily="49" charset="0"/>
              </a:rPr>
              <a:t>}</a:t>
            </a:r>
            <a:endParaRPr lang="tr-TR" sz="400" dirty="0"/>
          </a:p>
        </p:txBody>
      </p:sp>
    </p:spTree>
    <p:extLst>
      <p:ext uri="{BB962C8B-B14F-4D97-AF65-F5344CB8AC3E}">
        <p14:creationId xmlns:p14="http://schemas.microsoft.com/office/powerpoint/2010/main" val="3900626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7C30-4ADC-88C5-09A1-DADD21F8C83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58D1889-1A2C-48B8-9EBA-E4E7B50F27F7}"/>
              </a:ext>
            </a:extLst>
          </p:cNvPr>
          <p:cNvSpPr>
            <a:spLocks noGrp="1"/>
          </p:cNvSpPr>
          <p:nvPr>
            <p:ph type="title"/>
          </p:nvPr>
        </p:nvSpPr>
        <p:spPr>
          <a:xfrm>
            <a:off x="2231136" y="272876"/>
            <a:ext cx="7729728" cy="1188720"/>
          </a:xfrm>
        </p:spPr>
        <p:txBody>
          <a:bodyPr/>
          <a:lstStyle/>
          <a:p>
            <a:r>
              <a:rPr lang="tr-TR" dirty="0" err="1"/>
              <a:t>Veritabanı</a:t>
            </a:r>
            <a:r>
              <a:rPr lang="tr-TR" dirty="0"/>
              <a:t> gerçeklemesi - </a:t>
            </a:r>
            <a:r>
              <a:rPr lang="tr-TR" dirty="0" err="1"/>
              <a:t>abstractroutıngdatasource</a:t>
            </a:r>
            <a:endParaRPr lang="tr-TR" dirty="0"/>
          </a:p>
        </p:txBody>
      </p:sp>
      <p:sp>
        <p:nvSpPr>
          <p:cNvPr id="3" name="İçerik Yer Tutucusu 2">
            <a:extLst>
              <a:ext uri="{FF2B5EF4-FFF2-40B4-BE49-F238E27FC236}">
                <a16:creationId xmlns:a16="http://schemas.microsoft.com/office/drawing/2014/main" id="{DE25BF79-8C75-FC3B-5039-3FB119948900}"/>
              </a:ext>
            </a:extLst>
          </p:cNvPr>
          <p:cNvSpPr>
            <a:spLocks noGrp="1"/>
          </p:cNvSpPr>
          <p:nvPr>
            <p:ph idx="1"/>
          </p:nvPr>
        </p:nvSpPr>
        <p:spPr>
          <a:xfrm>
            <a:off x="519463" y="1841914"/>
            <a:ext cx="3423345" cy="4179891"/>
          </a:xfrm>
        </p:spPr>
        <p:txBody>
          <a:bodyPr>
            <a:noAutofit/>
          </a:bodyPr>
          <a:lstStyle/>
          <a:p>
            <a:pPr algn="l">
              <a:buFont typeface="Arial" panose="020B0604020202020204" pitchFamily="34" charset="0"/>
              <a:buChar char="•"/>
            </a:pPr>
            <a:r>
              <a:rPr lang="tr-TR" dirty="0">
                <a:solidFill>
                  <a:srgbClr val="000000"/>
                </a:solidFill>
              </a:rPr>
              <a:t>Kullanılan </a:t>
            </a:r>
            <a:r>
              <a:rPr lang="tr-TR" dirty="0" err="1">
                <a:solidFill>
                  <a:srgbClr val="000000"/>
                </a:solidFill>
              </a:rPr>
              <a:t>DataSource’u</a:t>
            </a:r>
            <a:r>
              <a:rPr lang="tr-TR" dirty="0">
                <a:solidFill>
                  <a:srgbClr val="000000"/>
                </a:solidFill>
              </a:rPr>
              <a:t> </a:t>
            </a:r>
            <a:r>
              <a:rPr lang="tr-TR" dirty="0" err="1">
                <a:solidFill>
                  <a:srgbClr val="000000"/>
                </a:solidFill>
              </a:rPr>
              <a:t>tenantId’ye</a:t>
            </a:r>
            <a:r>
              <a:rPr lang="tr-TR" dirty="0">
                <a:solidFill>
                  <a:srgbClr val="000000"/>
                </a:solidFill>
              </a:rPr>
              <a:t> göre değiştirilebilir kılmak için,  </a:t>
            </a:r>
            <a:r>
              <a:rPr lang="tr-TR" dirty="0" err="1">
                <a:solidFill>
                  <a:srgbClr val="000000"/>
                </a:solidFill>
              </a:rPr>
              <a:t>AbtractRoutingDataSource</a:t>
            </a:r>
            <a:r>
              <a:rPr lang="tr-TR" dirty="0">
                <a:solidFill>
                  <a:srgbClr val="000000"/>
                </a:solidFill>
              </a:rPr>
              <a:t> kullanabiliriz</a:t>
            </a:r>
            <a:endParaRPr lang="tr-TR" b="0" i="0" u="none" strike="noStrike" dirty="0">
              <a:solidFill>
                <a:srgbClr val="000000"/>
              </a:solidFill>
              <a:effectLst/>
            </a:endParaRPr>
          </a:p>
        </p:txBody>
      </p:sp>
      <p:sp>
        <p:nvSpPr>
          <p:cNvPr id="4" name="Metin kutusu 3">
            <a:extLst>
              <a:ext uri="{FF2B5EF4-FFF2-40B4-BE49-F238E27FC236}">
                <a16:creationId xmlns:a16="http://schemas.microsoft.com/office/drawing/2014/main" id="{1F319A9C-5B9C-AB4E-C888-82BBFD6735B2}"/>
              </a:ext>
            </a:extLst>
          </p:cNvPr>
          <p:cNvSpPr txBox="1"/>
          <p:nvPr/>
        </p:nvSpPr>
        <p:spPr>
          <a:xfrm>
            <a:off x="4036595" y="1754340"/>
            <a:ext cx="7273089" cy="4355038"/>
          </a:xfrm>
          <a:prstGeom prst="rect">
            <a:avLst/>
          </a:prstGeom>
          <a:noFill/>
        </p:spPr>
        <p:txBody>
          <a:bodyPr wrap="square" rtlCol="0">
            <a:spAutoFit/>
          </a:bodyPr>
          <a:lstStyle/>
          <a:p>
            <a:r>
              <a:rPr lang="tr-TR" sz="1400" b="1" i="0" u="none" strike="noStrike" dirty="0" err="1">
                <a:solidFill>
                  <a:srgbClr val="333333"/>
                </a:solidFill>
                <a:effectLst/>
                <a:latin typeface="Consolas" panose="020B0609020204030204" pitchFamily="49" charset="0"/>
              </a:rPr>
              <a:t>public</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class</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445588"/>
                </a:solidFill>
                <a:effectLst/>
                <a:latin typeface="Consolas" panose="020B0609020204030204" pitchFamily="49" charset="0"/>
              </a:rPr>
              <a:t>TenantRoutingDataSource</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extends</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445588"/>
                </a:solidFill>
                <a:effectLst/>
                <a:latin typeface="Consolas" panose="020B0609020204030204" pitchFamily="49" charset="0"/>
              </a:rPr>
              <a:t>AbstractRoutingDataSource</a:t>
            </a:r>
            <a:r>
              <a:rPr lang="tr-TR" sz="1400" b="1" i="0" u="none" strike="noStrike" dirty="0">
                <a:solidFill>
                  <a:srgbClr val="333333"/>
                </a:solidFill>
                <a:effectLst/>
                <a:latin typeface="Consolas" panose="020B0609020204030204" pitchFamily="49" charset="0"/>
              </a:rPr>
              <a:t> {</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a:solidFill>
                  <a:srgbClr val="999999"/>
                </a:solidFill>
                <a:effectLst/>
                <a:latin typeface="Consolas" panose="020B0609020204030204" pitchFamily="49" charset="0"/>
              </a:rPr>
              <a:t>@</a:t>
            </a:r>
            <a:r>
              <a:rPr lang="tr-TR" sz="1400" b="1" i="0" u="none" strike="noStrike" dirty="0" err="1">
                <a:solidFill>
                  <a:srgbClr val="999999"/>
                </a:solidFill>
                <a:effectLst/>
                <a:latin typeface="Consolas" panose="020B0609020204030204" pitchFamily="49" charset="0"/>
              </a:rPr>
              <a:t>Override</a:t>
            </a:r>
            <a:r>
              <a:rPr lang="tr-TR" sz="1400" b="1" i="0" u="none" strike="noStrike" dirty="0">
                <a:solidFill>
                  <a:srgbClr val="333333"/>
                </a:solidFill>
                <a:effectLst/>
                <a:latin typeface="Consolas" panose="020B0609020204030204" pitchFamily="49" charset="0"/>
              </a:rPr>
              <a:t> </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protected</a:t>
            </a:r>
            <a:r>
              <a:rPr lang="tr-TR" sz="1400" b="1" i="0" u="none" strike="noStrike" dirty="0">
                <a:solidFill>
                  <a:srgbClr val="333333"/>
                </a:solidFill>
                <a:effectLst/>
                <a:latin typeface="Consolas" panose="020B0609020204030204" pitchFamily="49" charset="0"/>
              </a:rPr>
              <a:t> </a:t>
            </a:r>
            <a:r>
              <a:rPr lang="tr-TR" sz="1400" b="1" i="0" u="none" strike="noStrike" dirty="0">
                <a:solidFill>
                  <a:srgbClr val="445588"/>
                </a:solidFill>
                <a:effectLst/>
                <a:latin typeface="Consolas" panose="020B0609020204030204" pitchFamily="49" charset="0"/>
              </a:rPr>
              <a:t>Object</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determineCurrentLookupKey</a:t>
            </a:r>
            <a:r>
              <a:rPr lang="tr-TR" sz="1400" b="1" i="0" u="none" strike="noStrike" dirty="0">
                <a:solidFill>
                  <a:srgbClr val="333333"/>
                </a:solidFill>
                <a:effectLst/>
                <a:latin typeface="Consolas" panose="020B0609020204030204" pitchFamily="49" charset="0"/>
              </a:rPr>
              <a:t>() {</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return</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445588"/>
                </a:solidFill>
                <a:effectLst/>
                <a:latin typeface="Consolas" panose="020B0609020204030204" pitchFamily="49" charset="0"/>
              </a:rPr>
              <a:t>TenantContext</a:t>
            </a:r>
            <a:r>
              <a:rPr lang="tr-TR" sz="1400" b="1" i="0" u="none" strike="noStrike" dirty="0" err="1">
                <a:solidFill>
                  <a:srgbClr val="333333"/>
                </a:solidFill>
                <a:effectLst/>
                <a:latin typeface="Consolas" panose="020B0609020204030204" pitchFamily="49" charset="0"/>
              </a:rPr>
              <a:t>.getCurrentTenant</a:t>
            </a:r>
            <a:r>
              <a:rPr lang="tr-TR" sz="1400" b="1" i="0" u="none" strike="noStrike" dirty="0">
                <a:solidFill>
                  <a:srgbClr val="333333"/>
                </a:solidFill>
                <a:effectLst/>
                <a:latin typeface="Consolas" panose="020B0609020204030204" pitchFamily="49" charset="0"/>
              </a:rPr>
              <a:t>(); </a:t>
            </a:r>
            <a:r>
              <a:rPr lang="tr-TR" sz="1400" b="1" i="1" u="none" strike="noStrike" dirty="0">
                <a:solidFill>
                  <a:srgbClr val="999988"/>
                </a:solidFill>
                <a:effectLst/>
                <a:latin typeface="Consolas" panose="020B0609020204030204" pitchFamily="49" charset="0"/>
              </a:rPr>
              <a:t>// </a:t>
            </a:r>
            <a:r>
              <a:rPr lang="tr-TR" sz="1400" b="1" i="1" u="none" strike="noStrike" dirty="0" err="1">
                <a:solidFill>
                  <a:srgbClr val="999988"/>
                </a:solidFill>
                <a:effectLst/>
                <a:latin typeface="Consolas" panose="020B0609020204030204" pitchFamily="49" charset="0"/>
              </a:rPr>
              <a:t>threadlocal'dan</a:t>
            </a:r>
            <a:r>
              <a:rPr lang="tr-TR" sz="1400" b="1" i="1" u="none" strike="noStrike" dirty="0">
                <a:solidFill>
                  <a:srgbClr val="999988"/>
                </a:solidFill>
                <a:effectLst/>
                <a:latin typeface="Consolas" panose="020B0609020204030204" pitchFamily="49" charset="0"/>
              </a:rPr>
              <a:t> aktif </a:t>
            </a:r>
            <a:r>
              <a:rPr lang="tr-TR" sz="1400" b="1" i="1" u="none" strike="noStrike" dirty="0" err="1">
                <a:solidFill>
                  <a:srgbClr val="999988"/>
                </a:solidFill>
                <a:effectLst/>
                <a:latin typeface="Consolas" panose="020B0609020204030204" pitchFamily="49" charset="0"/>
              </a:rPr>
              <a:t>tenant</a:t>
            </a:r>
            <a:r>
              <a:rPr lang="tr-TR" sz="1400" b="1" i="1" u="none" strike="noStrike" dirty="0">
                <a:solidFill>
                  <a:srgbClr val="999988"/>
                </a:solidFill>
                <a:effectLst/>
                <a:latin typeface="Consolas" panose="020B0609020204030204" pitchFamily="49" charset="0"/>
              </a:rPr>
              <a:t> kimliği</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a:t>
            </a:r>
          </a:p>
          <a:p>
            <a:endParaRPr lang="tr-TR" sz="1400" b="1" dirty="0">
              <a:solidFill>
                <a:srgbClr val="333333"/>
              </a:solidFill>
              <a:latin typeface="Consolas" panose="020B0609020204030204" pitchFamily="49" charset="0"/>
            </a:endParaRPr>
          </a:p>
          <a:p>
            <a:r>
              <a:rPr lang="tr-TR" sz="1400" b="1" dirty="0">
                <a:solidFill>
                  <a:srgbClr val="333333"/>
                </a:solidFill>
                <a:latin typeface="Consolas" panose="020B0609020204030204" pitchFamily="49" charset="0"/>
              </a:rPr>
              <a:t>---------------------</a:t>
            </a:r>
          </a:p>
          <a:p>
            <a:endParaRPr lang="tr-TR" sz="1400" b="1" dirty="0">
              <a:solidFill>
                <a:srgbClr val="333333"/>
              </a:solidFill>
              <a:latin typeface="Consolas" panose="020B0609020204030204" pitchFamily="49" charset="0"/>
            </a:endParaRPr>
          </a:p>
          <a:p>
            <a:r>
              <a:rPr lang="tr-TR" sz="1400" b="1" i="0" u="none" strike="noStrike" dirty="0">
                <a:solidFill>
                  <a:srgbClr val="999999"/>
                </a:solidFill>
                <a:effectLst/>
                <a:latin typeface="Consolas" panose="020B0609020204030204" pitchFamily="49" charset="0"/>
              </a:rPr>
              <a:t>@</a:t>
            </a:r>
            <a:r>
              <a:rPr lang="tr-TR" sz="1400" b="1" i="0" u="none" strike="noStrike" dirty="0" err="1">
                <a:solidFill>
                  <a:srgbClr val="999999"/>
                </a:solidFill>
                <a:effectLst/>
                <a:latin typeface="Consolas" panose="020B0609020204030204" pitchFamily="49" charset="0"/>
              </a:rPr>
              <a:t>Bean</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DataSource</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990000"/>
                </a:solidFill>
                <a:effectLst/>
                <a:latin typeface="Consolas" panose="020B0609020204030204" pitchFamily="49" charset="0"/>
              </a:rPr>
              <a:t>dataSource</a:t>
            </a:r>
            <a:r>
              <a:rPr lang="tr-TR" sz="1400" b="1" i="0" u="none" strike="noStrike" dirty="0">
                <a:solidFill>
                  <a:srgbClr val="333333"/>
                </a:solidFill>
                <a:effectLst/>
                <a:latin typeface="Consolas" panose="020B0609020204030204" pitchFamily="49" charset="0"/>
              </a:rPr>
              <a:t>() {</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TenantRoutingDataSource</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ds</a:t>
            </a:r>
            <a:r>
              <a:rPr lang="tr-TR" sz="1400" b="1" i="0" u="none" strike="noStrike" dirty="0">
                <a:solidFill>
                  <a:srgbClr val="333333"/>
                </a:solidFill>
                <a:effectLst/>
                <a:latin typeface="Consolas" panose="020B0609020204030204" pitchFamily="49" charset="0"/>
              </a:rPr>
              <a:t> = </a:t>
            </a:r>
            <a:r>
              <a:rPr lang="tr-TR" sz="1400" b="1" i="0" u="none" strike="noStrike" dirty="0" err="1">
                <a:solidFill>
                  <a:srgbClr val="333333"/>
                </a:solidFill>
                <a:effectLst/>
                <a:latin typeface="Consolas" panose="020B0609020204030204" pitchFamily="49" charset="0"/>
              </a:rPr>
              <a:t>new</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TenantRoutingDataSource</a:t>
            </a:r>
            <a:r>
              <a:rPr lang="tr-TR" sz="1400" b="1" i="0" u="none" strike="noStrike" dirty="0">
                <a:solidFill>
                  <a:srgbClr val="333333"/>
                </a:solidFill>
                <a:effectLst/>
                <a:latin typeface="Consolas" panose="020B0609020204030204" pitchFamily="49" charset="0"/>
              </a:rPr>
              <a:t>();</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Map</a:t>
            </a:r>
            <a:r>
              <a:rPr lang="tr-TR" sz="1400" b="1" i="0" u="none" strike="noStrike" dirty="0">
                <a:solidFill>
                  <a:srgbClr val="333333"/>
                </a:solidFill>
                <a:effectLst/>
                <a:latin typeface="Consolas" panose="020B0609020204030204" pitchFamily="49" charset="0"/>
              </a:rPr>
              <a:t>&lt;</a:t>
            </a:r>
            <a:r>
              <a:rPr lang="tr-TR" sz="1400" b="1" i="0" u="none" strike="noStrike" dirty="0" err="1">
                <a:solidFill>
                  <a:srgbClr val="333333"/>
                </a:solidFill>
                <a:effectLst/>
                <a:latin typeface="Consolas" panose="020B0609020204030204" pitchFamily="49" charset="0"/>
              </a:rPr>
              <a:t>Object,Object</a:t>
            </a:r>
            <a:r>
              <a:rPr lang="tr-TR" sz="1400" b="1" i="0" u="none" strike="noStrike" dirty="0">
                <a:solidFill>
                  <a:srgbClr val="333333"/>
                </a:solidFill>
                <a:effectLst/>
                <a:latin typeface="Consolas" panose="020B0609020204030204" pitchFamily="49" charset="0"/>
              </a:rPr>
              <a:t>&gt; </a:t>
            </a:r>
            <a:r>
              <a:rPr lang="tr-TR" sz="1400" b="1" i="0" u="none" strike="noStrike" dirty="0" err="1">
                <a:solidFill>
                  <a:srgbClr val="333333"/>
                </a:solidFill>
                <a:effectLst/>
                <a:latin typeface="Consolas" panose="020B0609020204030204" pitchFamily="49" charset="0"/>
              </a:rPr>
              <a:t>targetMap</a:t>
            </a:r>
            <a:r>
              <a:rPr lang="tr-TR" sz="1400" b="1" i="0" u="none" strike="noStrike" dirty="0">
                <a:solidFill>
                  <a:srgbClr val="333333"/>
                </a:solidFill>
                <a:effectLst/>
                <a:latin typeface="Consolas" panose="020B0609020204030204" pitchFamily="49" charset="0"/>
              </a:rPr>
              <a:t> = </a:t>
            </a:r>
            <a:r>
              <a:rPr lang="tr-TR" sz="1400" b="1" i="0" u="none" strike="noStrike" dirty="0" err="1">
                <a:solidFill>
                  <a:srgbClr val="333333"/>
                </a:solidFill>
                <a:effectLst/>
                <a:latin typeface="Consolas" panose="020B0609020204030204" pitchFamily="49" charset="0"/>
              </a:rPr>
              <a:t>new</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HashMap</a:t>
            </a:r>
            <a:r>
              <a:rPr lang="tr-TR" sz="1400" b="1" i="0" u="none" strike="noStrike" dirty="0">
                <a:solidFill>
                  <a:srgbClr val="333333"/>
                </a:solidFill>
                <a:effectLst/>
                <a:latin typeface="Consolas" panose="020B0609020204030204" pitchFamily="49" charset="0"/>
              </a:rPr>
              <a:t>&lt;&gt;();</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targetMap.put</a:t>
            </a:r>
            <a:r>
              <a:rPr lang="tr-TR" sz="1400" b="1" i="0" u="none" strike="noStrike" dirty="0">
                <a:solidFill>
                  <a:srgbClr val="333333"/>
                </a:solidFill>
                <a:effectLst/>
                <a:latin typeface="Consolas" panose="020B0609020204030204" pitchFamily="49" charset="0"/>
              </a:rPr>
              <a:t>(</a:t>
            </a:r>
            <a:r>
              <a:rPr lang="tr-TR" sz="1400" b="1" i="0" u="none" strike="noStrike" dirty="0">
                <a:solidFill>
                  <a:srgbClr val="DD1144"/>
                </a:solidFill>
                <a:effectLst/>
                <a:latin typeface="Consolas" panose="020B0609020204030204" pitchFamily="49" charset="0"/>
              </a:rPr>
              <a:t>"tenant1"</a:t>
            </a:r>
            <a:r>
              <a:rPr lang="tr-TR" sz="1400" b="1" i="0" u="none" strike="noStrike" dirty="0">
                <a:solidFill>
                  <a:srgbClr val="333333"/>
                </a:solidFill>
                <a:effectLst/>
                <a:latin typeface="Consolas" panose="020B0609020204030204" pitchFamily="49" charset="0"/>
              </a:rPr>
              <a:t>, tenant1DataSource());</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targetMap.put</a:t>
            </a:r>
            <a:r>
              <a:rPr lang="tr-TR" sz="1400" b="1" i="0" u="none" strike="noStrike" dirty="0">
                <a:solidFill>
                  <a:srgbClr val="333333"/>
                </a:solidFill>
                <a:effectLst/>
                <a:latin typeface="Consolas" panose="020B0609020204030204" pitchFamily="49" charset="0"/>
              </a:rPr>
              <a:t>(</a:t>
            </a:r>
            <a:r>
              <a:rPr lang="tr-TR" sz="1400" b="1" i="0" u="none" strike="noStrike" dirty="0">
                <a:solidFill>
                  <a:srgbClr val="DD1144"/>
                </a:solidFill>
                <a:effectLst/>
                <a:latin typeface="Consolas" panose="020B0609020204030204" pitchFamily="49" charset="0"/>
              </a:rPr>
              <a:t>"tenant2"</a:t>
            </a:r>
            <a:r>
              <a:rPr lang="tr-TR" sz="1400" b="1" i="0" u="none" strike="noStrike" dirty="0">
                <a:solidFill>
                  <a:srgbClr val="333333"/>
                </a:solidFill>
                <a:effectLst/>
                <a:latin typeface="Consolas" panose="020B0609020204030204" pitchFamily="49" charset="0"/>
              </a:rPr>
              <a:t>, tenant2DataSource());</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ds.setTargetDataSources</a:t>
            </a:r>
            <a:r>
              <a:rPr lang="tr-TR" sz="1400" b="1" i="0" u="none" strike="noStrike" dirty="0">
                <a:solidFill>
                  <a:srgbClr val="333333"/>
                </a:solidFill>
                <a:effectLst/>
                <a:latin typeface="Consolas" panose="020B0609020204030204" pitchFamily="49" charset="0"/>
              </a:rPr>
              <a:t>(</a:t>
            </a:r>
            <a:r>
              <a:rPr lang="tr-TR" sz="1400" b="1" i="0" u="none" strike="noStrike" dirty="0" err="1">
                <a:solidFill>
                  <a:srgbClr val="333333"/>
                </a:solidFill>
                <a:effectLst/>
                <a:latin typeface="Consolas" panose="020B0609020204030204" pitchFamily="49" charset="0"/>
              </a:rPr>
              <a:t>targetMap</a:t>
            </a:r>
            <a:r>
              <a:rPr lang="tr-TR" sz="1400" b="1" i="0" u="none" strike="noStrike" dirty="0">
                <a:solidFill>
                  <a:srgbClr val="333333"/>
                </a:solidFill>
                <a:effectLst/>
                <a:latin typeface="Consolas" panose="020B0609020204030204" pitchFamily="49" charset="0"/>
              </a:rPr>
              <a:t>);</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ds.setDefaultTargetDataSource</a:t>
            </a:r>
            <a:r>
              <a:rPr lang="tr-TR" sz="1400" b="1" i="0" u="none" strike="noStrike" dirty="0">
                <a:solidFill>
                  <a:srgbClr val="333333"/>
                </a:solidFill>
                <a:effectLst/>
                <a:latin typeface="Consolas" panose="020B0609020204030204" pitchFamily="49" charset="0"/>
              </a:rPr>
              <a:t>(</a:t>
            </a:r>
            <a:r>
              <a:rPr lang="tr-TR" sz="1400" b="1" i="0" u="none" strike="noStrike" dirty="0" err="1">
                <a:solidFill>
                  <a:srgbClr val="333333"/>
                </a:solidFill>
                <a:effectLst/>
                <a:latin typeface="Consolas" panose="020B0609020204030204" pitchFamily="49" charset="0"/>
              </a:rPr>
              <a:t>defaultDataSource</a:t>
            </a:r>
            <a:r>
              <a:rPr lang="tr-TR" sz="1400" b="1" i="0" u="none" strike="noStrike" dirty="0">
                <a:solidFill>
                  <a:srgbClr val="333333"/>
                </a:solidFill>
                <a:effectLst/>
                <a:latin typeface="Consolas" panose="020B0609020204030204" pitchFamily="49" charset="0"/>
              </a:rPr>
              <a:t>());</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return</a:t>
            </a:r>
            <a:r>
              <a:rPr lang="tr-TR" sz="1400" b="1" i="0" u="none" strike="noStrike" dirty="0">
                <a:solidFill>
                  <a:srgbClr val="333333"/>
                </a:solidFill>
                <a:effectLst/>
                <a:latin typeface="Consolas" panose="020B0609020204030204" pitchFamily="49" charset="0"/>
              </a:rPr>
              <a:t> </a:t>
            </a:r>
            <a:r>
              <a:rPr lang="tr-TR" sz="1400" b="1" i="0" u="none" strike="noStrike" dirty="0" err="1">
                <a:solidFill>
                  <a:srgbClr val="333333"/>
                </a:solidFill>
                <a:effectLst/>
                <a:latin typeface="Consolas" panose="020B0609020204030204" pitchFamily="49" charset="0"/>
              </a:rPr>
              <a:t>ds</a:t>
            </a:r>
            <a:r>
              <a:rPr lang="tr-TR" sz="1400" b="1" i="0" u="none" strike="noStrike" dirty="0">
                <a:solidFill>
                  <a:srgbClr val="333333"/>
                </a:solidFill>
                <a:effectLst/>
                <a:latin typeface="Consolas" panose="020B0609020204030204" pitchFamily="49" charset="0"/>
              </a:rPr>
              <a:t>;</a:t>
            </a:r>
            <a:br>
              <a:rPr lang="tr-TR" sz="1400" b="1" i="0" u="none" strike="noStrike" dirty="0">
                <a:solidFill>
                  <a:srgbClr val="333333"/>
                </a:solidFill>
                <a:effectLst/>
                <a:latin typeface="Consolas" panose="020B0609020204030204" pitchFamily="49" charset="0"/>
              </a:rPr>
            </a:br>
            <a:r>
              <a:rPr lang="tr-TR" sz="1400" b="1" i="0" u="none" strike="noStrike" dirty="0">
                <a:solidFill>
                  <a:srgbClr val="333333"/>
                </a:solidFill>
                <a:effectLst/>
                <a:latin typeface="Consolas" panose="020B0609020204030204" pitchFamily="49" charset="0"/>
              </a:rPr>
              <a:t>}</a:t>
            </a:r>
            <a:endParaRPr lang="tr-TR" sz="1400" b="1" dirty="0">
              <a:solidFill>
                <a:srgbClr val="333333"/>
              </a:solidFill>
              <a:latin typeface="Consolas" panose="020B0609020204030204" pitchFamily="49" charset="0"/>
            </a:endParaRPr>
          </a:p>
          <a:p>
            <a:endParaRPr lang="tr-TR" sz="1100" dirty="0"/>
          </a:p>
        </p:txBody>
      </p:sp>
    </p:spTree>
    <p:extLst>
      <p:ext uri="{BB962C8B-B14F-4D97-AF65-F5344CB8AC3E}">
        <p14:creationId xmlns:p14="http://schemas.microsoft.com/office/powerpoint/2010/main" val="2909879275"/>
      </p:ext>
    </p:extLst>
  </p:cSld>
  <p:clrMapOvr>
    <a:masterClrMapping/>
  </p:clrMapOvr>
</p:sld>
</file>

<file path=ppt/theme/theme1.xml><?xml version="1.0" encoding="utf-8"?>
<a:theme xmlns:a="http://schemas.openxmlformats.org/drawingml/2006/main" name="Paket">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Paket</Template>
  <TotalTime>297</TotalTime>
  <Words>3577</Words>
  <Application>Microsoft Macintosh PowerPoint</Application>
  <PresentationFormat>Geniş ekran</PresentationFormat>
  <Paragraphs>123</Paragraphs>
  <Slides>33</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33</vt:i4>
      </vt:variant>
    </vt:vector>
  </HeadingPairs>
  <TitlesOfParts>
    <vt:vector size="38" baseType="lpstr">
      <vt:lpstr>-webkit-standard</vt:lpstr>
      <vt:lpstr>Arial</vt:lpstr>
      <vt:lpstr>Consolas</vt:lpstr>
      <vt:lpstr>Gill Sans MT</vt:lpstr>
      <vt:lpstr>Paket</vt:lpstr>
      <vt:lpstr>Sprıng boot ile multı-tenant uygulama geliştirme</vt:lpstr>
      <vt:lpstr>Nelerden bahsedeceğim</vt:lpstr>
      <vt:lpstr>Cloud computıng (bulut bilişim) nedir</vt:lpstr>
      <vt:lpstr>IAAS, PAAS, SAAS</vt:lpstr>
      <vt:lpstr>Multıtenancy öncesi saas uygulamaları</vt:lpstr>
      <vt:lpstr>Sıngle tenant uygulama geliştirmenin dezavantajları</vt:lpstr>
      <vt:lpstr>Multıtenancy öncesi saas uygulamaları</vt:lpstr>
      <vt:lpstr>Multıtenancy nedir?</vt:lpstr>
      <vt:lpstr>Multıtenancy nedir?</vt:lpstr>
      <vt:lpstr>Multıtenancy nedir?</vt:lpstr>
      <vt:lpstr>Multıtenancy mimarinin avantajları</vt:lpstr>
      <vt:lpstr>Multıtenancy mimarinin avantajları</vt:lpstr>
      <vt:lpstr>Multıtenancy mimarinin dezavantajları</vt:lpstr>
      <vt:lpstr>Multıtenancy mimarinin dezavantajları</vt:lpstr>
      <vt:lpstr>Multıtenancy mimarinin dezavantajları</vt:lpstr>
      <vt:lpstr>Multıtenancy mimari uygulama yöntemleri</vt:lpstr>
      <vt:lpstr>Multıtenancy mimari veritabanı stratejileri</vt:lpstr>
      <vt:lpstr>Shared table</vt:lpstr>
      <vt:lpstr>Schema per tenant</vt:lpstr>
      <vt:lpstr>database per tenant</vt:lpstr>
      <vt:lpstr>Öneriler</vt:lpstr>
      <vt:lpstr>ımplementasyon</vt:lpstr>
      <vt:lpstr>1. Tenant kimliğinin belirlenmesi</vt:lpstr>
      <vt:lpstr>1. Tenant kimliğinin belirlenmesi</vt:lpstr>
      <vt:lpstr>Tenant kimliğinin ulaşılabilir hale getirilmesi</vt:lpstr>
      <vt:lpstr>Tenant kimliğinin ulaşılabilir hale getirilmesi</vt:lpstr>
      <vt:lpstr>Veritabanı gerçeklemesi</vt:lpstr>
      <vt:lpstr>Veritabanı gerçeklemesi - hıbernate</vt:lpstr>
      <vt:lpstr>Veritabanı gerçeklemesi - hıbernate</vt:lpstr>
      <vt:lpstr>Veritabanı gerçeklemesi - hıbernate</vt:lpstr>
      <vt:lpstr>Veritabanı gerçeklemesi - hıbernate</vt:lpstr>
      <vt:lpstr>Veritabanı gerçeklemesi - hıbernate</vt:lpstr>
      <vt:lpstr>Veritabanı gerçeklemesi - abstractroutıngdatasource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Sprıng boot ile multı-tenant uygulama geliştirme</dc:title>
  <dc:creator>Hüseyin Aşcı</dc:creator>
  <cp:lastModifiedBy>Hüseyin Aşcı</cp:lastModifiedBy>
  <cp:revision>1</cp:revision>
  <dcterms:created xsi:type="dcterms:W3CDTF">2025-05-01T13:40:17Z</dcterms:created>
  <dcterms:modified xsi:type="dcterms:W3CDTF">2025-05-01T18:37:26Z</dcterms:modified>
</cp:coreProperties>
</file>